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0"/>
  </p:notesMasterIdLst>
  <p:sldIdLst>
    <p:sldId id="256" r:id="rId2"/>
    <p:sldId id="257" r:id="rId3"/>
    <p:sldId id="258" r:id="rId4"/>
    <p:sldId id="259" r:id="rId5"/>
    <p:sldId id="260" r:id="rId6"/>
    <p:sldId id="264" r:id="rId7"/>
    <p:sldId id="265" r:id="rId8"/>
    <p:sldId id="266" r:id="rId9"/>
    <p:sldId id="274" r:id="rId10"/>
    <p:sldId id="275" r:id="rId11"/>
    <p:sldId id="278" r:id="rId12"/>
    <p:sldId id="267" r:id="rId13"/>
    <p:sldId id="276" r:id="rId14"/>
    <p:sldId id="277" r:id="rId15"/>
    <p:sldId id="268" r:id="rId16"/>
    <p:sldId id="271" r:id="rId17"/>
    <p:sldId id="270" r:id="rId18"/>
    <p:sldId id="273"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8F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850" y="77"/>
      </p:cViewPr>
      <p:guideLst>
        <p:guide orient="horz" pos="2160"/>
        <p:guide pos="38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1" name="Google Shape;4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sp>
        <p:nvSpPr>
          <p:cNvPr id="12" name="Google Shape;12;p2"/>
          <p:cNvSpPr txBox="1"/>
          <p:nvPr/>
        </p:nvSpPr>
        <p:spPr>
          <a:xfrm>
            <a:off x="777239" y="6634573"/>
            <a:ext cx="5781822" cy="220979"/>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rPr>
              <a:t>Dept. of Computer Science and Engineering</a:t>
            </a:r>
            <a:endPar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2"/>
          <p:cNvSpPr txBox="1"/>
          <p:nvPr/>
        </p:nvSpPr>
        <p:spPr>
          <a:xfrm>
            <a:off x="6559062" y="6634573"/>
            <a:ext cx="5195133" cy="220979"/>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rPr>
              <a:t>Srinivasa Ramanujan Institute of Technology</a:t>
            </a:r>
            <a:endPar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 name="Google Shape;14;p2"/>
          <p:cNvSpPr txBox="1"/>
          <p:nvPr/>
        </p:nvSpPr>
        <p:spPr>
          <a:xfrm>
            <a:off x="11754196" y="6637020"/>
            <a:ext cx="437803" cy="22097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1</a:t>
            </a:r>
            <a:endParaRPr sz="16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Google Shape;15;p2"/>
          <p:cNvSpPr txBox="1"/>
          <p:nvPr/>
        </p:nvSpPr>
        <p:spPr>
          <a:xfrm>
            <a:off x="-1" y="-1"/>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1" i="1"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Google Shape;16;p2"/>
          <p:cNvSpPr txBox="1"/>
          <p:nvPr/>
        </p:nvSpPr>
        <p:spPr>
          <a:xfrm>
            <a:off x="0" y="6634573"/>
            <a:ext cx="777239" cy="221522"/>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rPr>
              <a:t>A8</a:t>
            </a:r>
            <a:endParaRPr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4400"/>
              <a:buFont typeface="Times New Roman" panose="02020603050405020304"/>
              <a:buNone/>
              <a:defRPr sz="4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9" name="Google Shape;19;p3"/>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lvl1pPr marL="457200" lvl="0" indent="-406400" algn="just">
              <a:lnSpc>
                <a:spcPct val="90000"/>
              </a:lnSpc>
              <a:spcBef>
                <a:spcPts val="1000"/>
              </a:spcBef>
              <a:spcAft>
                <a:spcPts val="0"/>
              </a:spcAft>
              <a:buClr>
                <a:schemeClr val="dk1"/>
              </a:buClr>
              <a:buSzPts val="2800"/>
              <a:buFont typeface="Noto Sans Symbols"/>
              <a:buChar char="⮚"/>
              <a:defRPr/>
            </a:lvl1pPr>
            <a:lvl2pPr marL="914400" lvl="1" indent="-381000" algn="just">
              <a:lnSpc>
                <a:spcPct val="90000"/>
              </a:lnSpc>
              <a:spcBef>
                <a:spcPts val="500"/>
              </a:spcBef>
              <a:spcAft>
                <a:spcPts val="0"/>
              </a:spcAft>
              <a:buClr>
                <a:schemeClr val="dk1"/>
              </a:buClr>
              <a:buSzPts val="2400"/>
              <a:buFont typeface="Noto Sans Symbols"/>
              <a:buChar char="❑"/>
              <a:defRPr/>
            </a:lvl2pPr>
            <a:lvl3pPr marL="1371600" lvl="2" indent="-355600" algn="just">
              <a:lnSpc>
                <a:spcPct val="90000"/>
              </a:lnSpc>
              <a:spcBef>
                <a:spcPts val="500"/>
              </a:spcBef>
              <a:spcAft>
                <a:spcPts val="0"/>
              </a:spcAft>
              <a:buClr>
                <a:schemeClr val="dk1"/>
              </a:buClr>
              <a:buSzPts val="2000"/>
              <a:buFont typeface="Courier New" panose="02070309020205020404"/>
              <a:buChar char="o"/>
              <a:defRPr/>
            </a:lvl3pPr>
            <a:lvl4pPr marL="1828800" lvl="3" indent="-342900" algn="just">
              <a:lnSpc>
                <a:spcPct val="90000"/>
              </a:lnSpc>
              <a:spcBef>
                <a:spcPts val="500"/>
              </a:spcBef>
              <a:spcAft>
                <a:spcPts val="0"/>
              </a:spcAft>
              <a:buClr>
                <a:schemeClr val="dk1"/>
              </a:buClr>
              <a:buSzPts val="1800"/>
              <a:buFont typeface="Noto Sans Symbols"/>
              <a:buChar char="▪"/>
              <a:defRPr/>
            </a:lvl4pPr>
            <a:lvl5pPr marL="2286000" lvl="4" indent="-342900" algn="just">
              <a:lnSpc>
                <a:spcPct val="90000"/>
              </a:lnSpc>
              <a:spcBef>
                <a:spcPts val="500"/>
              </a:spcBef>
              <a:spcAft>
                <a:spcPts val="0"/>
              </a:spcAft>
              <a:buClr>
                <a:schemeClr val="dk1"/>
              </a:buClr>
              <a:buSzPts val="1800"/>
              <a:buFont typeface="Arial" panose="020B0604020202020204"/>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0" name="Google Shape;20;p3"/>
          <p:cNvSpPr txBox="1"/>
          <p:nvPr/>
        </p:nvSpPr>
        <p:spPr>
          <a:xfrm>
            <a:off x="777239" y="6642828"/>
            <a:ext cx="5654039" cy="215172"/>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Dept. of Computer Science and Engineering</a:t>
            </a:r>
            <a:endParaRPr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 name="Google Shape;21;p3"/>
          <p:cNvSpPr txBox="1"/>
          <p:nvPr/>
        </p:nvSpPr>
        <p:spPr>
          <a:xfrm>
            <a:off x="6431278" y="6641866"/>
            <a:ext cx="5322917" cy="216133"/>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rPr>
              <a:t>Srinivasa Ramanujan Institute of Technology</a:t>
            </a:r>
            <a:endParaRPr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 name="Google Shape;22;p3"/>
          <p:cNvSpPr txBox="1"/>
          <p:nvPr/>
        </p:nvSpPr>
        <p:spPr>
          <a:xfrm>
            <a:off x="11754196" y="6641865"/>
            <a:ext cx="437803" cy="21613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6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a:t>
            </a:fld>
            <a:endParaRPr sz="16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 name="Google Shape;23;p3"/>
          <p:cNvSpPr txBox="1"/>
          <p:nvPr/>
        </p:nvSpPr>
        <p:spPr>
          <a:xfrm>
            <a:off x="-1" y="0"/>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lang="en-US" sz="16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6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Real-Time Fire and Smoke Detection System Using YOLOv9 with Intelligent Alerting</a:t>
            </a:r>
            <a:endParaRPr lang="en-IN" sz="16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None/>
            </a:pPr>
            <a:endParaRPr sz="1500" b="1" i="1" u="none" strike="noStrike" cap="none" dirty="0">
              <a:solidFill>
                <a:schemeClr val="tx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4" name="Google Shape;24;p3"/>
          <p:cNvPicPr preferRelativeResize="0"/>
          <p:nvPr/>
        </p:nvPicPr>
        <p:blipFill rotWithShape="1">
          <a:blip r:embed="rId2"/>
          <a:srcRect/>
          <a:stretch>
            <a:fillRect/>
          </a:stretch>
        </p:blipFill>
        <p:spPr>
          <a:xfrm>
            <a:off x="11506200" y="5956065"/>
            <a:ext cx="685800" cy="685800"/>
          </a:xfrm>
          <a:prstGeom prst="rect">
            <a:avLst/>
          </a:prstGeom>
          <a:noFill/>
          <a:ln>
            <a:noFill/>
          </a:ln>
        </p:spPr>
      </p:pic>
      <p:sp>
        <p:nvSpPr>
          <p:cNvPr id="25" name="Google Shape;25;p3"/>
          <p:cNvSpPr txBox="1"/>
          <p:nvPr/>
        </p:nvSpPr>
        <p:spPr>
          <a:xfrm>
            <a:off x="0" y="6642735"/>
            <a:ext cx="1159510" cy="21526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rPr>
              <a:t>A8</a:t>
            </a:r>
            <a:endParaRPr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just" rtl="0">
              <a:lnSpc>
                <a:spcPct val="90000"/>
              </a:lnSpc>
              <a:spcBef>
                <a:spcPts val="1000"/>
              </a:spcBef>
              <a:spcAft>
                <a:spcPts val="0"/>
              </a:spcAft>
              <a:buClr>
                <a:schemeClr val="dk1"/>
              </a:buClr>
              <a:buSzPts val="2800"/>
              <a:buFont typeface="Noto Sans Symbols"/>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381000" algn="just" rtl="0">
              <a:lnSpc>
                <a:spcPct val="90000"/>
              </a:lnSpc>
              <a:spcBef>
                <a:spcPts val="500"/>
              </a:spcBef>
              <a:spcAft>
                <a:spcPts val="0"/>
              </a:spcAft>
              <a:buClr>
                <a:schemeClr val="dk1"/>
              </a:buClr>
              <a:buSzPts val="2400"/>
              <a:buFont typeface="Noto Sans Symbols"/>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55600" algn="just" rtl="0">
              <a:lnSpc>
                <a:spcPct val="90000"/>
              </a:lnSpc>
              <a:spcBef>
                <a:spcPts val="500"/>
              </a:spcBef>
              <a:spcAft>
                <a:spcPts val="0"/>
              </a:spcAft>
              <a:buClr>
                <a:schemeClr val="dk1"/>
              </a:buClr>
              <a:buSzPts val="2000"/>
              <a:buFont typeface="Courier New" panose="02070309020205020404"/>
              <a:buChar char="o"/>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42900" algn="just"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42900" algn="just"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2" name="Subtitle 11"/>
          <p:cNvSpPr txBox="1"/>
          <p:nvPr/>
        </p:nvSpPr>
        <p:spPr>
          <a:xfrm>
            <a:off x="3759654" y="2435239"/>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600" b="0" i="1" dirty="0"/>
              <a:t>Under the guidance of</a:t>
            </a:r>
          </a:p>
          <a:p>
            <a:pPr>
              <a:lnSpc>
                <a:spcPts val="2790"/>
              </a:lnSpc>
              <a:spcBef>
                <a:spcPts val="115"/>
              </a:spcBef>
            </a:pPr>
            <a:r>
              <a:rPr lang="en-IN" sz="2400" b="0" dirty="0"/>
              <a:t>Dr. D. Rajesh Babu</a:t>
            </a:r>
            <a:r>
              <a:rPr lang="en-US" altLang="en-US" sz="2400" b="0" dirty="0">
                <a:solidFill>
                  <a:srgbClr val="000000"/>
                </a:solidFill>
              </a:rPr>
              <a:t> </a:t>
            </a:r>
            <a:r>
              <a:rPr lang="en-US" altLang="en-US" sz="2400" b="0" baseline="-25000" dirty="0" err="1">
                <a:solidFill>
                  <a:srgbClr val="000000"/>
                </a:solidFill>
              </a:rPr>
              <a:t>M.Tech</a:t>
            </a:r>
            <a:r>
              <a:rPr lang="en-US" altLang="en-US" sz="2400" b="0" baseline="-25000" dirty="0">
                <a:solidFill>
                  <a:srgbClr val="000000"/>
                </a:solidFill>
              </a:rPr>
              <a:t>.,</a:t>
            </a:r>
            <a:r>
              <a:rPr lang="en-US" altLang="en-US" sz="2400" b="0" dirty="0">
                <a:solidFill>
                  <a:srgbClr val="000000"/>
                </a:solidFill>
              </a:rPr>
              <a:t> </a:t>
            </a:r>
            <a:r>
              <a:rPr lang="en-US" altLang="en-US" sz="2400" b="0" baseline="-25000" dirty="0" err="1">
                <a:solidFill>
                  <a:srgbClr val="000000"/>
                </a:solidFill>
              </a:rPr>
              <a:t>Ph</a:t>
            </a:r>
            <a:r>
              <a:rPr lang="en-US" altLang="en-US" sz="2400" b="0" baseline="-25000" dirty="0" err="1">
                <a:solidFill>
                  <a:srgbClr val="000000"/>
                </a:solidFill>
                <a:latin typeface="Arial" panose="020B0604020202020204" pitchFamily="34" charset="0"/>
              </a:rPr>
              <a:t>.</a:t>
            </a:r>
            <a:r>
              <a:rPr lang="en-US" altLang="en-US" sz="2400" b="0" baseline="-25000" dirty="0" err="1">
                <a:solidFill>
                  <a:srgbClr val="000000"/>
                </a:solidFill>
              </a:rPr>
              <a:t>D</a:t>
            </a:r>
            <a:endParaRPr lang="en-US" altLang="en-US" sz="2400" b="0" baseline="-25000" dirty="0">
              <a:solidFill>
                <a:srgbClr val="000000"/>
              </a:solidFill>
            </a:endParaRPr>
          </a:p>
          <a:p>
            <a:pPr>
              <a:lnSpc>
                <a:spcPts val="2790"/>
              </a:lnSpc>
              <a:spcBef>
                <a:spcPts val="115"/>
              </a:spcBef>
            </a:pPr>
            <a:r>
              <a:rPr lang="en-IN" altLang="en-US" sz="2400" b="0" baseline="-25000" dirty="0">
                <a:solidFill>
                  <a:srgbClr val="000000"/>
                </a:solidFill>
                <a:latin typeface="Arial" panose="020B0604020202020204" pitchFamily="34" charset="0"/>
              </a:rPr>
              <a:t>Associate Professor</a:t>
            </a:r>
            <a:endParaRPr lang="en-US" altLang="en-US" sz="2400" b="0" baseline="-25000" dirty="0">
              <a:solidFill>
                <a:srgbClr val="000000"/>
              </a:solidFill>
              <a:latin typeface="Arial" panose="020B0604020202020204" pitchFamily="34" charset="0"/>
            </a:endParaRPr>
          </a:p>
        </p:txBody>
      </p:sp>
      <p:sp>
        <p:nvSpPr>
          <p:cNvPr id="3" name="Subtitle 11"/>
          <p:cNvSpPr txBox="1"/>
          <p:nvPr/>
        </p:nvSpPr>
        <p:spPr>
          <a:xfrm>
            <a:off x="1514475" y="5243215"/>
            <a:ext cx="9163049" cy="1427181"/>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770" dirty="0" err="1"/>
              <a:t>Rotarypuram</a:t>
            </a:r>
            <a:r>
              <a:rPr lang="en-US" sz="2770" dirty="0"/>
              <a:t> Village, B K </a:t>
            </a:r>
            <a:r>
              <a:rPr lang="en-US" sz="2770" dirty="0" err="1"/>
              <a:t>Samudram</a:t>
            </a:r>
            <a:r>
              <a:rPr lang="en-US" sz="2770" dirty="0"/>
              <a:t> Mandal, </a:t>
            </a:r>
            <a:r>
              <a:rPr lang="en-US" sz="2770" dirty="0" err="1"/>
              <a:t>Ananthapuramu</a:t>
            </a:r>
            <a:r>
              <a:rPr lang="en-US" sz="2770" dirty="0"/>
              <a:t> – 515701.</a:t>
            </a:r>
          </a:p>
          <a:p>
            <a:pPr>
              <a:spcBef>
                <a:spcPts val="300"/>
              </a:spcBef>
            </a:pPr>
            <a:r>
              <a:rPr lang="en-IN" altLang="en-US" sz="2770" dirty="0"/>
              <a:t>Accredited by NBA &amp; NAAC with “A” Grade,Affiliated to JNTUA,Ananthapuramu</a:t>
            </a:r>
            <a:endParaRPr lang="en-US" sz="2770" dirty="0"/>
          </a:p>
          <a:p>
            <a:pPr>
              <a:spcAft>
                <a:spcPts val="100"/>
              </a:spcAft>
            </a:pPr>
            <a:r>
              <a:rPr lang="en-US" sz="2770" dirty="0">
                <a:solidFill>
                  <a:schemeClr val="accent1">
                    <a:lumMod val="50000"/>
                  </a:schemeClr>
                </a:solidFill>
              </a:rPr>
              <a:t>202</a:t>
            </a:r>
            <a:r>
              <a:rPr lang="en-IN" altLang="en-US" sz="2770" dirty="0">
                <a:solidFill>
                  <a:schemeClr val="accent1">
                    <a:lumMod val="50000"/>
                  </a:schemeClr>
                </a:solidFill>
              </a:rPr>
              <a:t>5</a:t>
            </a:r>
            <a:r>
              <a:rPr lang="en-US" sz="2770" dirty="0">
                <a:solidFill>
                  <a:schemeClr val="accent1">
                    <a:lumMod val="50000"/>
                  </a:schemeClr>
                </a:solidFill>
              </a:rPr>
              <a:t>-202</a:t>
            </a:r>
            <a:r>
              <a:rPr lang="en-IN" altLang="en-US" sz="2770" dirty="0">
                <a:solidFill>
                  <a:schemeClr val="accent1">
                    <a:lumMod val="50000"/>
                  </a:schemeClr>
                </a:solidFill>
              </a:rPr>
              <a:t>6</a:t>
            </a:r>
            <a:endParaRPr lang="en-US" sz="2770" b="0" dirty="0"/>
          </a:p>
          <a:p>
            <a:endParaRPr lang="en-IN" sz="2770" b="0" dirty="0"/>
          </a:p>
        </p:txBody>
      </p:sp>
      <p:sp>
        <p:nvSpPr>
          <p:cNvPr id="8" name="Subtitle 11"/>
          <p:cNvSpPr txBox="1"/>
          <p:nvPr/>
        </p:nvSpPr>
        <p:spPr>
          <a:xfrm>
            <a:off x="4744273" y="1783000"/>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5000" b="0" dirty="0">
                <a:effectLst>
                  <a:outerShdw blurRad="38100" dist="38100" dir="2700000" algn="tl">
                    <a:srgbClr val="000000">
                      <a:alpha val="43137"/>
                    </a:srgbClr>
                  </a:outerShdw>
                </a:effectLst>
              </a:rPr>
              <a:t> </a:t>
            </a:r>
            <a:r>
              <a:rPr lang="en-US" sz="4200" b="0" dirty="0"/>
              <a:t>V. Meghana</a:t>
            </a:r>
          </a:p>
          <a:p>
            <a:pPr>
              <a:spcBef>
                <a:spcPts val="300"/>
              </a:spcBef>
            </a:pPr>
            <a:r>
              <a:rPr lang="en-US" sz="2900" b="0" dirty="0"/>
              <a:t>Roll No. 234G5A0507</a:t>
            </a:r>
          </a:p>
        </p:txBody>
      </p:sp>
      <p:sp>
        <p:nvSpPr>
          <p:cNvPr id="9" name="Subtitle 11"/>
          <p:cNvSpPr txBox="1"/>
          <p:nvPr/>
        </p:nvSpPr>
        <p:spPr>
          <a:xfrm>
            <a:off x="8617598" y="1783000"/>
            <a:ext cx="2382924"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altLang="zh-CN" sz="8000" b="0" dirty="0">
                <a:solidFill>
                  <a:srgbClr val="000000"/>
                </a:solidFill>
              </a:rPr>
              <a:t>S. Mohammad Anees</a:t>
            </a:r>
          </a:p>
          <a:p>
            <a:pPr>
              <a:spcBef>
                <a:spcPts val="300"/>
              </a:spcBef>
            </a:pPr>
            <a:r>
              <a:rPr lang="zh-CN" altLang="x-none" sz="5400" b="0" dirty="0">
                <a:solidFill>
                  <a:srgbClr val="000000"/>
                </a:solidFill>
              </a:rPr>
              <a:t>Roll No. </a:t>
            </a:r>
            <a:r>
              <a:rPr lang="en-IN" altLang="zh-CN" sz="5400" b="0" dirty="0">
                <a:solidFill>
                  <a:srgbClr val="000000"/>
                </a:solidFill>
              </a:rPr>
              <a:t>224G1A0553</a:t>
            </a:r>
            <a:endParaRPr lang="zh-CN" altLang="x-none" sz="5400" b="0" dirty="0">
              <a:solidFill>
                <a:srgbClr val="000000"/>
              </a:solidFill>
              <a:ea typeface="Times New Roman" panose="02020603050405020304" pitchFamily="18" charset="0"/>
            </a:endParaRPr>
          </a:p>
        </p:txBody>
      </p:sp>
      <p:sp>
        <p:nvSpPr>
          <p:cNvPr id="10" name="Subtitle 11"/>
          <p:cNvSpPr txBox="1"/>
          <p:nvPr/>
        </p:nvSpPr>
        <p:spPr>
          <a:xfrm>
            <a:off x="1191460"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000" b="0" dirty="0"/>
              <a:t>D. Neha Anjum</a:t>
            </a:r>
          </a:p>
          <a:p>
            <a:pPr>
              <a:spcBef>
                <a:spcPts val="300"/>
              </a:spcBef>
            </a:pPr>
            <a:r>
              <a:rPr lang="en-US" sz="1050" b="0" dirty="0"/>
              <a:t>           </a:t>
            </a:r>
            <a:r>
              <a:rPr lang="en-US" sz="1200" b="0" dirty="0"/>
              <a:t>Roll No. 224G1A0559 </a:t>
            </a:r>
          </a:p>
          <a:p>
            <a:pPr>
              <a:spcBef>
                <a:spcPts val="100"/>
              </a:spcBef>
            </a:pPr>
            <a:endParaRPr lang="zh-CN" altLang="x-none" sz="1050" b="0" dirty="0">
              <a:solidFill>
                <a:srgbClr val="000000"/>
              </a:solidFill>
              <a:ea typeface="Times New Roman" panose="02020603050405020304" pitchFamily="18" charset="0"/>
            </a:endParaRPr>
          </a:p>
          <a:p>
            <a:pPr>
              <a:spcBef>
                <a:spcPts val="300"/>
              </a:spcBef>
            </a:pPr>
            <a:endParaRPr lang="en-US" sz="1200" b="0" dirty="0"/>
          </a:p>
        </p:txBody>
      </p:sp>
      <p:sp>
        <p:nvSpPr>
          <p:cNvPr id="11"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Real-Time Fire and Smoke Detection System Using YOLOv9 with Intelligent Alerting</a:t>
            </a:r>
            <a:endParaRPr lang="en-IN"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18854" y="3490493"/>
            <a:ext cx="1527379"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lt1"/>
              </a:buClr>
              <a:buSzPts val="4400"/>
              <a:buFont typeface="Times New Roman" panose="02020603050405020304"/>
              <a:buNone/>
            </a:pPr>
            <a:r>
              <a:rPr lang="en-US" dirty="0">
                <a:sym typeface="+mn-ea"/>
              </a:rPr>
              <a:t>Title </a:t>
            </a:r>
            <a:r>
              <a:rPr lang="en-US" dirty="0" err="1">
                <a:sym typeface="+mn-ea"/>
              </a:rPr>
              <a:t>Explaination</a:t>
            </a:r>
            <a:endParaRPr lang="en-US" dirty="0"/>
          </a:p>
        </p:txBody>
      </p:sp>
      <p:sp>
        <p:nvSpPr>
          <p:cNvPr id="44" name="Google Shape;44;p5"/>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p>
            <a:pPr marL="50800" indent="0">
              <a:buNone/>
            </a:pPr>
            <a:r>
              <a:rPr lang="en-US" sz="2400" b="1" dirty="0">
                <a:latin typeface="Times New Roman" panose="02020603050405020304" pitchFamily="18" charset="0"/>
                <a:cs typeface="Times New Roman" panose="02020603050405020304" pitchFamily="18" charset="0"/>
              </a:rPr>
              <a:t>Real-Time Fire and Smoke Detection System Using YOLOv9 with Intelligent Alerting</a:t>
            </a:r>
            <a:endParaRPr lang="en-IN" sz="2400" b="1" dirty="0">
              <a:latin typeface="Times New Roman" panose="02020603050405020304" pitchFamily="18" charset="0"/>
              <a:cs typeface="Times New Roman" panose="02020603050405020304" pitchFamily="18" charset="0"/>
            </a:endParaRPr>
          </a:p>
          <a:p>
            <a:pPr marL="50800" indent="0">
              <a:buNone/>
            </a:pPr>
            <a:endParaRPr lang="en-US" sz="2400" b="1" dirty="0"/>
          </a:p>
          <a:p>
            <a:pPr marL="228600" lvl="0" indent="-228600">
              <a:lnSpc>
                <a:spcPct val="100000"/>
              </a:lnSpc>
              <a:spcBef>
                <a:spcPts val="0"/>
              </a:spcBef>
              <a:buSzPts val="2400"/>
            </a:pPr>
            <a:r>
              <a:rPr lang="en-US" sz="2400" b="1" dirty="0"/>
              <a:t>Improved Fire Detection Algorithm </a:t>
            </a:r>
            <a:r>
              <a:rPr lang="en-US" sz="2400" dirty="0"/>
              <a:t>The title highlights the development of an enhanced fire detection approach that focuses on improving accuracy, reliability, and real-time performance compared to traditional and existing fire detection methods. </a:t>
            </a:r>
          </a:p>
          <a:p>
            <a:pPr marL="228600" lvl="0" indent="-228600">
              <a:lnSpc>
                <a:spcPct val="100000"/>
              </a:lnSpc>
              <a:spcBef>
                <a:spcPts val="0"/>
              </a:spcBef>
              <a:buSzPts val="2400"/>
            </a:pPr>
            <a:r>
              <a:rPr lang="en-US" sz="2400" b="1" dirty="0"/>
              <a:t>YOLOv9-Based Framework </a:t>
            </a:r>
            <a:r>
              <a:rPr lang="en-US" sz="2400" dirty="0"/>
              <a:t>The inclusion of YOLOv9 indicates the use of a state-of-the-art deep learning object detection model, chosen for its fast inference speed and high detection precision, making it suitable for real-time fire and smoke detection. </a:t>
            </a:r>
          </a:p>
          <a:p>
            <a:pPr marL="228600" lvl="0" indent="-228600">
              <a:lnSpc>
                <a:spcPct val="100000"/>
              </a:lnSpc>
              <a:spcBef>
                <a:spcPts val="0"/>
              </a:spcBef>
              <a:buSzPts val="2400"/>
            </a:pPr>
            <a:r>
              <a:rPr lang="en-US" sz="2400" b="1" dirty="0"/>
              <a:t>Real-Time Fire and Smoke Monitoring </a:t>
            </a:r>
            <a:r>
              <a:rPr lang="en-US" sz="2400" dirty="0"/>
              <a:t>The title emphasizes real-time monitoring, where live video streams are continuously analyzed to detect fire or smoke incidents at an early stage, enabling timely response and prevention. </a:t>
            </a:r>
          </a:p>
          <a:p>
            <a:pPr marL="228600" lvl="0" indent="-228600">
              <a:lnSpc>
                <a:spcPct val="100000"/>
              </a:lnSpc>
              <a:spcBef>
                <a:spcPts val="0"/>
              </a:spcBef>
              <a:buSzPts val="2400"/>
            </a:pPr>
            <a:r>
              <a:rPr lang="en-US" sz="2400" b="1" dirty="0"/>
              <a:t>Automated Alert and Safety Management </a:t>
            </a:r>
            <a:r>
              <a:rPr lang="en-US" sz="2400" dirty="0"/>
              <a:t>The title reflects the system’s capability to automatically validate fire events, assess severity, and trigger emergency alerts, ensuring efficient safety management and rapid disaster response.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Font typeface="Times New Roman" panose="02020603050405020304"/>
              <a:buNone/>
            </a:pPr>
            <a:r>
              <a:rPr lang="en-US"/>
              <a:t>Contents</a:t>
            </a:r>
          </a:p>
        </p:txBody>
      </p:sp>
      <p:sp>
        <p:nvSpPr>
          <p:cNvPr id="50" name="Google Shape;50;p6"/>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p>
            <a:pPr marL="462280" lvl="0" indent="-462280" algn="just" rtl="0">
              <a:lnSpc>
                <a:spcPct val="90000"/>
              </a:lnSpc>
              <a:spcBef>
                <a:spcPts val="0"/>
              </a:spcBef>
              <a:spcAft>
                <a:spcPts val="0"/>
              </a:spcAft>
              <a:buClr>
                <a:schemeClr val="dk1"/>
              </a:buClr>
              <a:buSzPts val="2800"/>
              <a:buFont typeface="Wingdings" panose="05000000000000000000" pitchFamily="2" charset="2"/>
              <a:buChar char="Ø"/>
            </a:pPr>
            <a:r>
              <a:rPr lang="en-US" dirty="0"/>
              <a:t>Abstract</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Introduction</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Software Requirements</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Datasets/Modules</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Implementation</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Outputs</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Conclusion</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Font typeface="Times New Roman" panose="02020603050405020304"/>
              <a:buNone/>
            </a:pPr>
            <a:r>
              <a:rPr lang="en-US">
                <a:sym typeface="+mn-ea"/>
              </a:rPr>
              <a:t>Abstract</a:t>
            </a:r>
            <a:endParaRPr lang="en-US"/>
          </a:p>
        </p:txBody>
      </p:sp>
      <p:sp>
        <p:nvSpPr>
          <p:cNvPr id="50" name="Google Shape;50;p6"/>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Autofit/>
          </a:bodyPr>
          <a:lstStyle/>
          <a:p>
            <a:pPr lvl="0" indent="-457200">
              <a:lnSpc>
                <a:spcPct val="100000"/>
              </a:lnSpc>
              <a:buFont typeface="Wingdings" panose="05000000000000000000" pitchFamily="2" charset="2"/>
              <a:buChar char="Ø"/>
            </a:pPr>
            <a:r>
              <a:rPr lang="en-US" sz="2200" dirty="0"/>
              <a:t>This work presents an improved fire detection system based on the YOLOv9 deep learning model for real-time detection of fire and smoke from live surveillance video streams. </a:t>
            </a:r>
          </a:p>
          <a:p>
            <a:pPr lvl="0" indent="-457200">
              <a:lnSpc>
                <a:spcPct val="100000"/>
              </a:lnSpc>
              <a:buFont typeface="Wingdings" panose="05000000000000000000" pitchFamily="2" charset="2"/>
              <a:buChar char="Ø"/>
            </a:pPr>
            <a:r>
              <a:rPr lang="en-US" sz="2200" dirty="0"/>
              <a:t>The system continuously monitors video feeds and generates confidence scores for detected fire or smoke regions to ensure accurate and reliable detection. </a:t>
            </a:r>
          </a:p>
          <a:p>
            <a:pPr lvl="0" indent="-457200">
              <a:lnSpc>
                <a:spcPct val="100000"/>
              </a:lnSpc>
              <a:buFont typeface="Wingdings" panose="05000000000000000000" pitchFamily="2" charset="2"/>
              <a:buChar char="Ø"/>
            </a:pPr>
            <a:r>
              <a:rPr lang="en-US" sz="2200" dirty="0"/>
              <a:t>To reduce false alarms caused by environmental disturbances such as dust or lighting variations, temporal validation is performed across consecutive frames before confirming a fire incident. </a:t>
            </a:r>
          </a:p>
          <a:p>
            <a:pPr lvl="0" indent="-457200">
              <a:lnSpc>
                <a:spcPct val="100000"/>
              </a:lnSpc>
              <a:buFont typeface="Wingdings" panose="05000000000000000000" pitchFamily="2" charset="2"/>
              <a:buChar char="Ø"/>
            </a:pPr>
            <a:r>
              <a:rPr lang="en-US" sz="2200" dirty="0"/>
              <a:t>After validation, the system classifies fire severity into low, medium, and high levels, enabling prioritized emergency response and effective fire management. </a:t>
            </a:r>
          </a:p>
          <a:p>
            <a:pPr lvl="0" indent="-457200">
              <a:lnSpc>
                <a:spcPct val="100000"/>
              </a:lnSpc>
              <a:buFont typeface="Wingdings" panose="05000000000000000000" pitchFamily="2" charset="2"/>
              <a:buChar char="Ø"/>
            </a:pPr>
            <a:r>
              <a:rPr lang="en-US" sz="2200" dirty="0"/>
              <a:t>Once a fire is confirmed, an automatic emergency alert is triggered and all detection details are logged for future analysis, safety audits, and system performance improvement.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Introduction</a:t>
            </a:r>
            <a:endParaRPr lang="en-US"/>
          </a:p>
        </p:txBody>
      </p:sp>
      <p:sp>
        <p:nvSpPr>
          <p:cNvPr id="3" name="Text Placeholder 2"/>
          <p:cNvSpPr>
            <a:spLocks noGrp="1"/>
          </p:cNvSpPr>
          <p:nvPr>
            <p:ph type="body" idx="1"/>
          </p:nvPr>
        </p:nvSpPr>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Fire accidents pose a serious threat to human life and infrastructure, and existing fire detection systems often suffer from delayed response and high false alarm rates. </a:t>
            </a:r>
          </a:p>
          <a:p>
            <a:pPr>
              <a:lnSpc>
                <a:spcPct val="150000"/>
              </a:lnSpc>
            </a:pPr>
            <a:r>
              <a:rPr lang="en-US" sz="2200" dirty="0">
                <a:latin typeface="Times New Roman" panose="02020603050405020304" pitchFamily="18" charset="0"/>
                <a:cs typeface="Times New Roman" panose="02020603050405020304" pitchFamily="18" charset="0"/>
              </a:rPr>
              <a:t>With the increasing availability of surveillance cameras, computer vision–based fire detection has emerged as an effective solution for continuous and large-area monitoring. </a:t>
            </a:r>
          </a:p>
          <a:p>
            <a:pPr>
              <a:lnSpc>
                <a:spcPct val="150000"/>
              </a:lnSpc>
            </a:pPr>
            <a:r>
              <a:rPr lang="en-US" sz="2200" dirty="0">
                <a:latin typeface="Times New Roman" panose="02020603050405020304" pitchFamily="18" charset="0"/>
                <a:cs typeface="Times New Roman" panose="02020603050405020304" pitchFamily="18" charset="0"/>
              </a:rPr>
              <a:t>Recent advances in deep learning, particularly the YOLOv9 model, enable fast and accurate real-time detection of fire and smoke from video streams. </a:t>
            </a:r>
          </a:p>
          <a:p>
            <a:pPr>
              <a:lnSpc>
                <a:spcPct val="150000"/>
              </a:lnSpc>
            </a:pPr>
            <a:r>
              <a:rPr lang="en-US" sz="2200" dirty="0">
                <a:latin typeface="Times New Roman" panose="02020603050405020304" pitchFamily="18" charset="0"/>
                <a:cs typeface="Times New Roman" panose="02020603050405020304" pitchFamily="18" charset="0"/>
              </a:rPr>
              <a:t>This work focuses on developing an improved YOLOv9-based fire detection system that reduces false alarms, identifies fire severity, and triggers automated emergency alerts to enhance overall safety.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Software Requirements</a:t>
            </a:r>
            <a:endParaRPr lang="en-US"/>
          </a:p>
        </p:txBody>
      </p:sp>
      <p:sp>
        <p:nvSpPr>
          <p:cNvPr id="3" name="Text Placeholder 2"/>
          <p:cNvSpPr>
            <a:spLocks noGrp="1"/>
          </p:cNvSpPr>
          <p:nvPr>
            <p:ph type="body" idx="1"/>
          </p:nvPr>
        </p:nvSpPr>
        <p:spPr/>
        <p:txBody>
          <a:bodyPr>
            <a:normAutofit/>
          </a:bodyPr>
          <a:lstStyle/>
          <a:p>
            <a:r>
              <a:rPr lang="en-US" b="1" dirty="0"/>
              <a:t>Programming Language: </a:t>
            </a:r>
            <a:r>
              <a:rPr lang="en-US" dirty="0"/>
              <a:t>Python 3.11.4</a:t>
            </a:r>
          </a:p>
          <a:p>
            <a:r>
              <a:rPr lang="en-US" b="1" dirty="0"/>
              <a:t>Development Environment / IDE: </a:t>
            </a:r>
            <a:r>
              <a:rPr lang="en-US" dirty="0"/>
              <a:t>VS Code</a:t>
            </a:r>
          </a:p>
          <a:p>
            <a:r>
              <a:rPr lang="en-US" b="1" dirty="0"/>
              <a:t>Deep Learning Frameworks: </a:t>
            </a:r>
            <a:r>
              <a:rPr lang="en-US" dirty="0"/>
              <a:t>TensorFlow and </a:t>
            </a:r>
            <a:r>
              <a:rPr lang="en-US" dirty="0" err="1"/>
              <a:t>Keras</a:t>
            </a:r>
            <a:endParaRPr lang="en-US" dirty="0"/>
          </a:p>
          <a:p>
            <a:r>
              <a:rPr lang="en-US" b="1" dirty="0"/>
              <a:t>Image Processing Libraries: </a:t>
            </a:r>
            <a:r>
              <a:rPr lang="en-US" dirty="0"/>
              <a:t>OpenCV and PIL (Python Imaging Library)</a:t>
            </a:r>
          </a:p>
          <a:p>
            <a:r>
              <a:rPr lang="en-US" b="1" dirty="0"/>
              <a:t>Data Handling and Analysis Tools: </a:t>
            </a:r>
            <a:r>
              <a:rPr lang="en-US" dirty="0"/>
              <a:t>NumPy and Pandas</a:t>
            </a:r>
          </a:p>
          <a:p>
            <a:r>
              <a:rPr lang="en-US" b="1" dirty="0"/>
              <a:t>Visualization Tools: </a:t>
            </a:r>
            <a:r>
              <a:rPr lang="en-US" dirty="0"/>
              <a:t>Matplotlib and Seaborn</a:t>
            </a:r>
          </a:p>
          <a:p>
            <a:r>
              <a:rPr lang="en-US" b="1" dirty="0"/>
              <a:t>Model Architectures Used: </a:t>
            </a:r>
            <a:r>
              <a:rPr lang="en-US" dirty="0"/>
              <a:t>YOLOv9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Datasets/Modules</a:t>
            </a:r>
            <a:endParaRPr lang="en-US"/>
          </a:p>
        </p:txBody>
      </p:sp>
      <p:sp>
        <p:nvSpPr>
          <p:cNvPr id="3" name="Text Placeholder 2"/>
          <p:cNvSpPr>
            <a:spLocks noGrp="1"/>
          </p:cNvSpPr>
          <p:nvPr>
            <p:ph type="body" idx="1"/>
          </p:nvPr>
        </p:nvSpPr>
        <p:spPr/>
        <p:txBody>
          <a:bodyPr>
            <a:normAutofit/>
          </a:bodyPr>
          <a:lstStyle/>
          <a:p>
            <a:pPr>
              <a:lnSpc>
                <a:spcPct val="100000"/>
              </a:lnSpc>
            </a:pPr>
            <a:r>
              <a:rPr lang="en-US" sz="2400" b="1" dirty="0"/>
              <a:t>Fire and Smoke Video Dataset </a:t>
            </a:r>
            <a:r>
              <a:rPr lang="en-US" sz="2400" dirty="0"/>
              <a:t>A diverse dataset consisting of fire and smoke images and video frames captured under different environments, lighting conditions, and fire intensities is used to train and validate the YOLOv9 model. </a:t>
            </a:r>
          </a:p>
          <a:p>
            <a:pPr>
              <a:lnSpc>
                <a:spcPct val="100000"/>
              </a:lnSpc>
            </a:pPr>
            <a:r>
              <a:rPr lang="en-US" sz="2400" b="1" dirty="0"/>
              <a:t>Real-Time Video Input Module </a:t>
            </a:r>
            <a:r>
              <a:rPr lang="en-US" sz="2400" dirty="0"/>
              <a:t>Live video streams collected from surveillance cameras serve as real-time input for continuous fire monitoring and detection. </a:t>
            </a:r>
          </a:p>
          <a:p>
            <a:pPr>
              <a:lnSpc>
                <a:spcPct val="100000"/>
              </a:lnSpc>
            </a:pPr>
            <a:r>
              <a:rPr lang="en-US" sz="2400" b="1" dirty="0"/>
              <a:t>YOLOv9 Detection and Validation Module </a:t>
            </a:r>
            <a:r>
              <a:rPr lang="en-US" sz="2400" dirty="0"/>
              <a:t>This module processes the input frames using the YOLOv9 model and performs temporal validation to reduce false alarms and confirm genuine fire incidents. </a:t>
            </a:r>
          </a:p>
          <a:p>
            <a:pPr>
              <a:lnSpc>
                <a:spcPct val="100000"/>
              </a:lnSpc>
            </a:pPr>
            <a:r>
              <a:rPr lang="en-US" sz="2400" b="1" dirty="0"/>
              <a:t>Severity Classification and Alert Module </a:t>
            </a:r>
            <a:r>
              <a:rPr lang="en-US" sz="2400" dirty="0"/>
              <a:t>Confirmed fire detections are classified into severity levels, and automatic emergency alerts and event logs are generated for effective response and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Use Case Diagram</a:t>
            </a:r>
            <a:endParaRPr lang="en-US" dirty="0"/>
          </a:p>
        </p:txBody>
      </p:sp>
      <p:sp>
        <p:nvSpPr>
          <p:cNvPr id="3" name="Text Placeholder 2"/>
          <p:cNvSpPr>
            <a:spLocks noGrp="1"/>
          </p:cNvSpPr>
          <p:nvPr>
            <p:ph type="body" idx="1"/>
          </p:nvPr>
        </p:nvSpPr>
        <p:spPr>
          <a:xfrm>
            <a:off x="6409944" y="1097279"/>
            <a:ext cx="5568696" cy="5394960"/>
          </a:xfrm>
        </p:spPr>
        <p:txBody>
          <a:bodyPr>
            <a:noAutofit/>
          </a:bodyPr>
          <a:lstStyle/>
          <a:p>
            <a:pPr marL="50800" indent="0">
              <a:buNone/>
            </a:pPr>
            <a:r>
              <a:rPr lang="en-US" altLang="en-US" sz="2000" dirty="0"/>
              <a:t>The UML use case diagram for the proposed YOLOv9-based fire detection system represents the interactions between users and system components across all major stages, including dataset handling, preprocessing, model training, testing, and user interface operations. In the dataset stage, the user or administrator uploads fire and smoke image and video datasets, which are then preprocessed by the system through frame extraction, resizing, normalization, and annotation to ensure data consistency. During model training, the system uses the preprocessed dataset to train the YOLOv9 model, learning discriminative fire and smoke features, followed by model testing and validation to evaluate detection accuracy and reliability. In the deployment phase, the trained model is integrated with the user interface, where users can provide live camera input or recorded video for real-time fire detection. </a:t>
            </a:r>
            <a:endParaRPr lang="en-IN" altLang="en-US" sz="2000" dirty="0"/>
          </a:p>
        </p:txBody>
      </p:sp>
      <p:pic>
        <p:nvPicPr>
          <p:cNvPr id="6" name="Picture 5">
            <a:extLst>
              <a:ext uri="{FF2B5EF4-FFF2-40B4-BE49-F238E27FC236}">
                <a16:creationId xmlns:a16="http://schemas.microsoft.com/office/drawing/2014/main" id="{39A7F76D-2F6F-B191-2062-21EE1A760E37}"/>
              </a:ext>
            </a:extLst>
          </p:cNvPr>
          <p:cNvPicPr>
            <a:picLocks noChangeAspect="1"/>
          </p:cNvPicPr>
          <p:nvPr/>
        </p:nvPicPr>
        <p:blipFill>
          <a:blip r:embed="rId2"/>
          <a:stretch>
            <a:fillRect/>
          </a:stretch>
        </p:blipFill>
        <p:spPr>
          <a:xfrm>
            <a:off x="533400" y="1426463"/>
            <a:ext cx="5638800" cy="45789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8CDAD-2ACB-5E8F-EF76-A96DA24A7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AABB4-1A2C-0054-509E-62798704D355}"/>
              </a:ext>
            </a:extLst>
          </p:cNvPr>
          <p:cNvSpPr>
            <a:spLocks noGrp="1"/>
          </p:cNvSpPr>
          <p:nvPr>
            <p:ph type="title"/>
          </p:nvPr>
        </p:nvSpPr>
        <p:spPr/>
        <p:txBody>
          <a:bodyPr/>
          <a:lstStyle/>
          <a:p>
            <a:r>
              <a:rPr lang="en-US" dirty="0">
                <a:sym typeface="+mn-ea"/>
              </a:rPr>
              <a:t>Activity Diagram</a:t>
            </a:r>
            <a:endParaRPr lang="en-US" dirty="0"/>
          </a:p>
        </p:txBody>
      </p:sp>
      <p:sp>
        <p:nvSpPr>
          <p:cNvPr id="3" name="Text Placeholder 2">
            <a:extLst>
              <a:ext uri="{FF2B5EF4-FFF2-40B4-BE49-F238E27FC236}">
                <a16:creationId xmlns:a16="http://schemas.microsoft.com/office/drawing/2014/main" id="{C0306C45-EA55-1981-D64F-328AB72236AB}"/>
              </a:ext>
            </a:extLst>
          </p:cNvPr>
          <p:cNvSpPr>
            <a:spLocks noGrp="1"/>
          </p:cNvSpPr>
          <p:nvPr>
            <p:ph type="body" idx="1"/>
          </p:nvPr>
        </p:nvSpPr>
        <p:spPr>
          <a:xfrm>
            <a:off x="6191643" y="1230281"/>
            <a:ext cx="5568696" cy="5394960"/>
          </a:xfrm>
        </p:spPr>
        <p:txBody>
          <a:bodyPr>
            <a:noAutofit/>
          </a:bodyPr>
          <a:lstStyle/>
          <a:p>
            <a:pPr marL="50800" indent="0">
              <a:buNone/>
            </a:pPr>
            <a:r>
              <a:rPr lang="en-US" altLang="en-US" sz="2000" dirty="0"/>
              <a:t>The activity diagram of the proposed YOLOv9-based fire detection system illustrates the complete operational workflow from data input to emergency response in a sequential and decision-driven manner. The process begins with capturing live video streams or loading recorded video data, followed by frame extraction and preprocessing to prepare the input for analysis. Each frame is then passed to the trained YOLOv9 model for fire and smoke detection, where a decision node checks whether fire or smoke is detected. If no fire is identified, the system continues monitoring the video stream; if fire or smoke is detected, the workflow proceeds to temporal validation, where detections are verified across consecutive frames to eliminate false alarms. </a:t>
            </a:r>
            <a:endParaRPr lang="en-IN" altLang="en-US" sz="2000" dirty="0"/>
          </a:p>
        </p:txBody>
      </p:sp>
      <p:pic>
        <p:nvPicPr>
          <p:cNvPr id="6" name="Picture 5">
            <a:extLst>
              <a:ext uri="{FF2B5EF4-FFF2-40B4-BE49-F238E27FC236}">
                <a16:creationId xmlns:a16="http://schemas.microsoft.com/office/drawing/2014/main" id="{D33DE847-8919-3738-6442-213D46BB7A8A}"/>
              </a:ext>
            </a:extLst>
          </p:cNvPr>
          <p:cNvPicPr>
            <a:picLocks noChangeAspect="1"/>
          </p:cNvPicPr>
          <p:nvPr/>
        </p:nvPicPr>
        <p:blipFill>
          <a:blip r:embed="rId2"/>
          <a:stretch>
            <a:fillRect/>
          </a:stretch>
        </p:blipFill>
        <p:spPr>
          <a:xfrm>
            <a:off x="431661" y="1519366"/>
            <a:ext cx="5664337" cy="4078323"/>
          </a:xfrm>
          <a:prstGeom prst="rect">
            <a:avLst/>
          </a:prstGeom>
        </p:spPr>
      </p:pic>
    </p:spTree>
    <p:extLst>
      <p:ext uri="{BB962C8B-B14F-4D97-AF65-F5344CB8AC3E}">
        <p14:creationId xmlns:p14="http://schemas.microsoft.com/office/powerpoint/2010/main" val="2953813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B2FE6-51BA-4569-E45E-FE8A0D76D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28247-43A0-2E12-9DBE-310D1989698F}"/>
              </a:ext>
            </a:extLst>
          </p:cNvPr>
          <p:cNvSpPr>
            <a:spLocks noGrp="1"/>
          </p:cNvSpPr>
          <p:nvPr>
            <p:ph type="title"/>
          </p:nvPr>
        </p:nvSpPr>
        <p:spPr/>
        <p:txBody>
          <a:bodyPr/>
          <a:lstStyle/>
          <a:p>
            <a:r>
              <a:rPr lang="en-US" dirty="0">
                <a:sym typeface="+mn-ea"/>
              </a:rPr>
              <a:t>Sequence Diagram</a:t>
            </a:r>
            <a:endParaRPr lang="en-US" dirty="0"/>
          </a:p>
        </p:txBody>
      </p:sp>
      <p:sp>
        <p:nvSpPr>
          <p:cNvPr id="3" name="Text Placeholder 2">
            <a:extLst>
              <a:ext uri="{FF2B5EF4-FFF2-40B4-BE49-F238E27FC236}">
                <a16:creationId xmlns:a16="http://schemas.microsoft.com/office/drawing/2014/main" id="{A7C9E244-56F9-477C-734F-539140DC78B2}"/>
              </a:ext>
            </a:extLst>
          </p:cNvPr>
          <p:cNvSpPr>
            <a:spLocks noGrp="1"/>
          </p:cNvSpPr>
          <p:nvPr>
            <p:ph type="body" idx="1"/>
          </p:nvPr>
        </p:nvSpPr>
        <p:spPr>
          <a:xfrm>
            <a:off x="6409944" y="1097279"/>
            <a:ext cx="5568696" cy="5394960"/>
          </a:xfrm>
        </p:spPr>
        <p:txBody>
          <a:bodyPr>
            <a:noAutofit/>
          </a:bodyPr>
          <a:lstStyle/>
          <a:p>
            <a:pPr marL="50800" indent="0">
              <a:buNone/>
            </a:pPr>
            <a:r>
              <a:rPr lang="en-US" altLang="en-US" sz="1800" dirty="0"/>
              <a:t>The sequence diagram of the proposed YOLOv9-based fire detection system depicts the step-by-step interactions between the system components and the user for real-time fire monitoring and response. The sequence begins with the user or surveillance system providing live video input, which is sent to the preprocessing module for frame extraction, resizing, and normalization. The preprocessed frames are then passed sequentially to the YOLOv9 detection module, which analyzes each frame for fire or smoke and returns detection results along with confidence scores. These results are forwarded to the temporal validation module, where consecutive-frame consistency is checked to confirm genuine fire incidents and reduce false alarms. Once validated, the severity classification module determines the intensity of the fire as low, medium, or high. Based on the classification, the alert generation module automatically triggers emergency notifications, while the logging module records event details such as time, severity, and confidence scores for future analysis. </a:t>
            </a:r>
            <a:endParaRPr lang="en-IN" altLang="en-US" sz="1800" dirty="0"/>
          </a:p>
        </p:txBody>
      </p:sp>
      <p:pic>
        <p:nvPicPr>
          <p:cNvPr id="5" name="Picture 4">
            <a:extLst>
              <a:ext uri="{FF2B5EF4-FFF2-40B4-BE49-F238E27FC236}">
                <a16:creationId xmlns:a16="http://schemas.microsoft.com/office/drawing/2014/main" id="{5CBF8B56-86F1-6F6F-0C49-47CC0E1C0456}"/>
              </a:ext>
            </a:extLst>
          </p:cNvPr>
          <p:cNvPicPr>
            <a:picLocks noChangeAspect="1"/>
          </p:cNvPicPr>
          <p:nvPr/>
        </p:nvPicPr>
        <p:blipFill>
          <a:blip r:embed="rId2"/>
          <a:stretch>
            <a:fillRect/>
          </a:stretch>
        </p:blipFill>
        <p:spPr>
          <a:xfrm>
            <a:off x="676656" y="1359586"/>
            <a:ext cx="5644036" cy="4739461"/>
          </a:xfrm>
          <a:prstGeom prst="rect">
            <a:avLst/>
          </a:prstGeom>
        </p:spPr>
      </p:pic>
    </p:spTree>
    <p:extLst>
      <p:ext uri="{BB962C8B-B14F-4D97-AF65-F5344CB8AC3E}">
        <p14:creationId xmlns:p14="http://schemas.microsoft.com/office/powerpoint/2010/main" val="3329941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4869C-4431-61DD-C21F-262294B38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19EFD-DF0C-EF7A-CC0D-A7C73B930E82}"/>
              </a:ext>
            </a:extLst>
          </p:cNvPr>
          <p:cNvSpPr>
            <a:spLocks noGrp="1"/>
          </p:cNvSpPr>
          <p:nvPr>
            <p:ph type="title"/>
          </p:nvPr>
        </p:nvSpPr>
        <p:spPr/>
        <p:txBody>
          <a:bodyPr/>
          <a:lstStyle/>
          <a:p>
            <a:r>
              <a:rPr lang="en-US" dirty="0">
                <a:sym typeface="+mn-ea"/>
              </a:rPr>
              <a:t>System Architecture</a:t>
            </a:r>
            <a:endParaRPr lang="en-US" dirty="0"/>
          </a:p>
        </p:txBody>
      </p:sp>
      <p:sp>
        <p:nvSpPr>
          <p:cNvPr id="6" name="TextBox 5">
            <a:extLst>
              <a:ext uri="{FF2B5EF4-FFF2-40B4-BE49-F238E27FC236}">
                <a16:creationId xmlns:a16="http://schemas.microsoft.com/office/drawing/2014/main" id="{25C532F7-2065-E449-6005-BEF0C490E396}"/>
              </a:ext>
            </a:extLst>
          </p:cNvPr>
          <p:cNvSpPr txBox="1"/>
          <p:nvPr/>
        </p:nvSpPr>
        <p:spPr>
          <a:xfrm>
            <a:off x="4841988" y="5961281"/>
            <a:ext cx="2492990" cy="307777"/>
          </a:xfrm>
          <a:prstGeom prst="rect">
            <a:avLst/>
          </a:prstGeom>
          <a:noFill/>
        </p:spPr>
        <p:txBody>
          <a:bodyPr wrap="none" rtlCol="0">
            <a:spAutoFit/>
          </a:bodyPr>
          <a:lstStyle/>
          <a:p>
            <a:r>
              <a:rPr lang="en-US" dirty="0"/>
              <a:t>Proposed Model Architecture</a:t>
            </a:r>
          </a:p>
        </p:txBody>
      </p:sp>
      <p:pic>
        <p:nvPicPr>
          <p:cNvPr id="3" name="Picture 2">
            <a:extLst>
              <a:ext uri="{FF2B5EF4-FFF2-40B4-BE49-F238E27FC236}">
                <a16:creationId xmlns:a16="http://schemas.microsoft.com/office/drawing/2014/main" id="{918C1942-BD6E-FAFF-559E-2812723EDDC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4773" b="6534"/>
          <a:stretch>
            <a:fillRect/>
          </a:stretch>
        </p:blipFill>
        <p:spPr bwMode="auto">
          <a:xfrm>
            <a:off x="2084832" y="1723531"/>
            <a:ext cx="7584440" cy="397870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32213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Outputs</a:t>
            </a:r>
            <a:endParaRPr lang="en-US"/>
          </a:p>
        </p:txBody>
      </p:sp>
      <p:sp>
        <p:nvSpPr>
          <p:cNvPr id="6" name="TextBox 5">
            <a:extLst>
              <a:ext uri="{FF2B5EF4-FFF2-40B4-BE49-F238E27FC236}">
                <a16:creationId xmlns:a16="http://schemas.microsoft.com/office/drawing/2014/main" id="{C85BBE10-6B24-D761-D252-27CDCD3A2936}"/>
              </a:ext>
            </a:extLst>
          </p:cNvPr>
          <p:cNvSpPr txBox="1"/>
          <p:nvPr/>
        </p:nvSpPr>
        <p:spPr>
          <a:xfrm>
            <a:off x="4841988" y="5961281"/>
            <a:ext cx="1577676" cy="307777"/>
          </a:xfrm>
          <a:prstGeom prst="rect">
            <a:avLst/>
          </a:prstGeom>
          <a:noFill/>
        </p:spPr>
        <p:txBody>
          <a:bodyPr wrap="none" rtlCol="0">
            <a:spAutoFit/>
          </a:bodyPr>
          <a:lstStyle/>
          <a:p>
            <a:r>
              <a:rPr lang="en-US" dirty="0"/>
              <a:t>Loading Datasets</a:t>
            </a:r>
          </a:p>
        </p:txBody>
      </p:sp>
      <p:pic>
        <p:nvPicPr>
          <p:cNvPr id="4" name="Picture 3">
            <a:extLst>
              <a:ext uri="{FF2B5EF4-FFF2-40B4-BE49-F238E27FC236}">
                <a16:creationId xmlns:a16="http://schemas.microsoft.com/office/drawing/2014/main" id="{D14CDEBA-2FF6-6DA3-6189-8915B8317B3F}"/>
              </a:ext>
            </a:extLst>
          </p:cNvPr>
          <p:cNvPicPr>
            <a:picLocks noChangeAspect="1"/>
          </p:cNvPicPr>
          <p:nvPr/>
        </p:nvPicPr>
        <p:blipFill>
          <a:blip r:embed="rId2"/>
          <a:stretch>
            <a:fillRect/>
          </a:stretch>
        </p:blipFill>
        <p:spPr>
          <a:xfrm>
            <a:off x="2514600" y="1076181"/>
            <a:ext cx="7935219" cy="4885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8669-9C90-CD0F-CA3A-0F628398C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C7D74-4EA6-1BB7-84B6-C1C3EE300B0F}"/>
              </a:ext>
            </a:extLst>
          </p:cNvPr>
          <p:cNvSpPr>
            <a:spLocks noGrp="1"/>
          </p:cNvSpPr>
          <p:nvPr>
            <p:ph type="title"/>
          </p:nvPr>
        </p:nvSpPr>
        <p:spPr/>
        <p:txBody>
          <a:bodyPr/>
          <a:lstStyle/>
          <a:p>
            <a:r>
              <a:rPr lang="en-US">
                <a:sym typeface="+mn-ea"/>
              </a:rPr>
              <a:t>Outputs</a:t>
            </a:r>
            <a:endParaRPr lang="en-US"/>
          </a:p>
        </p:txBody>
      </p:sp>
      <p:sp>
        <p:nvSpPr>
          <p:cNvPr id="6" name="TextBox 5">
            <a:extLst>
              <a:ext uri="{FF2B5EF4-FFF2-40B4-BE49-F238E27FC236}">
                <a16:creationId xmlns:a16="http://schemas.microsoft.com/office/drawing/2014/main" id="{50504A9A-19CE-B208-70D2-4C68B1D8B441}"/>
              </a:ext>
            </a:extLst>
          </p:cNvPr>
          <p:cNvSpPr txBox="1"/>
          <p:nvPr/>
        </p:nvSpPr>
        <p:spPr>
          <a:xfrm>
            <a:off x="5655804" y="5910349"/>
            <a:ext cx="1569660" cy="307777"/>
          </a:xfrm>
          <a:prstGeom prst="rect">
            <a:avLst/>
          </a:prstGeom>
          <a:noFill/>
        </p:spPr>
        <p:txBody>
          <a:bodyPr wrap="none" rtlCol="0">
            <a:spAutoFit/>
          </a:bodyPr>
          <a:lstStyle/>
          <a:p>
            <a:r>
              <a:rPr lang="en-US" dirty="0"/>
              <a:t>Dataset Statistics</a:t>
            </a:r>
          </a:p>
        </p:txBody>
      </p:sp>
      <p:pic>
        <p:nvPicPr>
          <p:cNvPr id="4" name="Picture 3">
            <a:extLst>
              <a:ext uri="{FF2B5EF4-FFF2-40B4-BE49-F238E27FC236}">
                <a16:creationId xmlns:a16="http://schemas.microsoft.com/office/drawing/2014/main" id="{973D1118-E852-BD7E-9EEE-737BDB35CD8F}"/>
              </a:ext>
            </a:extLst>
          </p:cNvPr>
          <p:cNvPicPr>
            <a:picLocks noChangeAspect="1"/>
          </p:cNvPicPr>
          <p:nvPr/>
        </p:nvPicPr>
        <p:blipFill>
          <a:blip r:embed="rId2"/>
          <a:stretch>
            <a:fillRect/>
          </a:stretch>
        </p:blipFill>
        <p:spPr>
          <a:xfrm>
            <a:off x="2898222" y="1182901"/>
            <a:ext cx="7381252" cy="4727448"/>
          </a:xfrm>
          <a:prstGeom prst="rect">
            <a:avLst/>
          </a:prstGeom>
        </p:spPr>
      </p:pic>
    </p:spTree>
    <p:extLst>
      <p:ext uri="{BB962C8B-B14F-4D97-AF65-F5344CB8AC3E}">
        <p14:creationId xmlns:p14="http://schemas.microsoft.com/office/powerpoint/2010/main" val="1480086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5FD41-5C23-A25D-A3F5-E04D5172D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29CD6-4C84-1A78-F22A-31BCA054A854}"/>
              </a:ext>
            </a:extLst>
          </p:cNvPr>
          <p:cNvSpPr>
            <a:spLocks noGrp="1"/>
          </p:cNvSpPr>
          <p:nvPr>
            <p:ph type="title"/>
          </p:nvPr>
        </p:nvSpPr>
        <p:spPr/>
        <p:txBody>
          <a:bodyPr/>
          <a:lstStyle/>
          <a:p>
            <a:r>
              <a:rPr lang="en-US">
                <a:sym typeface="+mn-ea"/>
              </a:rPr>
              <a:t>Outputs</a:t>
            </a:r>
            <a:endParaRPr lang="en-US"/>
          </a:p>
        </p:txBody>
      </p:sp>
      <p:sp>
        <p:nvSpPr>
          <p:cNvPr id="6" name="TextBox 5">
            <a:extLst>
              <a:ext uri="{FF2B5EF4-FFF2-40B4-BE49-F238E27FC236}">
                <a16:creationId xmlns:a16="http://schemas.microsoft.com/office/drawing/2014/main" id="{FEAC9974-C038-97D6-D49E-9D0351BF42E4}"/>
              </a:ext>
            </a:extLst>
          </p:cNvPr>
          <p:cNvSpPr txBox="1"/>
          <p:nvPr/>
        </p:nvSpPr>
        <p:spPr>
          <a:xfrm>
            <a:off x="4841988" y="5961281"/>
            <a:ext cx="2055371" cy="307777"/>
          </a:xfrm>
          <a:prstGeom prst="rect">
            <a:avLst/>
          </a:prstGeom>
          <a:noFill/>
        </p:spPr>
        <p:txBody>
          <a:bodyPr wrap="none" rtlCol="0">
            <a:spAutoFit/>
          </a:bodyPr>
          <a:lstStyle/>
          <a:p>
            <a:r>
              <a:rPr lang="en-US" dirty="0"/>
              <a:t>Sample Images of Data</a:t>
            </a:r>
          </a:p>
        </p:txBody>
      </p:sp>
      <p:pic>
        <p:nvPicPr>
          <p:cNvPr id="4" name="Picture 3">
            <a:extLst>
              <a:ext uri="{FF2B5EF4-FFF2-40B4-BE49-F238E27FC236}">
                <a16:creationId xmlns:a16="http://schemas.microsoft.com/office/drawing/2014/main" id="{7BF03670-86C3-8839-DE21-ED815ABC0019}"/>
              </a:ext>
            </a:extLst>
          </p:cNvPr>
          <p:cNvPicPr>
            <a:picLocks noChangeAspect="1"/>
          </p:cNvPicPr>
          <p:nvPr/>
        </p:nvPicPr>
        <p:blipFill>
          <a:blip r:embed="rId2"/>
          <a:stretch>
            <a:fillRect/>
          </a:stretch>
        </p:blipFill>
        <p:spPr>
          <a:xfrm>
            <a:off x="564114" y="2160119"/>
            <a:ext cx="4638052" cy="3212220"/>
          </a:xfrm>
          <a:prstGeom prst="rect">
            <a:avLst/>
          </a:prstGeom>
        </p:spPr>
      </p:pic>
      <p:pic>
        <p:nvPicPr>
          <p:cNvPr id="7" name="Picture 6">
            <a:extLst>
              <a:ext uri="{FF2B5EF4-FFF2-40B4-BE49-F238E27FC236}">
                <a16:creationId xmlns:a16="http://schemas.microsoft.com/office/drawing/2014/main" id="{2F3048FB-A366-731E-9EEF-8ADA0BA16A17}"/>
              </a:ext>
            </a:extLst>
          </p:cNvPr>
          <p:cNvPicPr>
            <a:picLocks noChangeAspect="1"/>
          </p:cNvPicPr>
          <p:nvPr/>
        </p:nvPicPr>
        <p:blipFill>
          <a:blip r:embed="rId3"/>
          <a:stretch>
            <a:fillRect/>
          </a:stretch>
        </p:blipFill>
        <p:spPr>
          <a:xfrm>
            <a:off x="5202166" y="1550147"/>
            <a:ext cx="6761126" cy="3822192"/>
          </a:xfrm>
          <a:prstGeom prst="rect">
            <a:avLst/>
          </a:prstGeom>
        </p:spPr>
      </p:pic>
    </p:spTree>
    <p:extLst>
      <p:ext uri="{BB962C8B-B14F-4D97-AF65-F5344CB8AC3E}">
        <p14:creationId xmlns:p14="http://schemas.microsoft.com/office/powerpoint/2010/main" val="2116463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Conclusion</a:t>
            </a:r>
            <a:endParaRPr lang="en-US"/>
          </a:p>
        </p:txBody>
      </p:sp>
      <p:sp>
        <p:nvSpPr>
          <p:cNvPr id="3" name="Text Placeholder 2"/>
          <p:cNvSpPr>
            <a:spLocks noGrp="1"/>
          </p:cNvSpPr>
          <p:nvPr>
            <p:ph type="body" idx="1"/>
          </p:nvPr>
        </p:nvSpPr>
        <p:spPr/>
        <p:txBody>
          <a:bodyPr>
            <a:normAutofit/>
          </a:bodyPr>
          <a:lstStyle/>
          <a:p>
            <a:r>
              <a:rPr lang="en-US" sz="2400" dirty="0"/>
              <a:t>The proposed YOLOv9-based fire detection system provides accurate and real-time detection of fire and smoke from live video streams, significantly improving early warning capabilities compared to traditional methods. </a:t>
            </a:r>
          </a:p>
          <a:p>
            <a:r>
              <a:rPr lang="en-US" sz="2400" dirty="0"/>
              <a:t>Temporal validation across consecutive frames effectively reduces false alarms caused by environmental factors such as dust, lighting variations, and reflections, enhancing system reliability. </a:t>
            </a:r>
          </a:p>
          <a:p>
            <a:r>
              <a:rPr lang="en-US" sz="2400" dirty="0"/>
              <a:t>The system’s severity classification and automatic emergency alert generation enable prioritized response and rapid action, minimizing potential damage and ensuring safety. </a:t>
            </a:r>
          </a:p>
          <a:p>
            <a:r>
              <a:rPr lang="en-US" sz="2400" dirty="0"/>
              <a:t>Comprehensive event logging allows for post-incident analysis, performance evaluation, and continuous system improvement, making the framework robust, scalable, and suitable for real-world fire monitoring and disaster management applications.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References</a:t>
            </a:r>
            <a:endParaRPr lang="en-US"/>
          </a:p>
        </p:txBody>
      </p:sp>
      <p:sp>
        <p:nvSpPr>
          <p:cNvPr id="3" name="Text Placeholder 2"/>
          <p:cNvSpPr>
            <a:spLocks noGrp="1"/>
          </p:cNvSpPr>
          <p:nvPr>
            <p:ph type="body" idx="1"/>
          </p:nvPr>
        </p:nvSpPr>
        <p:spPr/>
        <p:txBody>
          <a:bodyPr>
            <a:noAutofit/>
          </a:bodyPr>
          <a:lstStyle/>
          <a:p>
            <a:pPr marL="565150" indent="-514350">
              <a:lnSpc>
                <a:spcPct val="100000"/>
              </a:lnSpc>
              <a:buFont typeface="+mj-lt"/>
              <a:buAutoNum type="arabicParenR"/>
            </a:pPr>
            <a:r>
              <a:rPr lang="en-US" sz="2000" dirty="0" err="1">
                <a:latin typeface="Times New Roman" panose="02020603050405020304" pitchFamily="18" charset="0"/>
                <a:cs typeface="Times New Roman" panose="02020603050405020304" pitchFamily="18" charset="0"/>
              </a:rPr>
              <a:t>Remmelzwaal</a:t>
            </a:r>
            <a:r>
              <a:rPr lang="en-US" sz="2000" dirty="0">
                <a:latin typeface="Times New Roman" panose="02020603050405020304" pitchFamily="18" charset="0"/>
                <a:cs typeface="Times New Roman" panose="02020603050405020304" pitchFamily="18" charset="0"/>
              </a:rPr>
              <a:t>, L. (2025). An AI-based early fire detection system utilizing HD cameras and real-time image analysis. In </a:t>
            </a:r>
            <a:r>
              <a:rPr lang="en-US" sz="2000" i="1" dirty="0">
                <a:latin typeface="Times New Roman" panose="02020603050405020304" pitchFamily="18" charset="0"/>
                <a:cs typeface="Times New Roman" panose="02020603050405020304" pitchFamily="18" charset="0"/>
              </a:rPr>
              <a:t>Artificial Intelligence and Applications</a:t>
            </a:r>
            <a:r>
              <a:rPr lang="en-US" sz="2000" dirty="0">
                <a:latin typeface="Times New Roman" panose="02020603050405020304" pitchFamily="18" charset="0"/>
                <a:cs typeface="Times New Roman" panose="02020603050405020304" pitchFamily="18" charset="0"/>
              </a:rPr>
              <a:t>.</a:t>
            </a:r>
          </a:p>
          <a:p>
            <a:pPr marL="565150" indent="-514350">
              <a:lnSpc>
                <a:spcPct val="100000"/>
              </a:lnSpc>
              <a:buFont typeface="+mj-lt"/>
              <a:buAutoNum type="arabicParenR"/>
            </a:pPr>
            <a:r>
              <a:rPr lang="en-US" sz="2000" dirty="0">
                <a:latin typeface="Times New Roman" panose="02020603050405020304" pitchFamily="18" charset="0"/>
                <a:cs typeface="Times New Roman" panose="02020603050405020304" pitchFamily="18" charset="0"/>
              </a:rPr>
              <a:t>Morchid, A., Alblushi, I. G. M., Khalid, H. M., El Alami, R., Said, Z., </a:t>
            </a:r>
            <a:r>
              <a:rPr lang="en-US" sz="2000" dirty="0" err="1">
                <a:latin typeface="Times New Roman" panose="02020603050405020304" pitchFamily="18" charset="0"/>
                <a:cs typeface="Times New Roman" panose="02020603050405020304" pitchFamily="18" charset="0"/>
              </a:rPr>
              <a:t>Qjidaa</a:t>
            </a:r>
            <a:r>
              <a:rPr lang="en-US" sz="2000" dirty="0">
                <a:latin typeface="Times New Roman" panose="02020603050405020304" pitchFamily="18" charset="0"/>
                <a:cs typeface="Times New Roman" panose="02020603050405020304" pitchFamily="18" charset="0"/>
              </a:rPr>
              <a:t>, H., ... &amp; Jamil, M. O. (2025). Fire detection and anti-fire system to enhance food security: A concept of smart agriculture systems-based IoT and embedded systems with machine-to-machine protocol. </a:t>
            </a:r>
            <a:r>
              <a:rPr lang="en-US" sz="2000" i="1" dirty="0">
                <a:latin typeface="Times New Roman" panose="02020603050405020304" pitchFamily="18" charset="0"/>
                <a:cs typeface="Times New Roman" panose="02020603050405020304" pitchFamily="18" charset="0"/>
              </a:rPr>
              <a:t>Scientific African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27</a:t>
            </a:r>
            <a:r>
              <a:rPr lang="en-US" sz="2000" dirty="0">
                <a:latin typeface="Times New Roman" panose="02020603050405020304" pitchFamily="18" charset="0"/>
                <a:cs typeface="Times New Roman" panose="02020603050405020304" pitchFamily="18" charset="0"/>
              </a:rPr>
              <a:t>, e02559.</a:t>
            </a:r>
          </a:p>
          <a:p>
            <a:pPr marL="565150" indent="-514350">
              <a:lnSpc>
                <a:spcPct val="100000"/>
              </a:lnSpc>
              <a:buFont typeface="+mj-lt"/>
              <a:buAutoNum type="arabicParenR"/>
            </a:pPr>
            <a:r>
              <a:rPr lang="en-US" sz="2000" dirty="0">
                <a:latin typeface="Times New Roman" panose="02020603050405020304" pitchFamily="18" charset="0"/>
                <a:cs typeface="Times New Roman" panose="02020603050405020304" pitchFamily="18" charset="0"/>
              </a:rPr>
              <a:t>Salaria, A., &amp; Singh, A. (2025). A guide for selection of wireless communication technology for effective and robust early forest fire detection system. </a:t>
            </a:r>
            <a:r>
              <a:rPr lang="en-US" sz="2000" i="1" dirty="0">
                <a:latin typeface="Times New Roman" panose="02020603050405020304" pitchFamily="18" charset="0"/>
                <a:cs typeface="Times New Roman" panose="02020603050405020304" pitchFamily="18" charset="0"/>
              </a:rPr>
              <a:t>Bulletin of Electrical Engineering and Informatics</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14</a:t>
            </a:r>
            <a:r>
              <a:rPr lang="en-US" sz="2000" dirty="0">
                <a:latin typeface="Times New Roman" panose="02020603050405020304" pitchFamily="18" charset="0"/>
                <a:cs typeface="Times New Roman" panose="02020603050405020304" pitchFamily="18" charset="0"/>
              </a:rPr>
              <a:t>(2), 1026-1035.</a:t>
            </a:r>
          </a:p>
          <a:p>
            <a:pPr marL="565150" indent="-514350">
              <a:lnSpc>
                <a:spcPct val="100000"/>
              </a:lnSpc>
              <a:buFont typeface="+mj-lt"/>
              <a:buAutoNum type="arabicParenR"/>
            </a:pPr>
            <a:r>
              <a:rPr lang="en-US" sz="2000" dirty="0">
                <a:latin typeface="Times New Roman" panose="02020603050405020304" pitchFamily="18" charset="0"/>
                <a:cs typeface="Times New Roman" panose="02020603050405020304" pitchFamily="18" charset="0"/>
              </a:rPr>
              <a:t>Wilk-Jakubowski, J. L., </a:t>
            </a:r>
            <a:r>
              <a:rPr lang="en-US" sz="2000" dirty="0" err="1">
                <a:latin typeface="Times New Roman" panose="02020603050405020304" pitchFamily="18" charset="0"/>
                <a:cs typeface="Times New Roman" panose="02020603050405020304" pitchFamily="18" charset="0"/>
              </a:rPr>
              <a:t>Loboichenko</a:t>
            </a:r>
            <a:r>
              <a:rPr lang="en-US" sz="2000" dirty="0">
                <a:latin typeface="Times New Roman" panose="02020603050405020304" pitchFamily="18" charset="0"/>
                <a:cs typeface="Times New Roman" panose="02020603050405020304" pitchFamily="18" charset="0"/>
              </a:rPr>
              <a:t>, V., </a:t>
            </a:r>
            <a:r>
              <a:rPr lang="en-US" sz="2000" dirty="0" err="1">
                <a:latin typeface="Times New Roman" panose="02020603050405020304" pitchFamily="18" charset="0"/>
                <a:cs typeface="Times New Roman" panose="02020603050405020304" pitchFamily="18" charset="0"/>
              </a:rPr>
              <a:t>Divizinyuk</a:t>
            </a:r>
            <a:r>
              <a:rPr lang="en-US" sz="2000" dirty="0">
                <a:latin typeface="Times New Roman" panose="02020603050405020304" pitchFamily="18" charset="0"/>
                <a:cs typeface="Times New Roman" panose="02020603050405020304" pitchFamily="18" charset="0"/>
              </a:rPr>
              <a:t>, M., Wilk-Jakubowski, G., Shevchenko, R., Ivanov, S., &amp; Strelets, V. (2025). Acoustic Waves and Their Application in Modern Fire Detection Using Artificial Vision Systems: A Review. </a:t>
            </a:r>
            <a:r>
              <a:rPr lang="en-US" sz="2000" i="1" dirty="0">
                <a:latin typeface="Times New Roman" panose="02020603050405020304" pitchFamily="18" charset="0"/>
                <a:cs typeface="Times New Roman" panose="02020603050405020304" pitchFamily="18" charset="0"/>
              </a:rPr>
              <a:t>Sensors (Basel, Switzerland)</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25</a:t>
            </a:r>
            <a:r>
              <a:rPr lang="en-US" sz="2000" dirty="0">
                <a:latin typeface="Times New Roman" panose="02020603050405020304" pitchFamily="18" charset="0"/>
                <a:cs typeface="Times New Roman" panose="02020603050405020304" pitchFamily="18" charset="0"/>
              </a:rPr>
              <a:t>(3), 935.</a:t>
            </a:r>
          </a:p>
          <a:p>
            <a:pPr marL="565150" indent="-514350">
              <a:lnSpc>
                <a:spcPct val="100000"/>
              </a:lnSpc>
              <a:buFont typeface="+mj-lt"/>
              <a:buAutoNum type="arabicParenR"/>
            </a:pPr>
            <a:r>
              <a:rPr lang="en-US" sz="2000" dirty="0">
                <a:latin typeface="Times New Roman" panose="02020603050405020304" pitchFamily="18" charset="0"/>
                <a:cs typeface="Times New Roman" panose="02020603050405020304" pitchFamily="18" charset="0"/>
              </a:rPr>
              <a:t>Mia, M. M. (2025). A REVIEW ON THE INFLUENCE OF AI-ENABLED FIRE DETECTION AND SUPPRESSION SYSTEMS IN ENHANCING BUILDING SAFETY. </a:t>
            </a:r>
            <a:r>
              <a:rPr lang="en-US" sz="2000" i="1" dirty="0">
                <a:latin typeface="Times New Roman" panose="02020603050405020304" pitchFamily="18" charset="0"/>
                <a:cs typeface="Times New Roman" panose="02020603050405020304" pitchFamily="18" charset="0"/>
              </a:rPr>
              <a:t>Review of Applied Science and Technology</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(04), 36-73.</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4" name="Text Placeholder 3"/>
          <p:cNvSpPr>
            <a:spLocks noGrp="1"/>
          </p:cNvSpPr>
          <p:nvPr>
            <p:ph type="body" idx="1"/>
          </p:nvPr>
        </p:nvSpPr>
        <p:spPr>
          <a:xfrm>
            <a:off x="0" y="2308860"/>
            <a:ext cx="12192635" cy="2952750"/>
          </a:xfrm>
        </p:spPr>
        <p:txBody>
          <a:bodyPr/>
          <a:lstStyle/>
          <a:p>
            <a:pPr marL="50800" indent="0" algn="ctr">
              <a:buNone/>
            </a:pPr>
            <a:r>
              <a:rPr lang="en-US" sz="12800" i="1" dirty="0">
                <a:ln w="15875"/>
                <a:solidFill>
                  <a:srgbClr val="F78F07"/>
                </a:solidFill>
                <a:effectLst/>
                <a:latin typeface="Times New Roman" panose="02020603050405020304" pitchFamily="18" charset="0"/>
                <a:cs typeface="Times New Roman" panose="02020603050405020304" pitchFamily="18" charset="0"/>
              </a:rPr>
              <a:t>Thank You</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4" name="Text Placeholder 3"/>
          <p:cNvSpPr>
            <a:spLocks noGrp="1"/>
          </p:cNvSpPr>
          <p:nvPr>
            <p:ph type="body" idx="1"/>
          </p:nvPr>
        </p:nvSpPr>
        <p:spPr>
          <a:xfrm>
            <a:off x="0" y="2308860"/>
            <a:ext cx="12192635" cy="2952750"/>
          </a:xfrm>
        </p:spPr>
        <p:txBody>
          <a:bodyPr/>
          <a:lstStyle/>
          <a:p>
            <a:pPr marL="50800" indent="0" algn="ctr">
              <a:buNone/>
            </a:pPr>
            <a:r>
              <a:rPr lang="en-US" sz="12800" i="1" dirty="0">
                <a:ln w="15875"/>
                <a:solidFill>
                  <a:srgbClr val="F78F07"/>
                </a:solidFill>
                <a:effectLst/>
                <a:latin typeface="Times New Roman" panose="02020603050405020304" pitchFamily="18" charset="0"/>
                <a:cs typeface="Times New Roman" panose="02020603050405020304" pitchFamily="18" charset="0"/>
              </a:rPr>
              <a:t>Any Queries</a:t>
            </a:r>
          </a:p>
        </p:txBody>
      </p:sp>
    </p:spTree>
  </p:cSld>
  <p:clrMapOvr>
    <a:masterClrMapping/>
  </p:clrMapOvr>
</p:sld>
</file>

<file path=ppt/theme/theme1.xml><?xml version="1.0" encoding="utf-8"?>
<a:theme xmlns:a="http://schemas.openxmlformats.org/drawingml/2006/main" name="Custom Desig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1514</Words>
  <Application>Microsoft Office PowerPoint</Application>
  <PresentationFormat>Widescreen</PresentationFormat>
  <Paragraphs>86</Paragraphs>
  <Slides>18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Courier New</vt:lpstr>
      <vt:lpstr>Noto Sans Symbols</vt:lpstr>
      <vt:lpstr>Times New Roman</vt:lpstr>
      <vt:lpstr>Wingdings</vt:lpstr>
      <vt:lpstr>Custom Design</vt:lpstr>
      <vt:lpstr>PowerPoint Presentation</vt:lpstr>
      <vt:lpstr>Title Explaination</vt:lpstr>
      <vt:lpstr>Contents</vt:lpstr>
      <vt:lpstr>Abstract</vt:lpstr>
      <vt:lpstr>Introduction</vt:lpstr>
      <vt:lpstr>Software Requirements</vt:lpstr>
      <vt:lpstr>Datasets/Modules</vt:lpstr>
      <vt:lpstr>Use Case Diagram</vt:lpstr>
      <vt:lpstr>Activity Diagram</vt:lpstr>
      <vt:lpstr>Sequence Diagram</vt:lpstr>
      <vt:lpstr>System Architecture</vt:lpstr>
      <vt:lpstr>Outputs</vt:lpstr>
      <vt:lpstr>Outputs</vt:lpstr>
      <vt:lpstr>Outputs</vt:lpstr>
      <vt:lpstr>Conclusion</vt:lpstr>
      <vt:lpstr>References</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 L</dc:creator>
  <cp:lastModifiedBy>Neha Anjum</cp:lastModifiedBy>
  <cp:revision>60</cp:revision>
  <dcterms:created xsi:type="dcterms:W3CDTF">2025-03-06T07:29:00Z</dcterms:created>
  <dcterms:modified xsi:type="dcterms:W3CDTF">2026-04-06T20:25:34Z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8A58E4632DEF4CE798132557BA146826_13</vt:lpwstr>
  </property>
  <property fmtid="{D5CDD505-2E9C-101B-9397-08002B2CF9AE}" pid="3" name="KSOProductBuildVer">
    <vt:lpwstr>1033-12.2.0.23196</vt:lpwstr>
  </property>
</Properties>
</file>