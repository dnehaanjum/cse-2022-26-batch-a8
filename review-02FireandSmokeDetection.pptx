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332" r:id="rId2"/>
    <p:sldId id="273" r:id="rId3"/>
    <p:sldId id="259" r:id="rId4"/>
    <p:sldId id="260" r:id="rId5"/>
    <p:sldId id="262" r:id="rId6"/>
    <p:sldId id="263" r:id="rId7"/>
    <p:sldId id="334" r:id="rId8"/>
    <p:sldId id="335" r:id="rId9"/>
    <p:sldId id="336" r:id="rId10"/>
    <p:sldId id="266" r:id="rId11"/>
    <p:sldId id="274" r:id="rId12"/>
    <p:sldId id="275" r:id="rId13"/>
    <p:sldId id="267" r:id="rId14"/>
    <p:sldId id="276" r:id="rId15"/>
    <p:sldId id="277" r:id="rId16"/>
    <p:sldId id="341" r:id="rId17"/>
    <p:sldId id="264" r:id="rId18"/>
    <p:sldId id="342" r:id="rId19"/>
    <p:sldId id="272" r:id="rId20"/>
    <p:sldId id="333" r:id="rId21"/>
    <p:sldId id="28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1344"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pPr/>
              <a:t>07-04-2026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pPr/>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pPr/>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pPr algn="ct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Real-Time Fire and Smoke Detection System Using YOLOv9 with Intelligent Alerting</a:t>
            </a:r>
            <a:endParaRPr lang="en-IN" sz="1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A8</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IN" cap="small" spc="-75" dirty="0"/>
              <a:t>Dept.</a:t>
            </a:r>
            <a:r>
              <a:rPr lang="en-IN" cap="small" spc="-10" dirty="0"/>
              <a:t> </a:t>
            </a:r>
            <a:r>
              <a:rPr lang="en-IN" cap="small" spc="-100" dirty="0"/>
              <a:t>of</a:t>
            </a:r>
            <a:r>
              <a:rPr lang="en-IN"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extLst>
      <p:ext uri="{BB962C8B-B14F-4D97-AF65-F5344CB8AC3E}">
        <p14:creationId xmlns:p14="http://schemas.microsoft.com/office/powerpoint/2010/main" val="359194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DNehaAnjum/CSE-2022-26-Batch-A8" TargetMode="Externa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4" name="Subtitle 11"/>
          <p:cNvSpPr txBox="1"/>
          <p:nvPr/>
        </p:nvSpPr>
        <p:spPr>
          <a:xfrm>
            <a:off x="4872455" y="1829524"/>
            <a:ext cx="2382924" cy="584534"/>
          </a:xfrm>
          <a:prstGeom prst="rect">
            <a:avLst/>
          </a:prstGeom>
        </p:spPr>
        <p:txBody>
          <a:bodyPr vert="horz" lIns="91440" tIns="45720" rIns="91440" bIns="45720" rtlCol="0">
            <a:normAutofit fontScale="3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8000" b="0" dirty="0">
                <a:effectLst>
                  <a:outerShdw blurRad="38100" dist="38100" dir="2700000" algn="tl">
                    <a:srgbClr val="000000">
                      <a:alpha val="43137"/>
                    </a:srgbClr>
                  </a:outerShdw>
                </a:effectLst>
              </a:rPr>
              <a:t> </a:t>
            </a:r>
            <a:r>
              <a:rPr lang="en-US" sz="6200" b="0" dirty="0"/>
              <a:t>V. Meghana</a:t>
            </a:r>
          </a:p>
          <a:p>
            <a:pPr>
              <a:spcBef>
                <a:spcPts val="300"/>
              </a:spcBef>
            </a:pPr>
            <a:r>
              <a:rPr lang="en-US" sz="3700" b="0" dirty="0"/>
              <a:t>Roll No. 234G5A0507</a:t>
            </a:r>
          </a:p>
        </p:txBody>
      </p:sp>
      <p:sp>
        <p:nvSpPr>
          <p:cNvPr id="2"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lnSpc>
                <a:spcPts val="2790"/>
              </a:lnSpc>
              <a:spcBef>
                <a:spcPts val="115"/>
              </a:spcBef>
            </a:pPr>
            <a:r>
              <a:rPr lang="en-IN" sz="2400" b="0" dirty="0"/>
              <a:t>Dr. D. Rajesh Babu</a:t>
            </a:r>
            <a:r>
              <a:rPr lang="en-US" altLang="en-US" sz="2400" b="0" dirty="0">
                <a:solidFill>
                  <a:srgbClr val="000000"/>
                </a:solidFill>
              </a:rPr>
              <a:t> </a:t>
            </a:r>
            <a:r>
              <a:rPr lang="en-US" altLang="en-US" sz="2000" b="0" baseline="-25000" dirty="0">
                <a:solidFill>
                  <a:srgbClr val="000000"/>
                </a:solidFill>
              </a:rPr>
              <a:t>MTech,</a:t>
            </a:r>
            <a:r>
              <a:rPr lang="en-US" altLang="en-US" sz="2000" b="0" dirty="0">
                <a:solidFill>
                  <a:srgbClr val="000000"/>
                </a:solidFill>
              </a:rPr>
              <a:t> </a:t>
            </a:r>
            <a:r>
              <a:rPr lang="en-US" altLang="en-US" sz="2000" b="0" baseline="-25000" dirty="0">
                <a:solidFill>
                  <a:srgbClr val="000000"/>
                </a:solidFill>
              </a:rPr>
              <a:t>PhD</a:t>
            </a:r>
          </a:p>
          <a:p>
            <a:pPr>
              <a:lnSpc>
                <a:spcPts val="2790"/>
              </a:lnSpc>
              <a:spcBef>
                <a:spcPts val="115"/>
              </a:spcBef>
            </a:pPr>
            <a:r>
              <a:rPr lang="en-IN" altLang="en-US" sz="2000" b="0" baseline="-25000" dirty="0">
                <a:solidFill>
                  <a:srgbClr val="000000"/>
                </a:solidFill>
                <a:latin typeface="Arial" panose="020B0604020202020204" pitchFamily="34" charset="0"/>
              </a:rPr>
              <a:t>Associate Professor</a:t>
            </a:r>
            <a:endParaRPr lang="en-US" altLang="en-US" sz="2000" b="0" baseline="-25000" dirty="0">
              <a:solidFill>
                <a:srgbClr val="000000"/>
              </a:solidFill>
              <a:latin typeface="Arial" panose="020B0604020202020204" pitchFamily="34" charset="0"/>
            </a:endParaRPr>
          </a:p>
        </p:txBody>
      </p:sp>
      <p:sp>
        <p:nvSpPr>
          <p:cNvPr id="3" name="Subtitle 11"/>
          <p:cNvSpPr txBox="1"/>
          <p:nvPr/>
        </p:nvSpPr>
        <p:spPr>
          <a:xfrm>
            <a:off x="1514475" y="5162533"/>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1312582" y="1853587"/>
            <a:ext cx="2382924" cy="584534"/>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200" b="0" dirty="0"/>
              <a:t>D. Neha Anjum</a:t>
            </a:r>
          </a:p>
          <a:p>
            <a:pPr>
              <a:spcBef>
                <a:spcPts val="300"/>
              </a:spcBef>
            </a:pPr>
            <a:r>
              <a:rPr lang="en-US" sz="1200" b="0" dirty="0"/>
              <a:t>Roll No. 224G1A0559</a:t>
            </a:r>
          </a:p>
        </p:txBody>
      </p:sp>
      <p:sp>
        <p:nvSpPr>
          <p:cNvPr id="9" name="Subtitle 11"/>
          <p:cNvSpPr txBox="1"/>
          <p:nvPr/>
        </p:nvSpPr>
        <p:spPr>
          <a:xfrm>
            <a:off x="8432328" y="1853587"/>
            <a:ext cx="2382924"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altLang="zh-CN" sz="6600" b="0" dirty="0">
                <a:solidFill>
                  <a:srgbClr val="000000"/>
                </a:solidFill>
              </a:rPr>
              <a:t>S. Mohammad Anees</a:t>
            </a:r>
          </a:p>
          <a:p>
            <a:pPr>
              <a:spcBef>
                <a:spcPts val="300"/>
              </a:spcBef>
            </a:pPr>
            <a:r>
              <a:rPr lang="en-US" sz="4800" b="0" dirty="0"/>
              <a:t>Roll No. 224G1A0553</a:t>
            </a:r>
          </a:p>
        </p:txBody>
      </p:sp>
      <p:sp>
        <p:nvSpPr>
          <p:cNvPr id="11" name="Rectangle: Rounded Corners 16"/>
          <p:cNvSpPr/>
          <p:nvPr/>
        </p:nvSpPr>
        <p:spPr>
          <a:xfrm>
            <a:off x="104275" y="335271"/>
            <a:ext cx="11919284"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Real-Time Fire and Smoke Detection System Using YOLOv9 with Intelligent Alerting</a:t>
            </a:r>
            <a:endParaRPr lang="en-IN" sz="2400" dirty="0">
              <a:latin typeface="Times New Roman" panose="02020603050405020304" pitchFamily="18" charset="0"/>
              <a:cs typeface="Times New Roman" panose="02020603050405020304" pitchFamily="18" charset="0"/>
            </a:endParaRPr>
          </a:p>
        </p:txBody>
      </p:sp>
      <p:sp>
        <p:nvSpPr>
          <p:cNvPr id="15" name="Rectangle 17"/>
          <p:cNvSpPr/>
          <p:nvPr/>
        </p:nvSpPr>
        <p:spPr>
          <a:xfrm>
            <a:off x="2714840" y="1325864"/>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p:txBody>
          <a:bodyPr>
            <a:normAutofit lnSpcReduction="10000"/>
          </a:bodyPr>
          <a:lstStyle/>
          <a:p>
            <a:pPr marL="462280" indent="-462280">
              <a:buBlip>
                <a:blip>
                  <a:extLst>
                    <a:ext uri="{96DAC541-7B7A-43D3-8B79-37D633B846F1}">
                      <asvg:svgBlip xmlns:asvg="http://schemas.microsoft.com/office/drawing/2016/SVG/main" r:embed="rId2"/>
                    </a:ext>
                  </a:extLst>
                </a:blip>
              </a:buBlip>
            </a:pPr>
            <a:r>
              <a:rPr lang="en-US" dirty="0"/>
              <a:t>Abstract</a:t>
            </a:r>
          </a:p>
          <a:p>
            <a:pPr marL="462280" indent="-462280">
              <a:buBlip>
                <a:blip>
                  <a:extLst>
                    <a:ext uri="{96DAC541-7B7A-43D3-8B79-37D633B846F1}">
                      <asvg:svgBlip xmlns:asvg="http://schemas.microsoft.com/office/drawing/2016/SVG/main" r:embed="rId2"/>
                    </a:ext>
                  </a:extLst>
                </a:blip>
              </a:buBlip>
            </a:pPr>
            <a:r>
              <a:rPr lang="en-US" dirty="0"/>
              <a:t>Introduction</a:t>
            </a:r>
          </a:p>
          <a:p>
            <a:pPr marL="462280" indent="-462280">
              <a:buBlip>
                <a:blip>
                  <a:extLst>
                    <a:ext uri="{96DAC541-7B7A-43D3-8B79-37D633B846F1}">
                      <asvg:svgBlip xmlns:asvg="http://schemas.microsoft.com/office/drawing/2016/SVG/main" r:embed="rId2"/>
                    </a:ext>
                  </a:extLst>
                </a:blip>
              </a:buBlip>
            </a:pPr>
            <a:r>
              <a:rPr lang="en-US" altLang="en-IN" dirty="0"/>
              <a:t>Literature Survey</a:t>
            </a:r>
          </a:p>
          <a:p>
            <a:pPr marL="462280" indent="-462280">
              <a:buBlip>
                <a:blip>
                  <a:extLst>
                    <a:ext uri="{96DAC541-7B7A-43D3-8B79-37D633B846F1}">
                      <asvg:svgBlip xmlns:asvg="http://schemas.microsoft.com/office/drawing/2016/SVG/main" r:embed="rId2"/>
                    </a:ext>
                  </a:extLst>
                </a:blip>
              </a:buBlip>
            </a:pPr>
            <a:r>
              <a:rPr lang="en-US" dirty="0"/>
              <a:t>Existing System</a:t>
            </a:r>
          </a:p>
          <a:p>
            <a:pPr marL="462280" indent="-462280">
              <a:buBlip>
                <a:blip>
                  <a:extLst>
                    <a:ext uri="{96DAC541-7B7A-43D3-8B79-37D633B846F1}">
                      <asvg:svgBlip xmlns:asvg="http://schemas.microsoft.com/office/drawing/2016/SVG/main" r:embed="rId2"/>
                    </a:ext>
                  </a:extLst>
                </a:blip>
              </a:buBlip>
            </a:pPr>
            <a:r>
              <a:rPr lang="en-US" dirty="0"/>
              <a:t>Proposed System</a:t>
            </a:r>
          </a:p>
          <a:p>
            <a:pPr marL="462280" indent="-462280">
              <a:buBlip>
                <a:blip>
                  <a:extLst>
                    <a:ext uri="{96DAC541-7B7A-43D3-8B79-37D633B846F1}">
                      <asvg:svgBlip xmlns:asvg="http://schemas.microsoft.com/office/drawing/2016/SVG/main" r:embed="rId2"/>
                    </a:ext>
                  </a:extLst>
                </a:blip>
              </a:buBlip>
            </a:pPr>
            <a:r>
              <a:rPr lang="en-US" dirty="0"/>
              <a:t>Planning</a:t>
            </a:r>
          </a:p>
          <a:p>
            <a:pPr marL="462280" indent="-462280">
              <a:buBlip>
                <a:blip>
                  <a:extLst>
                    <a:ext uri="{96DAC541-7B7A-43D3-8B79-37D633B846F1}">
                      <asvg:svgBlip xmlns:asvg="http://schemas.microsoft.com/office/drawing/2016/SVG/main" r:embed="rId2"/>
                    </a:ext>
                  </a:extLst>
                </a:blip>
              </a:buBlip>
            </a:pPr>
            <a:r>
              <a:rPr lang="en-US" dirty="0"/>
              <a:t>Design</a:t>
            </a:r>
          </a:p>
          <a:p>
            <a:pPr marL="462280" indent="-462280">
              <a:buBlip>
                <a:blip>
                  <a:extLst>
                    <a:ext uri="{96DAC541-7B7A-43D3-8B79-37D633B846F1}">
                      <asvg:svgBlip xmlns:asvg="http://schemas.microsoft.com/office/drawing/2016/SVG/main" r:embed="rId2"/>
                    </a:ext>
                  </a:extLst>
                </a:blip>
              </a:buBlip>
            </a:pPr>
            <a:r>
              <a:rPr lang="en-US" dirty="0"/>
              <a:t>Implementation</a:t>
            </a:r>
          </a:p>
          <a:p>
            <a:pPr marL="462280" indent="-462280">
              <a:buBlip>
                <a:blip>
                  <a:extLst>
                    <a:ext uri="{96DAC541-7B7A-43D3-8B79-37D633B846F1}">
                      <asvg:svgBlip xmlns:asvg="http://schemas.microsoft.com/office/drawing/2016/SVG/main" r:embed="rId2"/>
                    </a:ext>
                  </a:extLst>
                </a:blip>
              </a:buBlip>
            </a:pPr>
            <a:r>
              <a:rPr lang="en-US" dirty="0"/>
              <a:t>Research Paper</a:t>
            </a:r>
            <a:endParaRPr lang="en-IN" dirty="0"/>
          </a:p>
          <a:p>
            <a:pPr marL="462280" indent="-462280">
              <a:buBlip>
                <a:blip>
                  <a:extLst>
                    <a:ext uri="{96DAC541-7B7A-43D3-8B79-37D633B846F1}">
                      <asvg:svgBlip xmlns:asvg="http://schemas.microsoft.com/office/drawing/2016/SVG/main" r:embed="rId2"/>
                    </a:ext>
                  </a:extLst>
                </a:blip>
              </a:buBlip>
            </a:pPr>
            <a:r>
              <a:rPr lang="en-IN" dirty="0"/>
              <a:t>References</a:t>
            </a:r>
          </a:p>
          <a:p>
            <a:pPr marL="462280" indent="-462280">
              <a:buBlip>
                <a:blip>
                  <a:extLst>
                    <a:ext uri="{96DAC541-7B7A-43D3-8B79-37D633B846F1}">
                      <asvg:svgBlip xmlns:asvg="http://schemas.microsoft.com/office/drawing/2016/SVG/main" r:embed="rId2"/>
                    </a:ext>
                  </a:extLst>
                </a:blip>
              </a:buBlip>
            </a:pPr>
            <a:r>
              <a:rPr lang="en-IN" dirty="0"/>
              <a:t>GitHub Link</a:t>
            </a:r>
            <a:endParaRPr lang="en-US" dirty="0"/>
          </a:p>
          <a:p>
            <a:pPr marL="0" indent="0">
              <a:buNone/>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a:sym typeface="+mn-ea"/>
              </a:rPr>
              <a:t>Abstract</a:t>
            </a:r>
            <a:endParaRPr lang="en-US"/>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Autofit/>
          </a:bodyPr>
          <a:lstStyle/>
          <a:p>
            <a:pPr lvl="0" indent="-457200">
              <a:lnSpc>
                <a:spcPct val="100000"/>
              </a:lnSpc>
              <a:buFont typeface="Wingdings" panose="05000000000000000000" pitchFamily="2" charset="2"/>
              <a:buChar char="Ø"/>
            </a:pPr>
            <a:r>
              <a:rPr lang="en-US" sz="2200" dirty="0"/>
              <a:t>This work presents an improved fire detection system based on the YOLOv9 deep learning model for real-time detection of fire and smoke from live surveillance video streams. </a:t>
            </a:r>
          </a:p>
          <a:p>
            <a:pPr lvl="0" indent="-457200">
              <a:lnSpc>
                <a:spcPct val="100000"/>
              </a:lnSpc>
              <a:buFont typeface="Wingdings" panose="05000000000000000000" pitchFamily="2" charset="2"/>
              <a:buChar char="Ø"/>
            </a:pPr>
            <a:r>
              <a:rPr lang="en-US" sz="2200" dirty="0"/>
              <a:t>The system continuously monitors video feeds and generates confidence scores for detected fire or smoke regions to ensure accurate and reliable detection. </a:t>
            </a:r>
          </a:p>
          <a:p>
            <a:pPr lvl="0" indent="-457200">
              <a:lnSpc>
                <a:spcPct val="100000"/>
              </a:lnSpc>
              <a:buFont typeface="Wingdings" panose="05000000000000000000" pitchFamily="2" charset="2"/>
              <a:buChar char="Ø"/>
            </a:pPr>
            <a:r>
              <a:rPr lang="en-US" sz="2200" dirty="0"/>
              <a:t>To reduce false alarms caused by environmental disturbances such as dust or lighting variations, temporal validation is performed across consecutive frames before confirming a fire incident. </a:t>
            </a:r>
          </a:p>
          <a:p>
            <a:pPr lvl="0" indent="-457200">
              <a:lnSpc>
                <a:spcPct val="100000"/>
              </a:lnSpc>
              <a:buFont typeface="Wingdings" panose="05000000000000000000" pitchFamily="2" charset="2"/>
              <a:buChar char="Ø"/>
            </a:pPr>
            <a:r>
              <a:rPr lang="en-US" sz="2200" dirty="0"/>
              <a:t>After validation, the system classifies fire severity into low, medium, and high levels, enabling prioritized emergency response and effective fire management. </a:t>
            </a:r>
          </a:p>
          <a:p>
            <a:pPr lvl="0" indent="-457200">
              <a:lnSpc>
                <a:spcPct val="100000"/>
              </a:lnSpc>
              <a:buFont typeface="Wingdings" panose="05000000000000000000" pitchFamily="2" charset="2"/>
              <a:buChar char="Ø"/>
            </a:pPr>
            <a:r>
              <a:rPr lang="en-US" sz="2200" dirty="0"/>
              <a:t>Once a fire is confirmed, an automatic emergency alert is triggered and all detection details are logged for future analysis, safety audits, and system performance improvement.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Introduction</a:t>
            </a:r>
            <a:endParaRPr lang="en-US"/>
          </a:p>
        </p:txBody>
      </p:sp>
      <p:sp>
        <p:nvSpPr>
          <p:cNvPr id="3" name="Text Placeholder 2"/>
          <p:cNvSpPr>
            <a:spLocks noGrp="1"/>
          </p:cNvSpPr>
          <p:nvPr>
            <p:ph type="body" idx="1"/>
          </p:nvPr>
        </p:nvSpPr>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Fire accidents pose a serious threat to human life and infrastructure, and existing fire detection systems often suffer from delayed response and high false alarm rates. </a:t>
            </a:r>
          </a:p>
          <a:p>
            <a:pPr>
              <a:lnSpc>
                <a:spcPct val="150000"/>
              </a:lnSpc>
            </a:pPr>
            <a:r>
              <a:rPr lang="en-US" sz="2200" dirty="0">
                <a:latin typeface="Times New Roman" panose="02020603050405020304" pitchFamily="18" charset="0"/>
                <a:cs typeface="Times New Roman" panose="02020603050405020304" pitchFamily="18" charset="0"/>
              </a:rPr>
              <a:t>With the increasing availability of surveillance cameras, computer vision–based fire detection has emerged as an effective solution for continuous and large-area monitoring. </a:t>
            </a:r>
          </a:p>
          <a:p>
            <a:pPr>
              <a:lnSpc>
                <a:spcPct val="150000"/>
              </a:lnSpc>
            </a:pPr>
            <a:r>
              <a:rPr lang="en-US" sz="2200" dirty="0">
                <a:latin typeface="Times New Roman" panose="02020603050405020304" pitchFamily="18" charset="0"/>
                <a:cs typeface="Times New Roman" panose="02020603050405020304" pitchFamily="18" charset="0"/>
              </a:rPr>
              <a:t>Recent advances in deep learning, particularly the YOLOv9 model, enable fast and accurate real-time detection of fire and smoke from video streams. </a:t>
            </a:r>
          </a:p>
          <a:p>
            <a:pPr>
              <a:lnSpc>
                <a:spcPct val="150000"/>
              </a:lnSpc>
            </a:pPr>
            <a:r>
              <a:rPr lang="en-US" sz="2200" dirty="0">
                <a:latin typeface="Times New Roman" panose="02020603050405020304" pitchFamily="18" charset="0"/>
                <a:cs typeface="Times New Roman" panose="02020603050405020304" pitchFamily="18" charset="0"/>
              </a:rPr>
              <a:t>This work focuses on developing an improved YOLOv9-based fire detection system that reduces false alarms, identifies fire severity, and triggers automated emergency alerts to enhance overall safety.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35661"/>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p:nvPr/>
        </p:nvSpPr>
        <p:spPr>
          <a:xfrm>
            <a:off x="73025" y="209958"/>
            <a:ext cx="4495165" cy="1331134"/>
          </a:xfrm>
          <a:prstGeom prst="rect">
            <a:avLst/>
          </a:prstGeom>
        </p:spPr>
        <p:txBody>
          <a:bodyPr vert="horz" wrap="square" lIns="0" tIns="12700" rIns="0" bIns="0" rtlCol="0">
            <a:spAutoFit/>
          </a:bodyPr>
          <a:lstStyle/>
          <a:p>
            <a:pPr marL="12700">
              <a:lnSpc>
                <a:spcPct val="100000"/>
              </a:lnSpc>
              <a:spcBef>
                <a:spcPts val="100"/>
              </a:spcBef>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a:lnSpc>
                <a:spcPct val="100000"/>
              </a:lnSpc>
              <a:spcBef>
                <a:spcPts val="225"/>
              </a:spcBef>
            </a:pPr>
            <a:endParaRPr sz="2800" dirty="0">
              <a:latin typeface="Times New Roman"/>
              <a:cs typeface="Times New Roman"/>
            </a:endParaRPr>
          </a:p>
          <a:p>
            <a:pPr marL="176530">
              <a:lnSpc>
                <a:spcPct val="100000"/>
              </a:lnSpc>
            </a:pPr>
            <a:endParaRPr sz="2800" dirty="0">
              <a:latin typeface="Lucida Sans Unicode"/>
              <a:cs typeface="Lucida Sans Unicode"/>
            </a:endParaRPr>
          </a:p>
        </p:txBody>
      </p:sp>
      <p:sp>
        <p:nvSpPr>
          <p:cNvPr id="11" name="Title 10">
            <a:extLst>
              <a:ext uri="{FF2B5EF4-FFF2-40B4-BE49-F238E27FC236}">
                <a16:creationId xmlns:a16="http://schemas.microsoft.com/office/drawing/2014/main" id="{9ED14345-9A82-B993-D4C9-826A7418B970}"/>
              </a:ext>
            </a:extLst>
          </p:cNvPr>
          <p:cNvSpPr>
            <a:spLocks noGrp="1"/>
          </p:cNvSpPr>
          <p:nvPr>
            <p:ph type="title"/>
          </p:nvPr>
        </p:nvSpPr>
        <p:spPr/>
        <p:txBody>
          <a:bodyPr/>
          <a:lstStyle/>
          <a:p>
            <a:r>
              <a:rPr lang="en-US" altLang="en-IN" dirty="0"/>
              <a:t>Literature Survey</a:t>
            </a:r>
          </a:p>
        </p:txBody>
      </p:sp>
      <p:graphicFrame>
        <p:nvGraphicFramePr>
          <p:cNvPr id="12" name="Table 11">
            <a:extLst>
              <a:ext uri="{FF2B5EF4-FFF2-40B4-BE49-F238E27FC236}">
                <a16:creationId xmlns:a16="http://schemas.microsoft.com/office/drawing/2014/main" id="{735C5DA3-D780-802C-DDF8-46E12FD98C86}"/>
              </a:ext>
            </a:extLst>
          </p:cNvPr>
          <p:cNvGraphicFramePr>
            <a:graphicFrameLocks noGrp="1"/>
          </p:cNvGraphicFramePr>
          <p:nvPr>
            <p:extLst>
              <p:ext uri="{D42A27DB-BD31-4B8C-83A1-F6EECF244321}">
                <p14:modId xmlns:p14="http://schemas.microsoft.com/office/powerpoint/2010/main" val="1864507900"/>
              </p:ext>
            </p:extLst>
          </p:nvPr>
        </p:nvGraphicFramePr>
        <p:xfrm>
          <a:off x="508965" y="1146444"/>
          <a:ext cx="10817515" cy="5191303"/>
        </p:xfrm>
        <a:graphic>
          <a:graphicData uri="http://schemas.openxmlformats.org/drawingml/2006/table">
            <a:tbl>
              <a:tblPr>
                <a:tableStyleId>{BC89EF96-8CEA-46FF-86C4-4CE0E7609802}</a:tableStyleId>
              </a:tblPr>
              <a:tblGrid>
                <a:gridCol w="2163503">
                  <a:extLst>
                    <a:ext uri="{9D8B030D-6E8A-4147-A177-3AD203B41FA5}">
                      <a16:colId xmlns:a16="http://schemas.microsoft.com/office/drawing/2014/main" val="3866122471"/>
                    </a:ext>
                  </a:extLst>
                </a:gridCol>
                <a:gridCol w="700460">
                  <a:extLst>
                    <a:ext uri="{9D8B030D-6E8A-4147-A177-3AD203B41FA5}">
                      <a16:colId xmlns:a16="http://schemas.microsoft.com/office/drawing/2014/main" val="196994694"/>
                    </a:ext>
                  </a:extLst>
                </a:gridCol>
                <a:gridCol w="2355012">
                  <a:extLst>
                    <a:ext uri="{9D8B030D-6E8A-4147-A177-3AD203B41FA5}">
                      <a16:colId xmlns:a16="http://schemas.microsoft.com/office/drawing/2014/main" val="2421336736"/>
                    </a:ext>
                  </a:extLst>
                </a:gridCol>
                <a:gridCol w="2932981">
                  <a:extLst>
                    <a:ext uri="{9D8B030D-6E8A-4147-A177-3AD203B41FA5}">
                      <a16:colId xmlns:a16="http://schemas.microsoft.com/office/drawing/2014/main" val="3747502592"/>
                    </a:ext>
                  </a:extLst>
                </a:gridCol>
                <a:gridCol w="2665559">
                  <a:extLst>
                    <a:ext uri="{9D8B030D-6E8A-4147-A177-3AD203B41FA5}">
                      <a16:colId xmlns:a16="http://schemas.microsoft.com/office/drawing/2014/main" val="1431818865"/>
                    </a:ext>
                  </a:extLst>
                </a:gridCol>
              </a:tblGrid>
              <a:tr h="124286">
                <a:tc>
                  <a:txBody>
                    <a:bodyPr/>
                    <a:lstStyle/>
                    <a:p>
                      <a:pPr>
                        <a:buNone/>
                      </a:pPr>
                      <a:r>
                        <a:rPr lang="en-US" sz="1200" dirty="0">
                          <a:latin typeface="Times New Roman" panose="02020603050405020304" pitchFamily="18" charset="0"/>
                          <a:cs typeface="Times New Roman" panose="02020603050405020304" pitchFamily="18" charset="0"/>
                        </a:rPr>
                        <a:t>Author(s)</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Year</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Methodology Used</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Implementation</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Limitations</a:t>
                      </a:r>
                    </a:p>
                  </a:txBody>
                  <a:tcPr marL="27367" marR="27367" marT="13683" marB="13683" anchor="ctr"/>
                </a:tc>
                <a:extLst>
                  <a:ext uri="{0D108BD9-81ED-4DB2-BD59-A6C34878D82A}">
                    <a16:rowId xmlns:a16="http://schemas.microsoft.com/office/drawing/2014/main" val="655514110"/>
                  </a:ext>
                </a:extLst>
              </a:tr>
              <a:tr h="1056430">
                <a:tc>
                  <a:txBody>
                    <a:bodyPr/>
                    <a:lstStyle/>
                    <a:p>
                      <a:pPr>
                        <a:buNone/>
                      </a:pPr>
                      <a:r>
                        <a:rPr lang="en-US" sz="1200">
                          <a:latin typeface="Times New Roman" panose="02020603050405020304" pitchFamily="18" charset="0"/>
                          <a:cs typeface="Times New Roman" panose="02020603050405020304" pitchFamily="18" charset="0"/>
                        </a:rPr>
                        <a:t>Remmelzwaal, L.</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2025</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Artificial intelligence-based image analysis for early fire detection using high-definition cameras.</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Implemented a real-time fire detection framework that processes HD camera video streams using AI algorithms to identify fire patterns and smoke features in surveillance footage.</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Performance may decrease in low visibility conditions and requires high computational resources for processing high-resolution video streams.</a:t>
                      </a:r>
                    </a:p>
                  </a:txBody>
                  <a:tcPr marL="27367" marR="27367" marT="13683" marB="13683" anchor="ctr"/>
                </a:tc>
                <a:extLst>
                  <a:ext uri="{0D108BD9-81ED-4DB2-BD59-A6C34878D82A}">
                    <a16:rowId xmlns:a16="http://schemas.microsoft.com/office/drawing/2014/main" val="2506725145"/>
                  </a:ext>
                </a:extLst>
              </a:tr>
              <a:tr h="1149644">
                <a:tc>
                  <a:txBody>
                    <a:bodyPr/>
                    <a:lstStyle/>
                    <a:p>
                      <a:pPr>
                        <a:buNone/>
                      </a:pPr>
                      <a:r>
                        <a:rPr lang="en-US" sz="1200">
                          <a:latin typeface="Times New Roman" panose="02020603050405020304" pitchFamily="18" charset="0"/>
                          <a:cs typeface="Times New Roman" panose="02020603050405020304" pitchFamily="18" charset="0"/>
                        </a:rPr>
                        <a:t>Morchid, A., Alblushi, I. G. M., Khalid, H. M., El Alami, R., Said, Z., Qjidaa, H., &amp; Jamil, M. O.</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2025</a:t>
                      </a:r>
                    </a:p>
                  </a:txBody>
                  <a:tcPr marL="27367" marR="27367" marT="13683" marB="13683" anchor="ctr"/>
                </a:tc>
                <a:tc>
                  <a:txBody>
                    <a:bodyPr/>
                    <a:lstStyle/>
                    <a:p>
                      <a:pPr>
                        <a:buNone/>
                      </a:pPr>
                      <a:r>
                        <a:rPr lang="en-US" sz="1200" dirty="0">
                          <a:latin typeface="Times New Roman" panose="02020603050405020304" pitchFamily="18" charset="0"/>
                          <a:cs typeface="Times New Roman" panose="02020603050405020304" pitchFamily="18" charset="0"/>
                        </a:rPr>
                        <a:t>IoT-based smart agriculture fire detection using embedded systems and machine-to-machine communication protocols.</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Developed an integrated system combining sensors, embedded devices, and IoT communication to detect fire incidents in agricultural environments and transmit alerts through networked devices.</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Sensor-based systems may suffer from delayed detection and limited coverage compared to vision-based detection approaches.</a:t>
                      </a:r>
                    </a:p>
                  </a:txBody>
                  <a:tcPr marL="27367" marR="27367" marT="13683" marB="13683" anchor="ctr"/>
                </a:tc>
                <a:extLst>
                  <a:ext uri="{0D108BD9-81ED-4DB2-BD59-A6C34878D82A}">
                    <a16:rowId xmlns:a16="http://schemas.microsoft.com/office/drawing/2014/main" val="1491209433"/>
                  </a:ext>
                </a:extLst>
              </a:tr>
              <a:tr h="1056430">
                <a:tc>
                  <a:txBody>
                    <a:bodyPr/>
                    <a:lstStyle/>
                    <a:p>
                      <a:pPr>
                        <a:buNone/>
                      </a:pPr>
                      <a:r>
                        <a:rPr lang="en-US" sz="1200">
                          <a:latin typeface="Times New Roman" panose="02020603050405020304" pitchFamily="18" charset="0"/>
                          <a:cs typeface="Times New Roman" panose="02020603050405020304" pitchFamily="18" charset="0"/>
                        </a:rPr>
                        <a:t>Salaria, A., &amp; Singh, A.</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2025</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Analysis and selection of wireless communication technologies for forest fire detection networks.</a:t>
                      </a:r>
                    </a:p>
                  </a:txBody>
                  <a:tcPr marL="27367" marR="27367" marT="13683" marB="13683" anchor="ctr"/>
                </a:tc>
                <a:tc>
                  <a:txBody>
                    <a:bodyPr/>
                    <a:lstStyle/>
                    <a:p>
                      <a:pPr>
                        <a:buNone/>
                      </a:pPr>
                      <a:r>
                        <a:rPr lang="en-US" sz="1200" dirty="0">
                          <a:latin typeface="Times New Roman" panose="02020603050405020304" pitchFamily="18" charset="0"/>
                          <a:cs typeface="Times New Roman" panose="02020603050405020304" pitchFamily="18" charset="0"/>
                        </a:rPr>
                        <a:t>Proposed a framework evaluating multiple wireless communication technologies to improve reliability and communication efficiency in early forest fire detection systems.</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Focuses mainly on communication infrastructure rather than improving fire detection accuracy or real-time visual monitoring.</a:t>
                      </a:r>
                    </a:p>
                  </a:txBody>
                  <a:tcPr marL="27367" marR="27367" marT="13683" marB="13683" anchor="ctr"/>
                </a:tc>
                <a:extLst>
                  <a:ext uri="{0D108BD9-81ED-4DB2-BD59-A6C34878D82A}">
                    <a16:rowId xmlns:a16="http://schemas.microsoft.com/office/drawing/2014/main" val="3311639652"/>
                  </a:ext>
                </a:extLst>
              </a:tr>
              <a:tr h="776787">
                <a:tc>
                  <a:txBody>
                    <a:bodyPr/>
                    <a:lstStyle/>
                    <a:p>
                      <a:pPr>
                        <a:buNone/>
                      </a:pPr>
                      <a:r>
                        <a:rPr lang="en-US" sz="1200">
                          <a:latin typeface="Times New Roman" panose="02020603050405020304" pitchFamily="18" charset="0"/>
                          <a:cs typeface="Times New Roman" panose="02020603050405020304" pitchFamily="18" charset="0"/>
                        </a:rPr>
                        <a:t>Wilk-Jakubowski, J. L., Loboichenko, V., Divizinyuk, M., Wilk-Jakubowski, G., Shevchenko, R., Ivanov, S., &amp; Strelets, V.</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2025</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Review of acoustic wave-based fire detection combined with artificial vision systems.</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Investigated the use of acoustic signals along with vision-based detection methods to identify fire-related events and environmental changes.</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Acoustic-based detection can be sensitive to environmental noise and may produce false detections in noisy environments.</a:t>
                      </a:r>
                    </a:p>
                  </a:txBody>
                  <a:tcPr marL="27367" marR="27367" marT="13683" marB="13683" anchor="ctr"/>
                </a:tc>
                <a:extLst>
                  <a:ext uri="{0D108BD9-81ED-4DB2-BD59-A6C34878D82A}">
                    <a16:rowId xmlns:a16="http://schemas.microsoft.com/office/drawing/2014/main" val="3660928431"/>
                  </a:ext>
                </a:extLst>
              </a:tr>
              <a:tr h="776787">
                <a:tc>
                  <a:txBody>
                    <a:bodyPr/>
                    <a:lstStyle/>
                    <a:p>
                      <a:pPr>
                        <a:buNone/>
                      </a:pPr>
                      <a:r>
                        <a:rPr lang="en-US" sz="1200">
                          <a:latin typeface="Times New Roman" panose="02020603050405020304" pitchFamily="18" charset="0"/>
                          <a:cs typeface="Times New Roman" panose="02020603050405020304" pitchFamily="18" charset="0"/>
                        </a:rPr>
                        <a:t>Mia, M. M.</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2025</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Review of artificial intelligence-enabled fire detection and suppression technologies for building safety.</a:t>
                      </a:r>
                    </a:p>
                  </a:txBody>
                  <a:tcPr marL="27367" marR="27367" marT="13683" marB="13683" anchor="ctr"/>
                </a:tc>
                <a:tc>
                  <a:txBody>
                    <a:bodyPr/>
                    <a:lstStyle/>
                    <a:p>
                      <a:pPr>
                        <a:buNone/>
                      </a:pPr>
                      <a:r>
                        <a:rPr lang="en-US" sz="1200">
                          <a:latin typeface="Times New Roman" panose="02020603050405020304" pitchFamily="18" charset="0"/>
                          <a:cs typeface="Times New Roman" panose="02020603050405020304" pitchFamily="18" charset="0"/>
                        </a:rPr>
                        <a:t>Analyzed various AI-based fire detection systems and their integration with automated fire suppression mechanisms in modern buildings.</a:t>
                      </a:r>
                    </a:p>
                  </a:txBody>
                  <a:tcPr marL="27367" marR="27367" marT="13683" marB="13683" anchor="ctr"/>
                </a:tc>
                <a:tc>
                  <a:txBody>
                    <a:bodyPr/>
                    <a:lstStyle/>
                    <a:p>
                      <a:pPr>
                        <a:buNone/>
                      </a:pPr>
                      <a:r>
                        <a:rPr lang="en-US" sz="1200" dirty="0">
                          <a:latin typeface="Times New Roman" panose="02020603050405020304" pitchFamily="18" charset="0"/>
                          <a:cs typeface="Times New Roman" panose="02020603050405020304" pitchFamily="18" charset="0"/>
                        </a:rPr>
                        <a:t>Primarily a review study without implementing a specific real-time fire detection system or experimental validation.</a:t>
                      </a:r>
                    </a:p>
                  </a:txBody>
                  <a:tcPr marL="27367" marR="27367" marT="13683" marB="13683" anchor="ctr"/>
                </a:tc>
                <a:extLst>
                  <a:ext uri="{0D108BD9-81ED-4DB2-BD59-A6C34878D82A}">
                    <a16:rowId xmlns:a16="http://schemas.microsoft.com/office/drawing/2014/main" val="245853703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14" name="Title 13">
            <a:extLst>
              <a:ext uri="{FF2B5EF4-FFF2-40B4-BE49-F238E27FC236}">
                <a16:creationId xmlns:a16="http://schemas.microsoft.com/office/drawing/2014/main" id="{6EAD214B-5EA9-196E-EC5A-B832D53A9C9A}"/>
              </a:ext>
            </a:extLst>
          </p:cNvPr>
          <p:cNvSpPr>
            <a:spLocks noGrp="1"/>
          </p:cNvSpPr>
          <p:nvPr>
            <p:ph type="title"/>
          </p:nvPr>
        </p:nvSpPr>
        <p:spPr/>
        <p:txBody>
          <a:bodyPr/>
          <a:lstStyle/>
          <a:p>
            <a:r>
              <a:rPr lang="en-US" spc="-10" dirty="0"/>
              <a:t>Existing System</a:t>
            </a:r>
            <a:br>
              <a:rPr lang="en-IN" dirty="0"/>
            </a:br>
            <a:endParaRPr lang="en-IN" dirty="0"/>
          </a:p>
        </p:txBody>
      </p:sp>
      <p:sp>
        <p:nvSpPr>
          <p:cNvPr id="9" name="object 9"/>
          <p:cNvSpPr txBox="1">
            <a:spLocks noGrp="1"/>
          </p:cNvSpPr>
          <p:nvPr>
            <p:ph type="dt" sz="half" idx="4294967295"/>
          </p:nvPr>
        </p:nvSpPr>
        <p:spPr>
          <a:xfrm>
            <a:off x="0" y="6629400"/>
            <a:ext cx="3662363"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cap="small" spc="-75"/>
              <a:t>Dept.</a:t>
            </a:r>
            <a:r>
              <a:rPr lang="en-US" cap="small" spc="-10"/>
              <a:t> </a:t>
            </a:r>
            <a:r>
              <a:rPr lang="en-US" cap="small" spc="-100"/>
              <a:t>of</a:t>
            </a:r>
            <a:r>
              <a:rPr lang="en-US" cap="small" spc="50"/>
              <a:t> </a:t>
            </a:r>
            <a:r>
              <a:rPr lang="en-US" cap="small" spc="-114"/>
              <a:t>Computer</a:t>
            </a:r>
            <a:r>
              <a:rPr lang="en-US" cap="small" spc="60"/>
              <a:t> </a:t>
            </a:r>
            <a:r>
              <a:rPr lang="en-US" cap="small" spc="-95"/>
              <a:t>Science</a:t>
            </a:r>
            <a:r>
              <a:rPr lang="en-US" cap="small" spc="55"/>
              <a:t> </a:t>
            </a:r>
            <a:r>
              <a:rPr lang="en-US" cap="small" spc="-130"/>
              <a:t>and</a:t>
            </a:r>
            <a:r>
              <a:rPr lang="en-US" cap="small" spc="55"/>
              <a:t> </a:t>
            </a:r>
            <a:r>
              <a:rPr lang="en-US" cap="small" spc="-130"/>
              <a:t>Engineering</a:t>
            </a:r>
            <a:endParaRPr cap="small" spc="-130" dirty="0"/>
          </a:p>
        </p:txBody>
      </p:sp>
      <p:sp>
        <p:nvSpPr>
          <p:cNvPr id="12" name="TextBox 11">
            <a:extLst>
              <a:ext uri="{FF2B5EF4-FFF2-40B4-BE49-F238E27FC236}">
                <a16:creationId xmlns:a16="http://schemas.microsoft.com/office/drawing/2014/main" id="{9D0735FF-BBB5-6D8E-47E3-5A04AED2F3BB}"/>
              </a:ext>
            </a:extLst>
          </p:cNvPr>
          <p:cNvSpPr txBox="1"/>
          <p:nvPr/>
        </p:nvSpPr>
        <p:spPr>
          <a:xfrm>
            <a:off x="381740" y="1254939"/>
            <a:ext cx="11026229" cy="374140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Traditional fire detection systems mainly rely on sensor-based methods such as smoke detectors, heat sensors, and gas sensors, which often detect fire only after smoke or temperature levels reach a threshold, resulting in delayed detection. </a:t>
            </a:r>
          </a:p>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Many existing computer vision-based fire detection approaches use conventional image processing techniques or basic convolutional neural network models, which analyze single frames and are sensitive to environmental variations such as lighting changes, reflections, and background motion. </a:t>
            </a:r>
          </a:p>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Several existing detection models perform frame-by-frame fire detection without temporal validation, which can lead to high false alarm rates when visual disturbances such as dust, fog, or sunlight reflections appear similar to fire or smoke. </a:t>
            </a:r>
          </a:p>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Most current systems focus only on binary fire detection (fire or no fire) and do not provide additional functionalities such as fire severity classification, automatic alert generation, or detailed event logging, which limits their practical usability in real-world surveillance environments.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B45F-D7A5-0696-A051-EF5280504B1C}"/>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C71EA035-597B-7D69-D25D-B6DCC76CCADA}"/>
              </a:ext>
            </a:extLst>
          </p:cNvPr>
          <p:cNvGrpSpPr/>
          <p:nvPr/>
        </p:nvGrpSpPr>
        <p:grpSpPr>
          <a:xfrm>
            <a:off x="0" y="216720"/>
            <a:ext cx="12192000" cy="803275"/>
            <a:chOff x="0" y="216720"/>
            <a:chExt cx="12192000" cy="803275"/>
          </a:xfrm>
        </p:grpSpPr>
        <p:pic>
          <p:nvPicPr>
            <p:cNvPr id="5" name="object 5">
              <a:extLst>
                <a:ext uri="{FF2B5EF4-FFF2-40B4-BE49-F238E27FC236}">
                  <a16:creationId xmlns:a16="http://schemas.microsoft.com/office/drawing/2014/main" id="{CC7E615B-5CB7-4591-BC02-487DDFC1933B}"/>
                </a:ext>
              </a:extLst>
            </p:cNvPr>
            <p:cNvPicPr/>
            <p:nvPr/>
          </p:nvPicPr>
          <p:blipFill>
            <a:blip r:embed="rId2" cstate="print"/>
            <a:stretch>
              <a:fillRect/>
            </a:stretch>
          </p:blipFill>
          <p:spPr>
            <a:xfrm>
              <a:off x="0" y="216720"/>
              <a:ext cx="12192000" cy="803160"/>
            </a:xfrm>
            <a:prstGeom prst="rect">
              <a:avLst/>
            </a:prstGeom>
          </p:spPr>
        </p:pic>
        <p:sp>
          <p:nvSpPr>
            <p:cNvPr id="6" name="object 6">
              <a:extLst>
                <a:ext uri="{FF2B5EF4-FFF2-40B4-BE49-F238E27FC236}">
                  <a16:creationId xmlns:a16="http://schemas.microsoft.com/office/drawing/2014/main" id="{99E27CA6-71BD-4B6B-5B8E-7865B43B8EF2}"/>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a:extLst>
              <a:ext uri="{FF2B5EF4-FFF2-40B4-BE49-F238E27FC236}">
                <a16:creationId xmlns:a16="http://schemas.microsoft.com/office/drawing/2014/main" id="{B42B17DF-1CE8-E8C2-604F-CF2171690AEC}"/>
              </a:ext>
            </a:extLst>
          </p:cNvPr>
          <p:cNvSpPr txBox="1">
            <a:spLocks noGrp="1"/>
          </p:cNvSpPr>
          <p:nvPr>
            <p:ph type="title"/>
          </p:nvPr>
        </p:nvSpPr>
        <p:spPr>
          <a:xfrm>
            <a:off x="0" y="248837"/>
            <a:ext cx="12192000"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 </a:t>
            </a:r>
            <a:r>
              <a:rPr spc="-10" dirty="0"/>
              <a:t>Proposed</a:t>
            </a:r>
            <a:r>
              <a:rPr dirty="0"/>
              <a:t>	</a:t>
            </a:r>
            <a:r>
              <a:rPr spc="-10" dirty="0"/>
              <a:t>System</a:t>
            </a:r>
          </a:p>
        </p:txBody>
      </p:sp>
      <p:sp>
        <p:nvSpPr>
          <p:cNvPr id="11" name="object 11">
            <a:extLst>
              <a:ext uri="{FF2B5EF4-FFF2-40B4-BE49-F238E27FC236}">
                <a16:creationId xmlns:a16="http://schemas.microsoft.com/office/drawing/2014/main" id="{42E73AE2-6ECE-6F9B-5F4A-065C7BE33942}"/>
              </a:ext>
            </a:extLst>
          </p:cNvPr>
          <p:cNvSpPr txBox="1">
            <a:spLocks noGrp="1"/>
          </p:cNvSpPr>
          <p:nvPr>
            <p:ph type="sldNum" sz="quarter" idx="7"/>
          </p:nvPr>
        </p:nvSpPr>
        <p:spPr>
          <a:xfrm>
            <a:off x="11793245" y="6629427"/>
            <a:ext cx="228600" cy="230832"/>
          </a:xfrm>
          <a:prstGeom prst="rect">
            <a:avLst/>
          </a:prstGeom>
        </p:spPr>
        <p:txBody>
          <a:bodyPr vert="horz" wrap="square" lIns="0" tIns="0" rIns="0" bIns="0" rtlCol="0">
            <a:spAutoFit/>
          </a:bodyPr>
          <a:lstStyle>
            <a:defPPr>
              <a:defRPr kern="0"/>
            </a:defPPr>
            <a:lvl1pPr>
              <a:defRPr sz="1600" b="1" i="0">
                <a:solidFill>
                  <a:srgbClr val="002060"/>
                </a:solidFill>
                <a:latin typeface="Times New Roman"/>
                <a:cs typeface="Times New Roman"/>
              </a:defRPr>
            </a:lvl1pPr>
          </a:lstStyle>
          <a:p>
            <a:pPr marL="12700">
              <a:lnSpc>
                <a:spcPts val="1845"/>
              </a:lnSpc>
            </a:pPr>
            <a:endParaRPr spc="-25" dirty="0"/>
          </a:p>
        </p:txBody>
      </p:sp>
      <p:sp>
        <p:nvSpPr>
          <p:cNvPr id="12" name="TextBox 11">
            <a:extLst>
              <a:ext uri="{FF2B5EF4-FFF2-40B4-BE49-F238E27FC236}">
                <a16:creationId xmlns:a16="http://schemas.microsoft.com/office/drawing/2014/main" id="{6B1E3A48-8E87-8EB6-44E0-374019EC1AB2}"/>
              </a:ext>
            </a:extLst>
          </p:cNvPr>
          <p:cNvSpPr txBox="1"/>
          <p:nvPr/>
        </p:nvSpPr>
        <p:spPr>
          <a:xfrm>
            <a:off x="609600" y="1254939"/>
            <a:ext cx="10798369" cy="419755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proposed system utilizes an improved YOLOv9 deep learning model to perform real-time detection of fire and smoke from live surveillance video streams, enabling faster and more accurate identification of fire incidents.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temporal validation mechanism is introduced to analyze detections across multiple consecutive frames, which helps reduce false alarms caused by environmental disturbances such as dust, lighting variations, or reflections.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After confirming a fire incident, the system performs fire severity classification by categorizing the detected fire into low, medium, and high levels based on fire size, smoke density, and detection confidence.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includes an automatic emergency alert and event logging mechanism, which sends alerts with location, time, and severity information while storing detection records for future analysis, safety audits, and system performance improvement.</a:t>
            </a:r>
          </a:p>
        </p:txBody>
      </p:sp>
    </p:spTree>
    <p:extLst>
      <p:ext uri="{BB962C8B-B14F-4D97-AF65-F5344CB8AC3E}">
        <p14:creationId xmlns:p14="http://schemas.microsoft.com/office/powerpoint/2010/main" val="3026128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ED8EF-278E-6CB0-C130-2C504A45241E}"/>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D51D2803-0810-593D-EECC-456678213A92}"/>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10540DED-20A7-C466-445F-1749F5CE933E}"/>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D96BA489-369B-AF6C-AB1F-A3E1E5BE325C}"/>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41AD2DB5-2C01-BB91-99AB-0CB04AD22DED}"/>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Planning</a:t>
            </a:r>
            <a:endParaRPr spc="-10" dirty="0"/>
          </a:p>
        </p:txBody>
      </p:sp>
      <p:sp>
        <p:nvSpPr>
          <p:cNvPr id="7" name="Text Placeholder 2">
            <a:extLst>
              <a:ext uri="{FF2B5EF4-FFF2-40B4-BE49-F238E27FC236}">
                <a16:creationId xmlns:a16="http://schemas.microsoft.com/office/drawing/2014/main" id="{7E64D1F8-2553-310E-A06B-A19E75197253}"/>
              </a:ext>
            </a:extLst>
          </p:cNvPr>
          <p:cNvSpPr txBox="1">
            <a:spLocks/>
          </p:cNvSpPr>
          <p:nvPr/>
        </p:nvSpPr>
        <p:spPr>
          <a:xfrm>
            <a:off x="205132" y="1126878"/>
            <a:ext cx="11779135" cy="3928201"/>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800" b="1" dirty="0"/>
              <a:t>Fire and Smoke Video Dataset </a:t>
            </a:r>
            <a:r>
              <a:rPr lang="en-US" sz="1800" dirty="0"/>
              <a:t>A diverse dataset consisting of fire and smoke images and video frames captured under different environments, lighting conditions, and fire intensities is used to train and validate the YOLOv9 model. </a:t>
            </a:r>
          </a:p>
          <a:p>
            <a:pPr>
              <a:lnSpc>
                <a:spcPct val="150000"/>
              </a:lnSpc>
            </a:pPr>
            <a:r>
              <a:rPr lang="en-US" sz="1800" b="1" dirty="0"/>
              <a:t>Real-Time Video Input Module </a:t>
            </a:r>
            <a:r>
              <a:rPr lang="en-US" sz="1800" dirty="0"/>
              <a:t>Live video streams collected from surveillance cameras serve as real-time input for continuous fire monitoring and detection. </a:t>
            </a:r>
          </a:p>
          <a:p>
            <a:pPr>
              <a:lnSpc>
                <a:spcPct val="150000"/>
              </a:lnSpc>
            </a:pPr>
            <a:r>
              <a:rPr lang="en-US" sz="1800" b="1" dirty="0"/>
              <a:t>YOLOv9 Detection and Validation Module </a:t>
            </a:r>
            <a:r>
              <a:rPr lang="en-US" sz="1800" dirty="0"/>
              <a:t>This module processes the input frames using the YOLOv9 model and performs temporal validation to reduce false alarms and confirm genuine fire incidents. </a:t>
            </a:r>
          </a:p>
          <a:p>
            <a:pPr>
              <a:lnSpc>
                <a:spcPct val="150000"/>
              </a:lnSpc>
            </a:pPr>
            <a:r>
              <a:rPr lang="en-US" sz="1800" b="1" dirty="0"/>
              <a:t>Severity Classification and Alert Module </a:t>
            </a:r>
            <a:r>
              <a:rPr lang="en-US" sz="1800" dirty="0"/>
              <a:t>Confirmed fire detections are classified into severity levels, and automatic emergency alerts and event logs are generated for effective response and analysis.</a:t>
            </a:r>
          </a:p>
        </p:txBody>
      </p:sp>
    </p:spTree>
    <p:extLst>
      <p:ext uri="{BB962C8B-B14F-4D97-AF65-F5344CB8AC3E}">
        <p14:creationId xmlns:p14="http://schemas.microsoft.com/office/powerpoint/2010/main" val="3440449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2E2F2-D984-82F9-A40D-08B2BCCE67BA}"/>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05A23276-830F-1A5B-6941-8310DC7FDD37}"/>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20A12D9A-4984-5257-1830-61FDB34A0E82}"/>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9E0EC967-E6D7-EFE9-DF0C-AA423473866E}"/>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732E981F-75E4-7563-8FCC-FFD12192C9D0}"/>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System Architecture</a:t>
            </a:r>
            <a:endParaRPr spc="-10" dirty="0"/>
          </a:p>
        </p:txBody>
      </p:sp>
      <p:pic>
        <p:nvPicPr>
          <p:cNvPr id="8" name="Picture 7">
            <a:extLst>
              <a:ext uri="{FF2B5EF4-FFF2-40B4-BE49-F238E27FC236}">
                <a16:creationId xmlns:a16="http://schemas.microsoft.com/office/drawing/2014/main" id="{67623B31-E8B8-A82B-F7DB-E5A47F431F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4773" b="6534"/>
          <a:stretch>
            <a:fillRect/>
          </a:stretch>
        </p:blipFill>
        <p:spPr bwMode="auto">
          <a:xfrm>
            <a:off x="2084832" y="1723531"/>
            <a:ext cx="7584440" cy="397870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35829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Use Case Diagram</a:t>
            </a:r>
            <a:endParaRPr lang="en-US" dirty="0"/>
          </a:p>
        </p:txBody>
      </p:sp>
      <p:sp>
        <p:nvSpPr>
          <p:cNvPr id="3" name="Text Placeholder 2"/>
          <p:cNvSpPr>
            <a:spLocks noGrp="1"/>
          </p:cNvSpPr>
          <p:nvPr>
            <p:ph type="body" idx="1"/>
          </p:nvPr>
        </p:nvSpPr>
        <p:spPr>
          <a:xfrm>
            <a:off x="6409944" y="1097279"/>
            <a:ext cx="5568696" cy="5394960"/>
          </a:xfrm>
        </p:spPr>
        <p:txBody>
          <a:bodyPr>
            <a:noAutofit/>
          </a:bodyPr>
          <a:lstStyle/>
          <a:p>
            <a:pPr marL="50800" indent="0">
              <a:buNone/>
            </a:pPr>
            <a:r>
              <a:rPr lang="en-US" altLang="en-US" sz="2000" dirty="0"/>
              <a:t>The UML use case diagram for the proposed YOLOv9-based fire detection system represents the interactions between users and system components across all major stages, including dataset handling, preprocessing, model training, testing, and user interface operations. In the dataset stage, the user or administrator uploads fire and smoke image and video datasets, which are then preprocessed by the system through frame extraction, resizing, normalization, and annotation to ensure data consistency. During model training, the system uses the preprocessed dataset to train the YOLOv9 model, learning discriminative fire and smoke features, followed by model testing and validation to evaluate detection accuracy and reliability. In the deployment phase, the trained model is integrated with the user interface, where users can provide live camera input or recorded video for real-time fire detection. </a:t>
            </a:r>
            <a:endParaRPr lang="en-IN" altLang="en-US" sz="2000" dirty="0"/>
          </a:p>
        </p:txBody>
      </p:sp>
      <p:pic>
        <p:nvPicPr>
          <p:cNvPr id="6" name="Picture 5">
            <a:extLst>
              <a:ext uri="{FF2B5EF4-FFF2-40B4-BE49-F238E27FC236}">
                <a16:creationId xmlns:a16="http://schemas.microsoft.com/office/drawing/2014/main" id="{39A7F76D-2F6F-B191-2062-21EE1A760E37}"/>
              </a:ext>
            </a:extLst>
          </p:cNvPr>
          <p:cNvPicPr>
            <a:picLocks noChangeAspect="1"/>
          </p:cNvPicPr>
          <p:nvPr/>
        </p:nvPicPr>
        <p:blipFill>
          <a:blip r:embed="rId2"/>
          <a:stretch>
            <a:fillRect/>
          </a:stretch>
        </p:blipFill>
        <p:spPr>
          <a:xfrm>
            <a:off x="533400" y="1426463"/>
            <a:ext cx="5638800" cy="45789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8CDAD-2ACB-5E8F-EF76-A96DA24A7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AABB4-1A2C-0054-509E-62798704D355}"/>
              </a:ext>
            </a:extLst>
          </p:cNvPr>
          <p:cNvSpPr>
            <a:spLocks noGrp="1"/>
          </p:cNvSpPr>
          <p:nvPr>
            <p:ph type="title"/>
          </p:nvPr>
        </p:nvSpPr>
        <p:spPr/>
        <p:txBody>
          <a:bodyPr/>
          <a:lstStyle/>
          <a:p>
            <a:r>
              <a:rPr lang="en-US" dirty="0">
                <a:sym typeface="+mn-ea"/>
              </a:rPr>
              <a:t>Activity Diagram</a:t>
            </a:r>
            <a:endParaRPr lang="en-US" dirty="0"/>
          </a:p>
        </p:txBody>
      </p:sp>
      <p:sp>
        <p:nvSpPr>
          <p:cNvPr id="3" name="Text Placeholder 2">
            <a:extLst>
              <a:ext uri="{FF2B5EF4-FFF2-40B4-BE49-F238E27FC236}">
                <a16:creationId xmlns:a16="http://schemas.microsoft.com/office/drawing/2014/main" id="{C0306C45-EA55-1981-D64F-328AB72236AB}"/>
              </a:ext>
            </a:extLst>
          </p:cNvPr>
          <p:cNvSpPr>
            <a:spLocks noGrp="1"/>
          </p:cNvSpPr>
          <p:nvPr>
            <p:ph type="body" idx="1"/>
          </p:nvPr>
        </p:nvSpPr>
        <p:spPr>
          <a:xfrm>
            <a:off x="6191643" y="1230281"/>
            <a:ext cx="5568696" cy="5394960"/>
          </a:xfrm>
        </p:spPr>
        <p:txBody>
          <a:bodyPr>
            <a:noAutofit/>
          </a:bodyPr>
          <a:lstStyle/>
          <a:p>
            <a:pPr marL="50800" indent="0">
              <a:buNone/>
            </a:pPr>
            <a:r>
              <a:rPr lang="en-US" altLang="en-US" sz="2000" dirty="0"/>
              <a:t>The activity diagram of the proposed YOLOv9-based fire detection system illustrates the complete operational workflow from data input to emergency response in a sequential and decision-driven manner. The process begins with capturing live video streams or loading recorded video data, followed by frame extraction and preprocessing to prepare the input for analysis. Each frame is then passed to the trained YOLOv9 model for fire and smoke detection, where a decision node checks whether fire or smoke is detected. If no fire is identified, the system continues monitoring the video stream; if fire or smoke is detected, the workflow proceeds to temporal validation, where detections are verified across consecutive frames to eliminate false alarms. </a:t>
            </a:r>
            <a:endParaRPr lang="en-IN" altLang="en-US" sz="2000" dirty="0"/>
          </a:p>
        </p:txBody>
      </p:sp>
      <p:pic>
        <p:nvPicPr>
          <p:cNvPr id="6" name="Picture 5">
            <a:extLst>
              <a:ext uri="{FF2B5EF4-FFF2-40B4-BE49-F238E27FC236}">
                <a16:creationId xmlns:a16="http://schemas.microsoft.com/office/drawing/2014/main" id="{D33DE847-8919-3738-6442-213D46BB7A8A}"/>
              </a:ext>
            </a:extLst>
          </p:cNvPr>
          <p:cNvPicPr>
            <a:picLocks noChangeAspect="1"/>
          </p:cNvPicPr>
          <p:nvPr/>
        </p:nvPicPr>
        <p:blipFill>
          <a:blip r:embed="rId2"/>
          <a:stretch>
            <a:fillRect/>
          </a:stretch>
        </p:blipFill>
        <p:spPr>
          <a:xfrm>
            <a:off x="431661" y="1519366"/>
            <a:ext cx="5664337" cy="4078323"/>
          </a:xfrm>
          <a:prstGeom prst="rect">
            <a:avLst/>
          </a:prstGeom>
        </p:spPr>
      </p:pic>
    </p:spTree>
    <p:extLst>
      <p:ext uri="{BB962C8B-B14F-4D97-AF65-F5344CB8AC3E}">
        <p14:creationId xmlns:p14="http://schemas.microsoft.com/office/powerpoint/2010/main" val="2953813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2FE6-51BA-4569-E45E-FE8A0D76D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28247-43A0-2E12-9DBE-310D1989698F}"/>
              </a:ext>
            </a:extLst>
          </p:cNvPr>
          <p:cNvSpPr>
            <a:spLocks noGrp="1"/>
          </p:cNvSpPr>
          <p:nvPr>
            <p:ph type="title"/>
          </p:nvPr>
        </p:nvSpPr>
        <p:spPr/>
        <p:txBody>
          <a:bodyPr/>
          <a:lstStyle/>
          <a:p>
            <a:r>
              <a:rPr lang="en-US" dirty="0">
                <a:sym typeface="+mn-ea"/>
              </a:rPr>
              <a:t>Sequence Diagram</a:t>
            </a:r>
            <a:endParaRPr lang="en-US" dirty="0"/>
          </a:p>
        </p:txBody>
      </p:sp>
      <p:sp>
        <p:nvSpPr>
          <p:cNvPr id="3" name="Text Placeholder 2">
            <a:extLst>
              <a:ext uri="{FF2B5EF4-FFF2-40B4-BE49-F238E27FC236}">
                <a16:creationId xmlns:a16="http://schemas.microsoft.com/office/drawing/2014/main" id="{A7C9E244-56F9-477C-734F-539140DC78B2}"/>
              </a:ext>
            </a:extLst>
          </p:cNvPr>
          <p:cNvSpPr>
            <a:spLocks noGrp="1"/>
          </p:cNvSpPr>
          <p:nvPr>
            <p:ph type="body" idx="1"/>
          </p:nvPr>
        </p:nvSpPr>
        <p:spPr>
          <a:xfrm>
            <a:off x="6409944" y="1097279"/>
            <a:ext cx="5568696" cy="5394960"/>
          </a:xfrm>
        </p:spPr>
        <p:txBody>
          <a:bodyPr>
            <a:noAutofit/>
          </a:bodyPr>
          <a:lstStyle/>
          <a:p>
            <a:pPr marL="50800" indent="0">
              <a:buNone/>
            </a:pPr>
            <a:r>
              <a:rPr lang="en-US" altLang="en-US" sz="1800" dirty="0"/>
              <a:t>The sequence diagram of the proposed YOLOv9-based fire detection system depicts the step-by-step interactions between the system components and the user for real-time fire monitoring and response. The sequence begins with the user or surveillance system providing live video input, which is sent to the preprocessing module for frame extraction, resizing, and normalization. The preprocessed frames are then passed sequentially to the YOLOv9 detection module, which analyzes each frame for fire or smoke and returns detection results along with confidence scores. These results are forwarded to the temporal validation module, where consecutive-frame consistency is checked to confirm genuine fire incidents and reduce false alarms. Once validated, the severity classification module determines the intensity of the fire as low, medium, or high. Based on the classification, the alert generation module automatically triggers emergency notifications, while the logging module records event details such as time, severity, and confidence scores for future analysis. </a:t>
            </a:r>
            <a:endParaRPr lang="en-IN" altLang="en-US" sz="1800" dirty="0"/>
          </a:p>
        </p:txBody>
      </p:sp>
      <p:pic>
        <p:nvPicPr>
          <p:cNvPr id="5" name="Picture 4">
            <a:extLst>
              <a:ext uri="{FF2B5EF4-FFF2-40B4-BE49-F238E27FC236}">
                <a16:creationId xmlns:a16="http://schemas.microsoft.com/office/drawing/2014/main" id="{5CBF8B56-86F1-6F6F-0C49-47CC0E1C0456}"/>
              </a:ext>
            </a:extLst>
          </p:cNvPr>
          <p:cNvPicPr>
            <a:picLocks noChangeAspect="1"/>
          </p:cNvPicPr>
          <p:nvPr/>
        </p:nvPicPr>
        <p:blipFill>
          <a:blip r:embed="rId2"/>
          <a:stretch>
            <a:fillRect/>
          </a:stretch>
        </p:blipFill>
        <p:spPr>
          <a:xfrm>
            <a:off x="676656" y="1359586"/>
            <a:ext cx="5644036" cy="4739461"/>
          </a:xfrm>
          <a:prstGeom prst="rect">
            <a:avLst/>
          </a:prstGeom>
        </p:spPr>
      </p:pic>
    </p:spTree>
    <p:extLst>
      <p:ext uri="{BB962C8B-B14F-4D97-AF65-F5344CB8AC3E}">
        <p14:creationId xmlns:p14="http://schemas.microsoft.com/office/powerpoint/2010/main" val="3329941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Implementation</a:t>
            </a:r>
            <a:endParaRPr lang="en-US" dirty="0"/>
          </a:p>
        </p:txBody>
      </p:sp>
      <p:sp>
        <p:nvSpPr>
          <p:cNvPr id="6" name="TextBox 5">
            <a:extLst>
              <a:ext uri="{FF2B5EF4-FFF2-40B4-BE49-F238E27FC236}">
                <a16:creationId xmlns:a16="http://schemas.microsoft.com/office/drawing/2014/main" id="{C85BBE10-6B24-D761-D252-27CDCD3A2936}"/>
              </a:ext>
            </a:extLst>
          </p:cNvPr>
          <p:cNvSpPr txBox="1"/>
          <p:nvPr/>
        </p:nvSpPr>
        <p:spPr>
          <a:xfrm>
            <a:off x="4841988" y="5961281"/>
            <a:ext cx="1577676" cy="307777"/>
          </a:xfrm>
          <a:prstGeom prst="rect">
            <a:avLst/>
          </a:prstGeom>
          <a:noFill/>
        </p:spPr>
        <p:txBody>
          <a:bodyPr wrap="none" rtlCol="0">
            <a:spAutoFit/>
          </a:bodyPr>
          <a:lstStyle/>
          <a:p>
            <a:r>
              <a:rPr lang="en-US" dirty="0"/>
              <a:t>Loading Datasets</a:t>
            </a:r>
          </a:p>
        </p:txBody>
      </p:sp>
      <p:pic>
        <p:nvPicPr>
          <p:cNvPr id="4" name="Picture 3">
            <a:extLst>
              <a:ext uri="{FF2B5EF4-FFF2-40B4-BE49-F238E27FC236}">
                <a16:creationId xmlns:a16="http://schemas.microsoft.com/office/drawing/2014/main" id="{D14CDEBA-2FF6-6DA3-6189-8915B8317B3F}"/>
              </a:ext>
            </a:extLst>
          </p:cNvPr>
          <p:cNvPicPr>
            <a:picLocks noChangeAspect="1"/>
          </p:cNvPicPr>
          <p:nvPr/>
        </p:nvPicPr>
        <p:blipFill>
          <a:blip r:embed="rId2"/>
          <a:stretch>
            <a:fillRect/>
          </a:stretch>
        </p:blipFill>
        <p:spPr>
          <a:xfrm>
            <a:off x="2514600" y="1076181"/>
            <a:ext cx="7935219" cy="4885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8669-9C90-CD0F-CA3A-0F628398C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C7D74-4EA6-1BB7-84B6-C1C3EE300B0F}"/>
              </a:ext>
            </a:extLst>
          </p:cNvPr>
          <p:cNvSpPr>
            <a:spLocks noGrp="1"/>
          </p:cNvSpPr>
          <p:nvPr>
            <p:ph type="title"/>
          </p:nvPr>
        </p:nvSpPr>
        <p:spPr/>
        <p:txBody>
          <a:bodyPr/>
          <a:lstStyle/>
          <a:p>
            <a:r>
              <a:rPr lang="en-US" dirty="0">
                <a:sym typeface="+mn-ea"/>
              </a:rPr>
              <a:t>Implementation</a:t>
            </a:r>
            <a:endParaRPr lang="en-US" dirty="0"/>
          </a:p>
        </p:txBody>
      </p:sp>
      <p:sp>
        <p:nvSpPr>
          <p:cNvPr id="6" name="TextBox 5">
            <a:extLst>
              <a:ext uri="{FF2B5EF4-FFF2-40B4-BE49-F238E27FC236}">
                <a16:creationId xmlns:a16="http://schemas.microsoft.com/office/drawing/2014/main" id="{50504A9A-19CE-B208-70D2-4C68B1D8B441}"/>
              </a:ext>
            </a:extLst>
          </p:cNvPr>
          <p:cNvSpPr txBox="1"/>
          <p:nvPr/>
        </p:nvSpPr>
        <p:spPr>
          <a:xfrm>
            <a:off x="5655804" y="5910349"/>
            <a:ext cx="1569660" cy="307777"/>
          </a:xfrm>
          <a:prstGeom prst="rect">
            <a:avLst/>
          </a:prstGeom>
          <a:noFill/>
        </p:spPr>
        <p:txBody>
          <a:bodyPr wrap="none" rtlCol="0">
            <a:spAutoFit/>
          </a:bodyPr>
          <a:lstStyle/>
          <a:p>
            <a:r>
              <a:rPr lang="en-US" dirty="0"/>
              <a:t>Dataset Statistics</a:t>
            </a:r>
          </a:p>
        </p:txBody>
      </p:sp>
      <p:pic>
        <p:nvPicPr>
          <p:cNvPr id="4" name="Picture 3">
            <a:extLst>
              <a:ext uri="{FF2B5EF4-FFF2-40B4-BE49-F238E27FC236}">
                <a16:creationId xmlns:a16="http://schemas.microsoft.com/office/drawing/2014/main" id="{973D1118-E852-BD7E-9EEE-737BDB35CD8F}"/>
              </a:ext>
            </a:extLst>
          </p:cNvPr>
          <p:cNvPicPr>
            <a:picLocks noChangeAspect="1"/>
          </p:cNvPicPr>
          <p:nvPr/>
        </p:nvPicPr>
        <p:blipFill>
          <a:blip r:embed="rId2"/>
          <a:stretch>
            <a:fillRect/>
          </a:stretch>
        </p:blipFill>
        <p:spPr>
          <a:xfrm>
            <a:off x="2898222" y="1182901"/>
            <a:ext cx="7381252" cy="4727448"/>
          </a:xfrm>
          <a:prstGeom prst="rect">
            <a:avLst/>
          </a:prstGeom>
        </p:spPr>
      </p:pic>
    </p:spTree>
    <p:extLst>
      <p:ext uri="{BB962C8B-B14F-4D97-AF65-F5344CB8AC3E}">
        <p14:creationId xmlns:p14="http://schemas.microsoft.com/office/powerpoint/2010/main" val="1480086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5FD41-5C23-A25D-A3F5-E04D5172D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29CD6-4C84-1A78-F22A-31BCA054A854}"/>
              </a:ext>
            </a:extLst>
          </p:cNvPr>
          <p:cNvSpPr>
            <a:spLocks noGrp="1"/>
          </p:cNvSpPr>
          <p:nvPr>
            <p:ph type="title"/>
          </p:nvPr>
        </p:nvSpPr>
        <p:spPr/>
        <p:txBody>
          <a:bodyPr/>
          <a:lstStyle/>
          <a:p>
            <a:r>
              <a:rPr lang="en-US" dirty="0">
                <a:sym typeface="+mn-ea"/>
              </a:rPr>
              <a:t>Implementation</a:t>
            </a:r>
            <a:endParaRPr lang="en-US" dirty="0"/>
          </a:p>
        </p:txBody>
      </p:sp>
      <p:sp>
        <p:nvSpPr>
          <p:cNvPr id="6" name="TextBox 5">
            <a:extLst>
              <a:ext uri="{FF2B5EF4-FFF2-40B4-BE49-F238E27FC236}">
                <a16:creationId xmlns:a16="http://schemas.microsoft.com/office/drawing/2014/main" id="{FEAC9974-C038-97D6-D49E-9D0351BF42E4}"/>
              </a:ext>
            </a:extLst>
          </p:cNvPr>
          <p:cNvSpPr txBox="1"/>
          <p:nvPr/>
        </p:nvSpPr>
        <p:spPr>
          <a:xfrm>
            <a:off x="4841988" y="5961281"/>
            <a:ext cx="2055371" cy="307777"/>
          </a:xfrm>
          <a:prstGeom prst="rect">
            <a:avLst/>
          </a:prstGeom>
          <a:noFill/>
        </p:spPr>
        <p:txBody>
          <a:bodyPr wrap="none" rtlCol="0">
            <a:spAutoFit/>
          </a:bodyPr>
          <a:lstStyle/>
          <a:p>
            <a:r>
              <a:rPr lang="en-US" dirty="0"/>
              <a:t>Sample Images of Data</a:t>
            </a:r>
          </a:p>
        </p:txBody>
      </p:sp>
      <p:pic>
        <p:nvPicPr>
          <p:cNvPr id="4" name="Picture 3">
            <a:extLst>
              <a:ext uri="{FF2B5EF4-FFF2-40B4-BE49-F238E27FC236}">
                <a16:creationId xmlns:a16="http://schemas.microsoft.com/office/drawing/2014/main" id="{7BF03670-86C3-8839-DE21-ED815ABC0019}"/>
              </a:ext>
            </a:extLst>
          </p:cNvPr>
          <p:cNvPicPr>
            <a:picLocks noChangeAspect="1"/>
          </p:cNvPicPr>
          <p:nvPr/>
        </p:nvPicPr>
        <p:blipFill>
          <a:blip r:embed="rId2"/>
          <a:stretch>
            <a:fillRect/>
          </a:stretch>
        </p:blipFill>
        <p:spPr>
          <a:xfrm>
            <a:off x="564114" y="2160119"/>
            <a:ext cx="4638052" cy="3212220"/>
          </a:xfrm>
          <a:prstGeom prst="rect">
            <a:avLst/>
          </a:prstGeom>
        </p:spPr>
      </p:pic>
      <p:pic>
        <p:nvPicPr>
          <p:cNvPr id="7" name="Picture 6">
            <a:extLst>
              <a:ext uri="{FF2B5EF4-FFF2-40B4-BE49-F238E27FC236}">
                <a16:creationId xmlns:a16="http://schemas.microsoft.com/office/drawing/2014/main" id="{2F3048FB-A366-731E-9EEF-8ADA0BA16A17}"/>
              </a:ext>
            </a:extLst>
          </p:cNvPr>
          <p:cNvPicPr>
            <a:picLocks noChangeAspect="1"/>
          </p:cNvPicPr>
          <p:nvPr/>
        </p:nvPicPr>
        <p:blipFill>
          <a:blip r:embed="rId3"/>
          <a:stretch>
            <a:fillRect/>
          </a:stretch>
        </p:blipFill>
        <p:spPr>
          <a:xfrm>
            <a:off x="5202166" y="1550147"/>
            <a:ext cx="6761126" cy="3822192"/>
          </a:xfrm>
          <a:prstGeom prst="rect">
            <a:avLst/>
          </a:prstGeom>
        </p:spPr>
      </p:pic>
    </p:spTree>
    <p:extLst>
      <p:ext uri="{BB962C8B-B14F-4D97-AF65-F5344CB8AC3E}">
        <p14:creationId xmlns:p14="http://schemas.microsoft.com/office/powerpoint/2010/main" val="2116463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4FB11-EB66-6EEF-4741-65317A097DF3}"/>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9B1938A5-2F15-7AAA-DBEB-E7505E393ED2}"/>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DE1E05D8-A79B-4740-A10A-0CCACFBA1ABB}"/>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2D5FD9F1-AF9D-1E22-ADD4-844AA4280EFA}"/>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2DEC9E68-87A8-4990-902F-BB985637C228}"/>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Research Paper</a:t>
            </a:r>
            <a:endParaRPr spc="-10" dirty="0"/>
          </a:p>
        </p:txBody>
      </p:sp>
      <p:pic>
        <p:nvPicPr>
          <p:cNvPr id="13" name="Picture 12">
            <a:extLst>
              <a:ext uri="{FF2B5EF4-FFF2-40B4-BE49-F238E27FC236}">
                <a16:creationId xmlns:a16="http://schemas.microsoft.com/office/drawing/2014/main" id="{579E743B-58BA-9147-3138-B025008A7197}"/>
              </a:ext>
            </a:extLst>
          </p:cNvPr>
          <p:cNvPicPr>
            <a:picLocks noChangeAspect="1"/>
          </p:cNvPicPr>
          <p:nvPr/>
        </p:nvPicPr>
        <p:blipFill>
          <a:blip r:embed="rId3"/>
          <a:stretch>
            <a:fillRect/>
          </a:stretch>
        </p:blipFill>
        <p:spPr>
          <a:xfrm>
            <a:off x="3004696" y="1019880"/>
            <a:ext cx="6458481" cy="5224838"/>
          </a:xfrm>
          <a:prstGeom prst="rect">
            <a:avLst/>
          </a:prstGeom>
        </p:spPr>
      </p:pic>
    </p:spTree>
    <p:extLst>
      <p:ext uri="{BB962C8B-B14F-4D97-AF65-F5344CB8AC3E}">
        <p14:creationId xmlns:p14="http://schemas.microsoft.com/office/powerpoint/2010/main" val="2199342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13" name="TextBox 12">
            <a:extLst>
              <a:ext uri="{FF2B5EF4-FFF2-40B4-BE49-F238E27FC236}">
                <a16:creationId xmlns:a16="http://schemas.microsoft.com/office/drawing/2014/main" id="{2B534EE4-7247-A472-54E8-BF10F79F09CB}"/>
              </a:ext>
            </a:extLst>
          </p:cNvPr>
          <p:cNvSpPr txBox="1"/>
          <p:nvPr/>
        </p:nvSpPr>
        <p:spPr>
          <a:xfrm>
            <a:off x="784031" y="1524000"/>
            <a:ext cx="10798369" cy="3970318"/>
          </a:xfrm>
          <a:prstGeom prst="rect">
            <a:avLst/>
          </a:prstGeom>
          <a:noFill/>
        </p:spPr>
        <p:txBody>
          <a:bodyPr wrap="square">
            <a:spAutoFit/>
          </a:bodyPr>
          <a:lstStyle/>
          <a:p>
            <a:pPr marL="565150" indent="-514350" algn="just">
              <a:lnSpc>
                <a:spcPct val="100000"/>
              </a:lnSpc>
              <a:buFont typeface="+mj-lt"/>
              <a:buAutoNum type="arabicParenR"/>
            </a:pPr>
            <a:r>
              <a:rPr lang="en-US" dirty="0" err="1">
                <a:latin typeface="Times New Roman" panose="02020603050405020304" pitchFamily="18" charset="0"/>
                <a:cs typeface="Times New Roman" panose="02020603050405020304" pitchFamily="18" charset="0"/>
              </a:rPr>
              <a:t>Remmelzwaal</a:t>
            </a:r>
            <a:r>
              <a:rPr lang="en-US" dirty="0">
                <a:latin typeface="Times New Roman" panose="02020603050405020304" pitchFamily="18" charset="0"/>
                <a:cs typeface="Times New Roman" panose="02020603050405020304" pitchFamily="18" charset="0"/>
              </a:rPr>
              <a:t>, L. (2025). An AI-based early fire detection system utilizing HD cameras and real-time image analysis. In </a:t>
            </a:r>
            <a:r>
              <a:rPr lang="en-US" i="1" dirty="0">
                <a:latin typeface="Times New Roman" panose="02020603050405020304" pitchFamily="18" charset="0"/>
                <a:cs typeface="Times New Roman" panose="02020603050405020304" pitchFamily="18" charset="0"/>
              </a:rPr>
              <a:t>Artificial Intelligence and Applications</a:t>
            </a:r>
            <a:r>
              <a:rPr lang="en-US" dirty="0">
                <a:latin typeface="Times New Roman" panose="02020603050405020304" pitchFamily="18" charset="0"/>
                <a:cs typeface="Times New Roman" panose="02020603050405020304" pitchFamily="18" charset="0"/>
              </a:rPr>
              <a:t>.</a:t>
            </a:r>
          </a:p>
          <a:p>
            <a:pPr marL="565150" indent="-514350" algn="just">
              <a:lnSpc>
                <a:spcPct val="100000"/>
              </a:lnSpc>
              <a:buFont typeface="+mj-lt"/>
              <a:buAutoNum type="arabicParenR"/>
            </a:pPr>
            <a:r>
              <a:rPr lang="en-US" dirty="0">
                <a:latin typeface="Times New Roman" panose="02020603050405020304" pitchFamily="18" charset="0"/>
                <a:cs typeface="Times New Roman" panose="02020603050405020304" pitchFamily="18" charset="0"/>
              </a:rPr>
              <a:t>Morchid, A., </a:t>
            </a:r>
            <a:r>
              <a:rPr lang="en-US" dirty="0" err="1">
                <a:latin typeface="Times New Roman" panose="02020603050405020304" pitchFamily="18" charset="0"/>
                <a:cs typeface="Times New Roman" panose="02020603050405020304" pitchFamily="18" charset="0"/>
              </a:rPr>
              <a:t>Alblushi</a:t>
            </a:r>
            <a:r>
              <a:rPr lang="en-US" dirty="0">
                <a:latin typeface="Times New Roman" panose="02020603050405020304" pitchFamily="18" charset="0"/>
                <a:cs typeface="Times New Roman" panose="02020603050405020304" pitchFamily="18" charset="0"/>
              </a:rPr>
              <a:t>, I. G. M., Khalid, H. M., El Alami, R., Said, Z., </a:t>
            </a:r>
            <a:r>
              <a:rPr lang="en-US" dirty="0" err="1">
                <a:latin typeface="Times New Roman" panose="02020603050405020304" pitchFamily="18" charset="0"/>
                <a:cs typeface="Times New Roman" panose="02020603050405020304" pitchFamily="18" charset="0"/>
              </a:rPr>
              <a:t>Qjidaa</a:t>
            </a:r>
            <a:r>
              <a:rPr lang="en-US" dirty="0">
                <a:latin typeface="Times New Roman" panose="02020603050405020304" pitchFamily="18" charset="0"/>
                <a:cs typeface="Times New Roman" panose="02020603050405020304" pitchFamily="18" charset="0"/>
              </a:rPr>
              <a:t>, H., ... &amp; Jamil, M. O. (2025). Fire detection and anti-fire system to enhance food security: A concept of smart agriculture systems-based IoT and embedded systems with machine-to-machine protocol. </a:t>
            </a:r>
            <a:r>
              <a:rPr lang="en-US" i="1" dirty="0">
                <a:latin typeface="Times New Roman" panose="02020603050405020304" pitchFamily="18" charset="0"/>
                <a:cs typeface="Times New Roman" panose="02020603050405020304" pitchFamily="18" charset="0"/>
              </a:rPr>
              <a:t>Scientific African</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27</a:t>
            </a:r>
            <a:r>
              <a:rPr lang="en-US" dirty="0">
                <a:latin typeface="Times New Roman" panose="02020603050405020304" pitchFamily="18" charset="0"/>
                <a:cs typeface="Times New Roman" panose="02020603050405020304" pitchFamily="18" charset="0"/>
              </a:rPr>
              <a:t>, e02559.</a:t>
            </a:r>
          </a:p>
          <a:p>
            <a:pPr marL="565150" indent="-514350" algn="just">
              <a:lnSpc>
                <a:spcPct val="100000"/>
              </a:lnSpc>
              <a:buFont typeface="+mj-lt"/>
              <a:buAutoNum type="arabicParenR"/>
            </a:pPr>
            <a:r>
              <a:rPr lang="en-US" dirty="0">
                <a:latin typeface="Times New Roman" panose="02020603050405020304" pitchFamily="18" charset="0"/>
                <a:cs typeface="Times New Roman" panose="02020603050405020304" pitchFamily="18" charset="0"/>
              </a:rPr>
              <a:t>Salaria, A., &amp; Singh, A. (2025). A guide for selection of wireless communication technology for effective and robust early forest fire detection system. </a:t>
            </a:r>
            <a:r>
              <a:rPr lang="en-US" i="1" dirty="0">
                <a:latin typeface="Times New Roman" panose="02020603050405020304" pitchFamily="18" charset="0"/>
                <a:cs typeface="Times New Roman" panose="02020603050405020304" pitchFamily="18" charset="0"/>
              </a:rPr>
              <a:t>Bulletin of Electrical Engineering and Informatics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14</a:t>
            </a:r>
            <a:r>
              <a:rPr lang="en-US" dirty="0">
                <a:latin typeface="Times New Roman" panose="02020603050405020304" pitchFamily="18" charset="0"/>
                <a:cs typeface="Times New Roman" panose="02020603050405020304" pitchFamily="18" charset="0"/>
              </a:rPr>
              <a:t>(2), 1026-1035.</a:t>
            </a:r>
          </a:p>
          <a:p>
            <a:pPr marL="565150" indent="-514350" algn="just">
              <a:lnSpc>
                <a:spcPct val="100000"/>
              </a:lnSpc>
              <a:buFont typeface="+mj-lt"/>
              <a:buAutoNum type="arabicParenR"/>
            </a:pPr>
            <a:r>
              <a:rPr lang="en-US" dirty="0">
                <a:latin typeface="Times New Roman" panose="02020603050405020304" pitchFamily="18" charset="0"/>
                <a:cs typeface="Times New Roman" panose="02020603050405020304" pitchFamily="18" charset="0"/>
              </a:rPr>
              <a:t>Wilk-Jakubowski, J. L., </a:t>
            </a:r>
            <a:r>
              <a:rPr lang="en-US" dirty="0" err="1">
                <a:latin typeface="Times New Roman" panose="02020603050405020304" pitchFamily="18" charset="0"/>
                <a:cs typeface="Times New Roman" panose="02020603050405020304" pitchFamily="18" charset="0"/>
              </a:rPr>
              <a:t>Loboichenko</a:t>
            </a:r>
            <a:r>
              <a:rPr lang="en-US" dirty="0">
                <a:latin typeface="Times New Roman" panose="02020603050405020304" pitchFamily="18" charset="0"/>
                <a:cs typeface="Times New Roman" panose="02020603050405020304" pitchFamily="18" charset="0"/>
              </a:rPr>
              <a:t>, V., </a:t>
            </a:r>
            <a:r>
              <a:rPr lang="en-US" dirty="0" err="1">
                <a:latin typeface="Times New Roman" panose="02020603050405020304" pitchFamily="18" charset="0"/>
                <a:cs typeface="Times New Roman" panose="02020603050405020304" pitchFamily="18" charset="0"/>
              </a:rPr>
              <a:t>Divizinyuk</a:t>
            </a:r>
            <a:r>
              <a:rPr lang="en-US" dirty="0">
                <a:latin typeface="Times New Roman" panose="02020603050405020304" pitchFamily="18" charset="0"/>
                <a:cs typeface="Times New Roman" panose="02020603050405020304" pitchFamily="18" charset="0"/>
              </a:rPr>
              <a:t>, M., Wilk-Jakubowski, G., Shevchenko, R., Ivanov, S., &amp; Strelets, V. (2025). Acoustic Waves and Their Application in Modern Fire Detection Using Artificial Vision Systems: A Review. </a:t>
            </a:r>
            <a:r>
              <a:rPr lang="en-US" i="1" dirty="0">
                <a:latin typeface="Times New Roman" panose="02020603050405020304" pitchFamily="18" charset="0"/>
                <a:cs typeface="Times New Roman" panose="02020603050405020304" pitchFamily="18" charset="0"/>
              </a:rPr>
              <a:t>Sensors (Basel, Switzerland)</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25</a:t>
            </a:r>
            <a:r>
              <a:rPr lang="en-US" dirty="0">
                <a:latin typeface="Times New Roman" panose="02020603050405020304" pitchFamily="18" charset="0"/>
                <a:cs typeface="Times New Roman" panose="02020603050405020304" pitchFamily="18" charset="0"/>
              </a:rPr>
              <a:t>(3), 935.</a:t>
            </a:r>
          </a:p>
          <a:p>
            <a:pPr marL="565150" indent="-514350" algn="just">
              <a:lnSpc>
                <a:spcPct val="100000"/>
              </a:lnSpc>
              <a:buFont typeface="+mj-lt"/>
              <a:buAutoNum type="arabicParenR"/>
            </a:pPr>
            <a:r>
              <a:rPr lang="en-US" dirty="0">
                <a:latin typeface="Times New Roman" panose="02020603050405020304" pitchFamily="18" charset="0"/>
                <a:cs typeface="Times New Roman" panose="02020603050405020304" pitchFamily="18" charset="0"/>
              </a:rPr>
              <a:t>Mia, M. M. (2025). A REVIEW ON THE INFLUENCE OF AI-ENABLED FIRE DETECTION AND SUPPRESSION SYSTEMS IN ENHANCING BUILDING SAFETY. </a:t>
            </a:r>
            <a:r>
              <a:rPr lang="en-US" i="1" dirty="0">
                <a:latin typeface="Times New Roman" panose="02020603050405020304" pitchFamily="18" charset="0"/>
                <a:cs typeface="Times New Roman" panose="02020603050405020304" pitchFamily="18" charset="0"/>
              </a:rPr>
              <a:t>Review of Applied Science and Technology</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(04), 36-73.</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9AEE-5273-EF45-475A-7E0C5A90514B}"/>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21A4160E-0D9D-9376-FC44-4790DEEF6508}"/>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7302BDFD-3B63-C3A3-B492-036C38F49D8B}"/>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A870A116-C1E8-2C63-FE33-6670FF169397}"/>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46EFB926-7821-0F12-F8B7-B41E11CC2388}"/>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err="1"/>
              <a:t>Github</a:t>
            </a:r>
            <a:r>
              <a:rPr lang="en-US" spc="-10" dirty="0"/>
              <a:t> Link</a:t>
            </a:r>
            <a:endParaRPr spc="-10" dirty="0"/>
          </a:p>
        </p:txBody>
      </p:sp>
      <p:sp>
        <p:nvSpPr>
          <p:cNvPr id="13" name="TextBox 12">
            <a:extLst>
              <a:ext uri="{FF2B5EF4-FFF2-40B4-BE49-F238E27FC236}">
                <a16:creationId xmlns:a16="http://schemas.microsoft.com/office/drawing/2014/main" id="{808C0287-4B71-CB62-186F-AA0C626184D5}"/>
              </a:ext>
            </a:extLst>
          </p:cNvPr>
          <p:cNvSpPr txBox="1"/>
          <p:nvPr/>
        </p:nvSpPr>
        <p:spPr>
          <a:xfrm>
            <a:off x="784031" y="1524000"/>
            <a:ext cx="10798369" cy="463397"/>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Link: </a:t>
            </a:r>
            <a:r>
              <a:rPr lang="en-IN" dirty="0" err="1">
                <a:hlinkClick r:id="rId3"/>
              </a:rPr>
              <a:t>DNehaAnjum</a:t>
            </a:r>
            <a:r>
              <a:rPr lang="en-IN" dirty="0">
                <a:hlinkClick r:id="rId3"/>
              </a:rPr>
              <a:t>/CSE-2022-26-Batch-A8</a:t>
            </a: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29E0911-A905-D7C2-1216-C133B4637B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069" y="1987397"/>
            <a:ext cx="10502900" cy="4254193"/>
          </a:xfrm>
          <a:prstGeom prst="rect">
            <a:avLst/>
          </a:prstGeom>
        </p:spPr>
      </p:pic>
    </p:spTree>
    <p:extLst>
      <p:ext uri="{BB962C8B-B14F-4D97-AF65-F5344CB8AC3E}">
        <p14:creationId xmlns:p14="http://schemas.microsoft.com/office/powerpoint/2010/main" val="1225546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099747"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Query?</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3451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FAA6D-7637-5E88-CF28-4D2EF60270E3}"/>
              </a:ext>
            </a:extLst>
          </p:cNvPr>
          <p:cNvSpPr>
            <a:spLocks noGrp="1"/>
          </p:cNvSpPr>
          <p:nvPr>
            <p:ph type="title"/>
          </p:nvPr>
        </p:nvSpPr>
        <p:spPr/>
        <p:txBody>
          <a:bodyPr/>
          <a:lstStyle/>
          <a:p>
            <a:pPr algn="ctr"/>
            <a:r>
              <a:rPr lang="en-US" dirty="0"/>
              <a:t>Comments</a:t>
            </a:r>
            <a:endParaRPr lang="en-IN" dirty="0"/>
          </a:p>
        </p:txBody>
      </p:sp>
      <p:sp>
        <p:nvSpPr>
          <p:cNvPr id="3" name="Content Placeholder 2">
            <a:extLst>
              <a:ext uri="{FF2B5EF4-FFF2-40B4-BE49-F238E27FC236}">
                <a16:creationId xmlns:a16="http://schemas.microsoft.com/office/drawing/2014/main" id="{6524DFE5-F7A5-9ADB-AFD3-08EBD7A4FB1F}"/>
              </a:ext>
            </a:extLst>
          </p:cNvPr>
          <p:cNvSpPr>
            <a:spLocks noGrp="1"/>
          </p:cNvSpPr>
          <p:nvPr>
            <p:ph idx="1"/>
          </p:nvPr>
        </p:nvSpPr>
        <p:spPr/>
        <p:txBody>
          <a:bodyPr/>
          <a:lstStyle/>
          <a:p>
            <a:pPr marL="0" indent="0">
              <a:buNone/>
            </a:pPr>
            <a:endParaRPr lang="en-US" sz="2400" dirty="0"/>
          </a:p>
        </p:txBody>
      </p:sp>
    </p:spTree>
    <p:extLst>
      <p:ext uri="{BB962C8B-B14F-4D97-AF65-F5344CB8AC3E}">
        <p14:creationId xmlns:p14="http://schemas.microsoft.com/office/powerpoint/2010/main" val="148535641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8801</TotalTime>
  <Words>1878</Words>
  <Application>Microsoft Office PowerPoint</Application>
  <PresentationFormat>Widescreen</PresentationFormat>
  <Paragraphs>113</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Courier New</vt:lpstr>
      <vt:lpstr>Lucida Sans Unicode</vt:lpstr>
      <vt:lpstr>Times New Roman</vt:lpstr>
      <vt:lpstr>Wingdings</vt:lpstr>
      <vt:lpstr>Custom Design</vt:lpstr>
      <vt:lpstr>PowerPoint Presentation</vt:lpstr>
      <vt:lpstr>Contents</vt:lpstr>
      <vt:lpstr>Abstract</vt:lpstr>
      <vt:lpstr>Introduction</vt:lpstr>
      <vt:lpstr>Literature Survey</vt:lpstr>
      <vt:lpstr>Existing System </vt:lpstr>
      <vt:lpstr> Proposed System</vt:lpstr>
      <vt:lpstr>Planning</vt:lpstr>
      <vt:lpstr>System Architecture</vt:lpstr>
      <vt:lpstr>Use Case Diagram</vt:lpstr>
      <vt:lpstr>Activity Diagram</vt:lpstr>
      <vt:lpstr>Sequence Diagram</vt:lpstr>
      <vt:lpstr>Implementation</vt:lpstr>
      <vt:lpstr>Implementation</vt:lpstr>
      <vt:lpstr>Implementation</vt:lpstr>
      <vt:lpstr>Research Paper</vt:lpstr>
      <vt:lpstr>References</vt:lpstr>
      <vt:lpstr>Github Link</vt:lpstr>
      <vt:lpstr>PowerPoint Presentation</vt:lpstr>
      <vt:lpstr>PowerPoint Presentation</vt:lpstr>
      <vt:lpstr>Comments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Neha Anjum</cp:lastModifiedBy>
  <cp:revision>201</cp:revision>
  <dcterms:created xsi:type="dcterms:W3CDTF">2019-06-11T05:35:00Z</dcterms:created>
  <dcterms:modified xsi:type="dcterms:W3CDTF">2026-04-06T20:27:39Z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