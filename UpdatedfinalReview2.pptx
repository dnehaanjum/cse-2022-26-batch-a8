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handoutMasterIdLst>
    <p:handoutMasterId r:id="rId14"/>
  </p:handoutMasterIdLst>
  <p:sldIdLst>
    <p:sldId id="256" r:id="rId2"/>
    <p:sldId id="257" r:id="rId3"/>
    <p:sldId id="258" r:id="rId4"/>
    <p:sldId id="259" r:id="rId5"/>
    <p:sldId id="260" r:id="rId6"/>
    <p:sldId id="261" r:id="rId7"/>
    <p:sldId id="262" r:id="rId8"/>
    <p:sldId id="263" r:id="rId9"/>
    <p:sldId id="268" r:id="rId10"/>
    <p:sldId id="267" r:id="rId11"/>
    <p:sldId id="266" r:id="rId12"/>
  </p:sldIdLst>
  <p:sldSz cx="12192000" cy="6858000"/>
  <p:notesSz cx="12192000" cy="6858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4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C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60"/>
  </p:normalViewPr>
  <p:slideViewPr>
    <p:cSldViewPr showGuides="1">
      <p:cViewPr varScale="1">
        <p:scale>
          <a:sx n="78" d="100"/>
          <a:sy n="78" d="100"/>
        </p:scale>
        <p:origin x="850" y="67"/>
      </p:cViewPr>
      <p:guideLst>
        <p:guide orient="horz" pos="2880"/>
        <p:guide pos="214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Header Placeholder 1"/>
          <p:cNvSpPr>
            <a:spLocks noGrp="1" noChangeArrowheads="1"/>
          </p:cNvSpPr>
          <p:nvPr>
            <p:ph type="hdr" sz="quarter"/>
          </p:nvPr>
        </p:nvSpPr>
        <p:spPr bwMode="auto">
          <a:xfrm>
            <a:off x="0"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ECOVISION:Deep Learning model for Seasonal Detection</a:t>
            </a: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3" name="Date Placeholder 2"/>
          <p:cNvSpPr>
            <a:spLocks noGrp="1" noChangeArrowheads="1"/>
          </p:cNvSpPr>
          <p:nvPr>
            <p:ph type="dt" sz="quarter" idx="1"/>
          </p:nvPr>
        </p:nvSpPr>
        <p:spPr bwMode="auto">
          <a:xfrm>
            <a:off x="6905625"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F7CD42C-AEDC-4204-92B9-4096A1E38DD8}" type="datetimeFigureOut">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19-12-2025</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4" name="Footer Placeholder 3"/>
          <p:cNvSpPr>
            <a:spLocks noGrp="1" noChangeArrowheads="1"/>
          </p:cNvSpPr>
          <p:nvPr>
            <p:ph type="ftr" sz="quarter" idx="2"/>
          </p:nvPr>
        </p:nvSpPr>
        <p:spPr bwMode="auto">
          <a:xfrm>
            <a:off x="0"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5" name="Slide Number Placeholder 4"/>
          <p:cNvSpPr>
            <a:spLocks noGrp="1" noChangeArrowheads="1"/>
          </p:cNvSpPr>
          <p:nvPr>
            <p:ph type="sldNum" sz="quarter" idx="3"/>
          </p:nvPr>
        </p:nvSpPr>
        <p:spPr bwMode="auto">
          <a:xfrm>
            <a:off x="6905625"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1BFA070-C9E3-4C62-BEFF-BB79EE19FBAA}" type="slidenum">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Header Placeholder 1"/>
          <p:cNvSpPr>
            <a:spLocks noGrp="1" noChangeArrowheads="1"/>
          </p:cNvSpPr>
          <p:nvPr>
            <p:ph type="hdr" sz="quarter"/>
          </p:nvPr>
        </p:nvSpPr>
        <p:spPr bwMode="auto">
          <a:xfrm>
            <a:off x="0"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ECOVISION:Deep Learning model for Seasonal Detection</a:t>
            </a: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099" name="Date Placeholder 2"/>
          <p:cNvSpPr>
            <a:spLocks noGrp="1" noChangeArrowheads="1"/>
          </p:cNvSpPr>
          <p:nvPr>
            <p:ph type="dt" idx="1"/>
          </p:nvPr>
        </p:nvSpPr>
        <p:spPr bwMode="auto">
          <a:xfrm>
            <a:off x="6905625"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9ED4C81-AEB8-429A-866B-14C6DF65D1DE}" type="datetimeFigureOut">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19-12-2025</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1219200" y="3300413"/>
            <a:ext cx="9753600" cy="2700338"/>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4102" name="Footer Placeholder 5"/>
          <p:cNvSpPr>
            <a:spLocks noGrp="1" noChangeArrowheads="1"/>
          </p:cNvSpPr>
          <p:nvPr>
            <p:ph type="ftr" sz="quarter" idx="4"/>
          </p:nvPr>
        </p:nvSpPr>
        <p:spPr bwMode="auto">
          <a:xfrm>
            <a:off x="0"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103" name="Slide Number Placeholder 6"/>
          <p:cNvSpPr>
            <a:spLocks noGrp="1" noChangeArrowheads="1"/>
          </p:cNvSpPr>
          <p:nvPr>
            <p:ph type="sldNum" sz="quarter" idx="5"/>
          </p:nvPr>
        </p:nvSpPr>
        <p:spPr bwMode="auto">
          <a:xfrm>
            <a:off x="6905625"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DCD595E-9754-4667-9CB9-C45931948710}" type="slidenum">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77447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a:ln>
            <a:solidFill>
              <a:srgbClr val="000000"/>
            </a:solidFill>
            <a:miter/>
          </a:ln>
        </p:spPr>
      </p:sp>
      <p:sp>
        <p:nvSpPr>
          <p:cNvPr id="9219" name="Notes Placeholder 2"/>
          <p:cNvSpPr>
            <a:spLocks noGrp="1"/>
          </p:cNvSpPr>
          <p:nvPr>
            <p:ph type="body" idx="1"/>
          </p:nvPr>
        </p:nvSpPr>
        <p:spPr>
          <a:xfrm>
            <a:off x="1219200" y="3300413"/>
            <a:ext cx="9753600" cy="2700337"/>
          </a:xfrm>
          <a:noFill/>
          <a:ln>
            <a:noFill/>
          </a:ln>
        </p:spPr>
        <p:txBody>
          <a:bodyPr wrap="square" lIns="91440" tIns="45720" rIns="91440" bIns="45720" anchor="t" anchorCtr="0"/>
          <a:lstStyle/>
          <a:p>
            <a:pPr lvl="0"/>
            <a:endParaRPr lang="en-IN" altLang="x-none" dirty="0"/>
          </a:p>
        </p:txBody>
      </p:sp>
      <p:sp>
        <p:nvSpPr>
          <p:cNvPr id="9220" name="Header Placeholder 3"/>
          <p:cNvSpPr txBox="1">
            <a:spLocks noGrp="1"/>
          </p:cNvSpPr>
          <p:nvPr>
            <p:ph type="hdr" sz="quarter"/>
          </p:nvPr>
        </p:nvSpPr>
        <p:spPr>
          <a:xfrm>
            <a:off x="0" y="0"/>
            <a:ext cx="5283200" cy="344488"/>
          </a:xfrm>
          <a:prstGeom prst="rect">
            <a:avLst/>
          </a:prstGeom>
          <a:noFill/>
          <a:ln w="9525">
            <a:noFill/>
          </a:ln>
        </p:spPr>
        <p:txBody>
          <a:bodyPr/>
          <a:lstStyle/>
          <a:p>
            <a:pPr lvl="0" eaLnBrk="1" hangingPunct="1">
              <a:buNone/>
            </a:pPr>
            <a:r>
              <a:rPr lang="en-US" altLang="en-US" sz="1200" dirty="0">
                <a:solidFill>
                  <a:srgbClr val="000000"/>
                </a:solidFill>
              </a:rPr>
              <a:t>ECOVISION:Deep Learning model for Seasonal Detection</a:t>
            </a:r>
            <a:endParaRPr lang="en-IN" altLang="en-US" sz="1200" dirty="0">
              <a:solidFill>
                <a:srgbClr val="000000"/>
              </a:solidFill>
            </a:endParaRPr>
          </a:p>
        </p:txBody>
      </p:sp>
      <p:sp>
        <p:nvSpPr>
          <p:cNvPr id="9221" name="Slide Number Placeholder 4"/>
          <p:cNvSpPr txBox="1">
            <a:spLocks noGrp="1"/>
          </p:cNvSpPr>
          <p:nvPr>
            <p:ph type="sldNum" sz="quarter"/>
          </p:nvPr>
        </p:nvSpPr>
        <p:spPr>
          <a:xfrm>
            <a:off x="6905625" y="6513513"/>
            <a:ext cx="5283200" cy="344487"/>
          </a:xfrm>
          <a:prstGeom prst="rect">
            <a:avLst/>
          </a:prstGeom>
          <a:noFill/>
          <a:ln w="9525">
            <a:noFill/>
          </a:ln>
        </p:spPr>
        <p:txBody>
          <a:bodyPr anchor="b" anchorCtr="0"/>
          <a:lstStyle/>
          <a:p>
            <a:pPr lvl="0" algn="r" eaLnBrk="1" hangingPunct="1">
              <a:buNone/>
            </a:pPr>
            <a:fld id="{9A0DB2DC-4C9A-4742-B13C-FB6460FD3503}" type="slidenum">
              <a:rPr lang="en-IN" altLang="en-US" sz="1200" dirty="0">
                <a:solidFill>
                  <a:srgbClr val="000000"/>
                </a:solidFill>
              </a:rPr>
              <a:t>3</a:t>
            </a:fld>
            <a:endParaRPr lang="en-IN" altLang="en-US" sz="1200" dirty="0">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81818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a:lstStyle>
            <a:lvl1pPr>
              <a:defRPr sz="2800" b="0" i="0">
                <a:solidFill>
                  <a:schemeClr val="tx1"/>
                </a:solidFill>
                <a:latin typeface="Times New Roman" panose="02020603050405020304"/>
                <a:cs typeface="Times New Roman" panose="02020603050405020304"/>
              </a:defRPr>
            </a:lvl1pPr>
          </a:lstStyle>
          <a:p>
            <a:endParaRPr/>
          </a:p>
        </p:txBody>
      </p:sp>
      <p:sp>
        <p:nvSpPr>
          <p:cNvPr id="4" name="Footer Placeholder 3"/>
          <p:cNvSpPr>
            <a:spLocks noGrp="1"/>
          </p:cNvSpPr>
          <p:nvPr>
            <p:ph type="ftr" sz="quarter" idx="10"/>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5" name="Date Placeholder 4"/>
          <p:cNvSpPr>
            <a:spLocks noGrp="1"/>
          </p:cNvSpPr>
          <p:nvPr>
            <p:ph type="dt" sz="half" idx="11"/>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6" name="Slide Number Placeholder 5"/>
          <p:cNvSpPr>
            <a:spLocks noGrp="1"/>
          </p:cNvSpPr>
          <p:nvPr>
            <p:ph type="sldNum" sz="quarter" idx="12"/>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050" name="bg object 16"/>
          <p:cNvSpPr/>
          <p:nvPr/>
        </p:nvSpPr>
        <p:spPr>
          <a:xfrm>
            <a:off x="933450" y="6642100"/>
            <a:ext cx="5497513" cy="215900"/>
          </a:xfrm>
          <a:custGeom>
            <a:avLst/>
            <a:gdLst/>
            <a:ahLst/>
            <a:cxnLst>
              <a:cxn ang="0">
                <a:pos x="0" y="216189"/>
              </a:cxn>
              <a:cxn ang="0">
                <a:pos x="5496320" y="216189"/>
              </a:cxn>
              <a:cxn ang="0">
                <a:pos x="5496320" y="0"/>
              </a:cxn>
              <a:cxn ang="0">
                <a:pos x="0" y="0"/>
              </a:cxn>
              <a:cxn ang="0">
                <a:pos x="0" y="216189"/>
              </a:cxn>
            </a:cxnLst>
            <a:rect l="0" t="0" r="0" b="0"/>
            <a:pathLst>
              <a:path w="5498465" h="215265">
                <a:moveTo>
                  <a:pt x="0" y="214919"/>
                </a:moveTo>
                <a:lnTo>
                  <a:pt x="5498224" y="214919"/>
                </a:lnTo>
                <a:lnTo>
                  <a:pt x="5498224" y="0"/>
                </a:lnTo>
                <a:lnTo>
                  <a:pt x="0" y="0"/>
                </a:lnTo>
                <a:lnTo>
                  <a:pt x="0" y="214919"/>
                </a:lnTo>
                <a:close/>
              </a:path>
            </a:pathLst>
          </a:custGeom>
          <a:solidFill>
            <a:srgbClr val="002060">
              <a:alpha val="100000"/>
            </a:srgbClr>
          </a:solidFill>
          <a:ln w="9525">
            <a:noFill/>
          </a:ln>
        </p:spPr>
        <p:txBody>
          <a:bodyPr/>
          <a:lstStyle/>
          <a:p>
            <a:endParaRPr lang="en-US"/>
          </a:p>
        </p:txBody>
      </p:sp>
      <p:sp>
        <p:nvSpPr>
          <p:cNvPr id="2051" name="bg object 17"/>
          <p:cNvSpPr/>
          <p:nvPr/>
        </p:nvSpPr>
        <p:spPr>
          <a:xfrm>
            <a:off x="6430963" y="6642100"/>
            <a:ext cx="5192712" cy="215900"/>
          </a:xfrm>
          <a:custGeom>
            <a:avLst/>
            <a:gdLst/>
            <a:ahLst/>
            <a:cxnLst>
              <a:cxn ang="0">
                <a:pos x="0" y="215639"/>
              </a:cxn>
              <a:cxn ang="0">
                <a:pos x="5193545" y="215639"/>
              </a:cxn>
              <a:cxn ang="0">
                <a:pos x="5193545" y="0"/>
              </a:cxn>
              <a:cxn ang="0">
                <a:pos x="0" y="0"/>
              </a:cxn>
              <a:cxn ang="0">
                <a:pos x="0" y="215639"/>
              </a:cxn>
            </a:cxnLst>
            <a:rect l="0" t="0" r="0" b="0"/>
            <a:pathLst>
              <a:path w="5191759" h="215900">
                <a:moveTo>
                  <a:pt x="0" y="215639"/>
                </a:moveTo>
                <a:lnTo>
                  <a:pt x="5191639" y="215639"/>
                </a:lnTo>
                <a:lnTo>
                  <a:pt x="5191639" y="0"/>
                </a:lnTo>
                <a:lnTo>
                  <a:pt x="0" y="0"/>
                </a:lnTo>
                <a:lnTo>
                  <a:pt x="0" y="215639"/>
                </a:lnTo>
                <a:close/>
              </a:path>
            </a:pathLst>
          </a:custGeom>
          <a:solidFill>
            <a:srgbClr val="008080">
              <a:alpha val="100000"/>
            </a:srgbClr>
          </a:solidFill>
          <a:ln w="9525">
            <a:noFill/>
          </a:ln>
        </p:spPr>
        <p:txBody>
          <a:bodyPr/>
          <a:lstStyle/>
          <a:p>
            <a:endParaRPr lang="en-US"/>
          </a:p>
        </p:txBody>
      </p:sp>
      <p:sp>
        <p:nvSpPr>
          <p:cNvPr id="2052" name="bg object 18"/>
          <p:cNvSpPr/>
          <p:nvPr/>
        </p:nvSpPr>
        <p:spPr>
          <a:xfrm>
            <a:off x="11623675" y="6642100"/>
            <a:ext cx="568325" cy="215900"/>
          </a:xfrm>
          <a:custGeom>
            <a:avLst/>
            <a:gdLst/>
            <a:ahLst/>
            <a:cxnLst>
              <a:cxn ang="0">
                <a:pos x="567692" y="215899"/>
              </a:cxn>
              <a:cxn ang="0">
                <a:pos x="0" y="215899"/>
              </a:cxn>
              <a:cxn ang="0">
                <a:pos x="0" y="0"/>
              </a:cxn>
              <a:cxn ang="0">
                <a:pos x="567692" y="0"/>
              </a:cxn>
              <a:cxn ang="0">
                <a:pos x="567692" y="215899"/>
              </a:cxn>
            </a:cxnLst>
            <a:rect l="0" t="0" r="0" b="0"/>
            <a:pathLst>
              <a:path w="568959" h="215900">
                <a:moveTo>
                  <a:pt x="568959" y="215899"/>
                </a:moveTo>
                <a:lnTo>
                  <a:pt x="0" y="215899"/>
                </a:lnTo>
                <a:lnTo>
                  <a:pt x="0" y="0"/>
                </a:lnTo>
                <a:lnTo>
                  <a:pt x="568959" y="0"/>
                </a:lnTo>
                <a:lnTo>
                  <a:pt x="568959" y="215899"/>
                </a:lnTo>
                <a:close/>
              </a:path>
            </a:pathLst>
          </a:custGeom>
          <a:solidFill>
            <a:srgbClr val="FFC000">
              <a:alpha val="100000"/>
            </a:srgbClr>
          </a:solidFill>
          <a:ln w="9525">
            <a:noFill/>
          </a:ln>
        </p:spPr>
        <p:txBody>
          <a:bodyPr/>
          <a:lstStyle/>
          <a:p>
            <a:endParaRPr lang="en-US"/>
          </a:p>
        </p:txBody>
      </p:sp>
      <p:pic>
        <p:nvPicPr>
          <p:cNvPr id="2053" name="bg object 19"/>
          <p:cNvPicPr>
            <a:picLocks noChangeAspect="1"/>
          </p:cNvPicPr>
          <p:nvPr/>
        </p:nvPicPr>
        <p:blipFill>
          <a:blip r:embed="rId2"/>
          <a:stretch>
            <a:fillRect/>
          </a:stretch>
        </p:blipFill>
        <p:spPr>
          <a:xfrm>
            <a:off x="11506200" y="5956300"/>
            <a:ext cx="685800" cy="681038"/>
          </a:xfrm>
          <a:prstGeom prst="rect">
            <a:avLst/>
          </a:prstGeom>
          <a:noFill/>
          <a:ln w="9525">
            <a:noFill/>
          </a:ln>
        </p:spPr>
      </p:pic>
      <p:sp>
        <p:nvSpPr>
          <p:cNvPr id="2054" name="bg object 20"/>
          <p:cNvSpPr/>
          <p:nvPr/>
        </p:nvSpPr>
        <p:spPr>
          <a:xfrm>
            <a:off x="0" y="6642100"/>
            <a:ext cx="933450" cy="215900"/>
          </a:xfrm>
          <a:custGeom>
            <a:avLst/>
            <a:gdLst/>
            <a:ahLst/>
            <a:cxnLst>
              <a:cxn ang="0">
                <a:pos x="934084" y="217179"/>
              </a:cxn>
              <a:cxn ang="0">
                <a:pos x="0" y="217179"/>
              </a:cxn>
              <a:cxn ang="0">
                <a:pos x="0" y="0"/>
              </a:cxn>
              <a:cxn ang="0">
                <a:pos x="934084" y="0"/>
              </a:cxn>
              <a:cxn ang="0">
                <a:pos x="934084" y="217179"/>
              </a:cxn>
            </a:cxnLst>
            <a:rect l="0" t="0" r="0" b="0"/>
            <a:pathLst>
              <a:path w="932815" h="214629">
                <a:moveTo>
                  <a:pt x="932814" y="214629"/>
                </a:moveTo>
                <a:lnTo>
                  <a:pt x="0" y="214629"/>
                </a:lnTo>
                <a:lnTo>
                  <a:pt x="0" y="0"/>
                </a:lnTo>
                <a:lnTo>
                  <a:pt x="932814" y="0"/>
                </a:lnTo>
                <a:lnTo>
                  <a:pt x="932814" y="214629"/>
                </a:lnTo>
                <a:close/>
              </a:path>
            </a:pathLst>
          </a:custGeom>
          <a:solidFill>
            <a:srgbClr val="C55A11">
              <a:alpha val="100000"/>
            </a:srgbClr>
          </a:solidFill>
          <a:ln w="9525">
            <a:noFill/>
          </a:ln>
        </p:spPr>
        <p:txBody>
          <a:bodyPr/>
          <a:lstStyle/>
          <a:p>
            <a:endParaRPr lang="en-US"/>
          </a:p>
        </p:txBody>
      </p:sp>
      <p:sp>
        <p:nvSpPr>
          <p:cNvPr id="2055" name="bg object 21"/>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2" name="Holder 2"/>
          <p:cNvSpPr>
            <a:spLocks noGrp="1"/>
          </p:cNvSpPr>
          <p:nvPr>
            <p:ph type="title"/>
          </p:nvPr>
        </p:nvSpPr>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a:lstStyle>
            <a:lvl1pPr>
              <a:defRPr sz="2800" b="0" i="0">
                <a:solidFill>
                  <a:schemeClr val="tx1"/>
                </a:solidFill>
                <a:latin typeface="Times New Roman" panose="02020603050405020304"/>
                <a:cs typeface="Times New Roman" panose="02020603050405020304"/>
              </a:defRPr>
            </a:lvl1pPr>
          </a:lstStyle>
          <a:p>
            <a:endParaRPr/>
          </a:p>
        </p:txBody>
      </p:sp>
      <p:sp>
        <p:nvSpPr>
          <p:cNvPr id="18" name="Holder 4"/>
          <p:cNvSpPr>
            <a:spLocks noGrp="1"/>
          </p:cNvSpPr>
          <p:nvPr>
            <p:ph type="ftr" sz="quarter" idx="3"/>
          </p:nvPr>
        </p:nvSpPr>
        <p:spPr>
          <a:xfrm>
            <a:off x="149225" y="6629400"/>
            <a:ext cx="635000"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19" name="Holder 5"/>
          <p:cNvSpPr>
            <a:spLocks noGrp="1"/>
          </p:cNvSpPr>
          <p:nvPr>
            <p:ph type="dt" sz="half" idx="2"/>
          </p:nvPr>
        </p:nvSpPr>
        <p:spPr>
          <a:xfrm>
            <a:off x="1773238" y="6629400"/>
            <a:ext cx="3662363"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20" name="Holder 6"/>
          <p:cNvSpPr>
            <a:spLocks noGrp="1"/>
          </p:cNvSpPr>
          <p:nvPr>
            <p:ph type="sldNum" sz="quarter" idx="4"/>
          </p:nvPr>
        </p:nvSpPr>
        <p:spPr>
          <a:xfrm>
            <a:off x="11793538" y="6629400"/>
            <a:ext cx="228600" cy="250825"/>
          </a:xfrm>
          <a:prstGeom prst="rect">
            <a:avLst/>
          </a:prstGeom>
        </p:spPr>
        <p:txBody>
          <a:bodyPr wrap="square" lIns="0" tIns="0" rIns="0" bIns="0">
            <a:spAutoFit/>
          </a:bodyPr>
          <a:lstStyle>
            <a:lvl1pPr>
              <a:defRPr sz="1600" b="1" i="0">
                <a:solidFill>
                  <a:srgbClr val="002060"/>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fld id="{5A22DA06-3D3F-4FF3-A623-B1EF8BB22DFD}"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a:lstStyle>
            <a:lvl1pPr>
              <a:defRPr/>
            </a:lvl1pPr>
          </a:lstStyle>
          <a:p>
            <a:endParaRPr/>
          </a:p>
        </p:txBody>
      </p:sp>
      <p:sp>
        <p:nvSpPr>
          <p:cNvPr id="5" name="Footer Placeholder 4"/>
          <p:cNvSpPr>
            <a:spLocks noGrp="1"/>
          </p:cNvSpPr>
          <p:nvPr>
            <p:ph type="ftr" sz="quarter" idx="10"/>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6" name="Date Placeholder 5"/>
          <p:cNvSpPr>
            <a:spLocks noGrp="1"/>
          </p:cNvSpPr>
          <p:nvPr>
            <p:ph type="dt" sz="half" idx="11"/>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7" name="Slide Number Placeholder 6"/>
          <p:cNvSpPr>
            <a:spLocks noGrp="1"/>
          </p:cNvSpPr>
          <p:nvPr>
            <p:ph type="sldNum" sz="quarter" idx="12"/>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Footer Placeholder 2"/>
          <p:cNvSpPr>
            <a:spLocks noGrp="1"/>
          </p:cNvSpPr>
          <p:nvPr>
            <p:ph type="ftr" sz="quarter" idx="10"/>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4" name="Date Placeholder 3"/>
          <p:cNvSpPr>
            <a:spLocks noGrp="1"/>
          </p:cNvSpPr>
          <p:nvPr>
            <p:ph type="dt" sz="half" idx="11"/>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5" name="Slide Number Placeholder 4"/>
          <p:cNvSpPr>
            <a:spLocks noGrp="1"/>
          </p:cNvSpPr>
          <p:nvPr>
            <p:ph type="sldNum" sz="quarter" idx="12"/>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3074" name="bg object 16"/>
          <p:cNvSpPr/>
          <p:nvPr/>
        </p:nvSpPr>
        <p:spPr>
          <a:xfrm>
            <a:off x="933450" y="6642100"/>
            <a:ext cx="5497513" cy="215900"/>
          </a:xfrm>
          <a:custGeom>
            <a:avLst/>
            <a:gdLst/>
            <a:ahLst/>
            <a:cxnLst>
              <a:cxn ang="0">
                <a:pos x="0" y="216189"/>
              </a:cxn>
              <a:cxn ang="0">
                <a:pos x="5496320" y="216189"/>
              </a:cxn>
              <a:cxn ang="0">
                <a:pos x="5496320" y="0"/>
              </a:cxn>
              <a:cxn ang="0">
                <a:pos x="0" y="0"/>
              </a:cxn>
              <a:cxn ang="0">
                <a:pos x="0" y="216189"/>
              </a:cxn>
            </a:cxnLst>
            <a:rect l="0" t="0" r="0" b="0"/>
            <a:pathLst>
              <a:path w="5498465" h="215265">
                <a:moveTo>
                  <a:pt x="0" y="214919"/>
                </a:moveTo>
                <a:lnTo>
                  <a:pt x="5498224" y="214919"/>
                </a:lnTo>
                <a:lnTo>
                  <a:pt x="5498224" y="0"/>
                </a:lnTo>
                <a:lnTo>
                  <a:pt x="0" y="0"/>
                </a:lnTo>
                <a:lnTo>
                  <a:pt x="0" y="214919"/>
                </a:lnTo>
                <a:close/>
              </a:path>
            </a:pathLst>
          </a:custGeom>
          <a:solidFill>
            <a:srgbClr val="002060">
              <a:alpha val="100000"/>
            </a:srgbClr>
          </a:solidFill>
          <a:ln w="9525">
            <a:noFill/>
          </a:ln>
        </p:spPr>
        <p:txBody>
          <a:bodyPr/>
          <a:lstStyle/>
          <a:p>
            <a:endParaRPr lang="en-US"/>
          </a:p>
        </p:txBody>
      </p:sp>
      <p:sp>
        <p:nvSpPr>
          <p:cNvPr id="3075" name="bg object 17"/>
          <p:cNvSpPr/>
          <p:nvPr/>
        </p:nvSpPr>
        <p:spPr>
          <a:xfrm>
            <a:off x="6430963" y="6642100"/>
            <a:ext cx="5192712" cy="215900"/>
          </a:xfrm>
          <a:custGeom>
            <a:avLst/>
            <a:gdLst/>
            <a:ahLst/>
            <a:cxnLst>
              <a:cxn ang="0">
                <a:pos x="0" y="215639"/>
              </a:cxn>
              <a:cxn ang="0">
                <a:pos x="5193545" y="215639"/>
              </a:cxn>
              <a:cxn ang="0">
                <a:pos x="5193545" y="0"/>
              </a:cxn>
              <a:cxn ang="0">
                <a:pos x="0" y="0"/>
              </a:cxn>
              <a:cxn ang="0">
                <a:pos x="0" y="215639"/>
              </a:cxn>
            </a:cxnLst>
            <a:rect l="0" t="0" r="0" b="0"/>
            <a:pathLst>
              <a:path w="5191759" h="215900">
                <a:moveTo>
                  <a:pt x="0" y="215639"/>
                </a:moveTo>
                <a:lnTo>
                  <a:pt x="5191639" y="215639"/>
                </a:lnTo>
                <a:lnTo>
                  <a:pt x="5191639" y="0"/>
                </a:lnTo>
                <a:lnTo>
                  <a:pt x="0" y="0"/>
                </a:lnTo>
                <a:lnTo>
                  <a:pt x="0" y="215639"/>
                </a:lnTo>
                <a:close/>
              </a:path>
            </a:pathLst>
          </a:custGeom>
          <a:solidFill>
            <a:srgbClr val="008080">
              <a:alpha val="100000"/>
            </a:srgbClr>
          </a:solidFill>
          <a:ln w="9525">
            <a:noFill/>
          </a:ln>
        </p:spPr>
        <p:txBody>
          <a:bodyPr/>
          <a:lstStyle/>
          <a:p>
            <a:endParaRPr lang="en-US"/>
          </a:p>
        </p:txBody>
      </p:sp>
      <p:sp>
        <p:nvSpPr>
          <p:cNvPr id="3076" name="bg object 18"/>
          <p:cNvSpPr/>
          <p:nvPr/>
        </p:nvSpPr>
        <p:spPr>
          <a:xfrm>
            <a:off x="11623675" y="6642100"/>
            <a:ext cx="568325" cy="215900"/>
          </a:xfrm>
          <a:custGeom>
            <a:avLst/>
            <a:gdLst/>
            <a:ahLst/>
            <a:cxnLst>
              <a:cxn ang="0">
                <a:pos x="567692" y="215899"/>
              </a:cxn>
              <a:cxn ang="0">
                <a:pos x="0" y="215899"/>
              </a:cxn>
              <a:cxn ang="0">
                <a:pos x="0" y="0"/>
              </a:cxn>
              <a:cxn ang="0">
                <a:pos x="567692" y="0"/>
              </a:cxn>
              <a:cxn ang="0">
                <a:pos x="567692" y="215899"/>
              </a:cxn>
            </a:cxnLst>
            <a:rect l="0" t="0" r="0" b="0"/>
            <a:pathLst>
              <a:path w="568959" h="215900">
                <a:moveTo>
                  <a:pt x="568959" y="215899"/>
                </a:moveTo>
                <a:lnTo>
                  <a:pt x="0" y="215899"/>
                </a:lnTo>
                <a:lnTo>
                  <a:pt x="0" y="0"/>
                </a:lnTo>
                <a:lnTo>
                  <a:pt x="568959" y="0"/>
                </a:lnTo>
                <a:lnTo>
                  <a:pt x="568959" y="215899"/>
                </a:lnTo>
                <a:close/>
              </a:path>
            </a:pathLst>
          </a:custGeom>
          <a:solidFill>
            <a:srgbClr val="FFC000">
              <a:alpha val="100000"/>
            </a:srgbClr>
          </a:solidFill>
          <a:ln w="9525">
            <a:noFill/>
          </a:ln>
        </p:spPr>
        <p:txBody>
          <a:bodyPr/>
          <a:lstStyle/>
          <a:p>
            <a:endParaRPr lang="en-US"/>
          </a:p>
        </p:txBody>
      </p:sp>
      <p:pic>
        <p:nvPicPr>
          <p:cNvPr id="3077" name="bg object 19"/>
          <p:cNvPicPr>
            <a:picLocks noChangeAspect="1"/>
          </p:cNvPicPr>
          <p:nvPr/>
        </p:nvPicPr>
        <p:blipFill>
          <a:blip r:embed="rId2"/>
          <a:stretch>
            <a:fillRect/>
          </a:stretch>
        </p:blipFill>
        <p:spPr>
          <a:xfrm>
            <a:off x="11506200" y="5956300"/>
            <a:ext cx="685800" cy="681038"/>
          </a:xfrm>
          <a:prstGeom prst="rect">
            <a:avLst/>
          </a:prstGeom>
          <a:noFill/>
          <a:ln w="9525">
            <a:noFill/>
          </a:ln>
        </p:spPr>
      </p:pic>
      <p:sp>
        <p:nvSpPr>
          <p:cNvPr id="3078" name="bg object 20"/>
          <p:cNvSpPr/>
          <p:nvPr/>
        </p:nvSpPr>
        <p:spPr>
          <a:xfrm>
            <a:off x="0" y="6642100"/>
            <a:ext cx="933450" cy="215900"/>
          </a:xfrm>
          <a:custGeom>
            <a:avLst/>
            <a:gdLst/>
            <a:ahLst/>
            <a:cxnLst>
              <a:cxn ang="0">
                <a:pos x="934084" y="217179"/>
              </a:cxn>
              <a:cxn ang="0">
                <a:pos x="0" y="217179"/>
              </a:cxn>
              <a:cxn ang="0">
                <a:pos x="0" y="0"/>
              </a:cxn>
              <a:cxn ang="0">
                <a:pos x="934084" y="0"/>
              </a:cxn>
              <a:cxn ang="0">
                <a:pos x="934084" y="217179"/>
              </a:cxn>
            </a:cxnLst>
            <a:rect l="0" t="0" r="0" b="0"/>
            <a:pathLst>
              <a:path w="932815" h="214629">
                <a:moveTo>
                  <a:pt x="932814" y="214629"/>
                </a:moveTo>
                <a:lnTo>
                  <a:pt x="0" y="214629"/>
                </a:lnTo>
                <a:lnTo>
                  <a:pt x="0" y="0"/>
                </a:lnTo>
                <a:lnTo>
                  <a:pt x="932814" y="0"/>
                </a:lnTo>
                <a:lnTo>
                  <a:pt x="932814" y="214629"/>
                </a:lnTo>
                <a:close/>
              </a:path>
            </a:pathLst>
          </a:custGeom>
          <a:solidFill>
            <a:srgbClr val="C55A11">
              <a:alpha val="100000"/>
            </a:srgbClr>
          </a:solidFill>
          <a:ln w="9525">
            <a:noFill/>
          </a:ln>
        </p:spPr>
        <p:txBody>
          <a:bodyPr/>
          <a:lstStyle/>
          <a:p>
            <a:endParaRPr lang="en-US"/>
          </a:p>
        </p:txBody>
      </p:sp>
      <p:sp>
        <p:nvSpPr>
          <p:cNvPr id="3079" name="bg object 21"/>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18" name="Holder 2"/>
          <p:cNvSpPr>
            <a:spLocks noGrp="1"/>
          </p:cNvSpPr>
          <p:nvPr>
            <p:ph type="ftr" sz="quarter" idx="3"/>
          </p:nvPr>
        </p:nvSpPr>
        <p:spPr>
          <a:xfrm>
            <a:off x="149225" y="6629400"/>
            <a:ext cx="635000"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19" name="Holder 3"/>
          <p:cNvSpPr>
            <a:spLocks noGrp="1"/>
          </p:cNvSpPr>
          <p:nvPr>
            <p:ph type="dt" sz="half" idx="2"/>
          </p:nvPr>
        </p:nvSpPr>
        <p:spPr>
          <a:xfrm>
            <a:off x="1773238" y="6629400"/>
            <a:ext cx="3662363"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20" name="Holder 4"/>
          <p:cNvSpPr>
            <a:spLocks noGrp="1"/>
          </p:cNvSpPr>
          <p:nvPr>
            <p:ph type="sldNum" sz="quarter" idx="4"/>
          </p:nvPr>
        </p:nvSpPr>
        <p:spPr>
          <a:xfrm>
            <a:off x="11793538" y="6629400"/>
            <a:ext cx="228600" cy="250825"/>
          </a:xfrm>
          <a:prstGeom prst="rect">
            <a:avLst/>
          </a:prstGeom>
        </p:spPr>
        <p:txBody>
          <a:bodyPr wrap="square" lIns="0" tIns="0" rIns="0" bIns="0">
            <a:spAutoFit/>
          </a:bodyPr>
          <a:lstStyle>
            <a:lvl1pPr>
              <a:defRPr sz="1600" b="1" i="0">
                <a:solidFill>
                  <a:srgbClr val="002060"/>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fld id="{5D07E84F-3EC1-4B76-8752-AC3007DD468D}"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bg object 16"/>
          <p:cNvSpPr/>
          <p:nvPr/>
        </p:nvSpPr>
        <p:spPr>
          <a:xfrm>
            <a:off x="933450" y="6642100"/>
            <a:ext cx="5497513" cy="215900"/>
          </a:xfrm>
          <a:custGeom>
            <a:avLst/>
            <a:gdLst/>
            <a:ahLst/>
            <a:cxnLst>
              <a:cxn ang="0">
                <a:pos x="0" y="216189"/>
              </a:cxn>
              <a:cxn ang="0">
                <a:pos x="5496320" y="216189"/>
              </a:cxn>
              <a:cxn ang="0">
                <a:pos x="5496320" y="0"/>
              </a:cxn>
              <a:cxn ang="0">
                <a:pos x="0" y="0"/>
              </a:cxn>
              <a:cxn ang="0">
                <a:pos x="0" y="216189"/>
              </a:cxn>
            </a:cxnLst>
            <a:rect l="0" t="0" r="0" b="0"/>
            <a:pathLst>
              <a:path w="5498465" h="215265">
                <a:moveTo>
                  <a:pt x="0" y="214919"/>
                </a:moveTo>
                <a:lnTo>
                  <a:pt x="5498224" y="214919"/>
                </a:lnTo>
                <a:lnTo>
                  <a:pt x="5498224" y="0"/>
                </a:lnTo>
                <a:lnTo>
                  <a:pt x="0" y="0"/>
                </a:lnTo>
                <a:lnTo>
                  <a:pt x="0" y="214919"/>
                </a:lnTo>
                <a:close/>
              </a:path>
            </a:pathLst>
          </a:custGeom>
          <a:solidFill>
            <a:srgbClr val="002060">
              <a:alpha val="100000"/>
            </a:srgbClr>
          </a:solidFill>
          <a:ln w="9525">
            <a:noFill/>
          </a:ln>
        </p:spPr>
        <p:txBody>
          <a:bodyPr/>
          <a:lstStyle/>
          <a:p>
            <a:endParaRPr lang="en-US"/>
          </a:p>
        </p:txBody>
      </p:sp>
      <p:sp>
        <p:nvSpPr>
          <p:cNvPr id="1027" name="bg object 17"/>
          <p:cNvSpPr/>
          <p:nvPr/>
        </p:nvSpPr>
        <p:spPr>
          <a:xfrm>
            <a:off x="6430963" y="6642100"/>
            <a:ext cx="5192712" cy="215900"/>
          </a:xfrm>
          <a:custGeom>
            <a:avLst/>
            <a:gdLst/>
            <a:ahLst/>
            <a:cxnLst>
              <a:cxn ang="0">
                <a:pos x="0" y="215639"/>
              </a:cxn>
              <a:cxn ang="0">
                <a:pos x="5193545" y="215639"/>
              </a:cxn>
              <a:cxn ang="0">
                <a:pos x="5193545" y="0"/>
              </a:cxn>
              <a:cxn ang="0">
                <a:pos x="0" y="0"/>
              </a:cxn>
              <a:cxn ang="0">
                <a:pos x="0" y="215639"/>
              </a:cxn>
            </a:cxnLst>
            <a:rect l="0" t="0" r="0" b="0"/>
            <a:pathLst>
              <a:path w="5191759" h="215900">
                <a:moveTo>
                  <a:pt x="0" y="215639"/>
                </a:moveTo>
                <a:lnTo>
                  <a:pt x="5191639" y="215639"/>
                </a:lnTo>
                <a:lnTo>
                  <a:pt x="5191639" y="0"/>
                </a:lnTo>
                <a:lnTo>
                  <a:pt x="0" y="0"/>
                </a:lnTo>
                <a:lnTo>
                  <a:pt x="0" y="215639"/>
                </a:lnTo>
                <a:close/>
              </a:path>
            </a:pathLst>
          </a:custGeom>
          <a:solidFill>
            <a:srgbClr val="008080">
              <a:alpha val="100000"/>
            </a:srgbClr>
          </a:solidFill>
          <a:ln w="9525">
            <a:noFill/>
          </a:ln>
        </p:spPr>
        <p:txBody>
          <a:bodyPr/>
          <a:lstStyle/>
          <a:p>
            <a:endParaRPr lang="en-US"/>
          </a:p>
        </p:txBody>
      </p:sp>
      <p:sp>
        <p:nvSpPr>
          <p:cNvPr id="1028" name="bg object 18"/>
          <p:cNvSpPr/>
          <p:nvPr/>
        </p:nvSpPr>
        <p:spPr>
          <a:xfrm>
            <a:off x="11623675" y="6642100"/>
            <a:ext cx="568325" cy="215900"/>
          </a:xfrm>
          <a:custGeom>
            <a:avLst/>
            <a:gdLst/>
            <a:ahLst/>
            <a:cxnLst>
              <a:cxn ang="0">
                <a:pos x="567692" y="215899"/>
              </a:cxn>
              <a:cxn ang="0">
                <a:pos x="0" y="215899"/>
              </a:cxn>
              <a:cxn ang="0">
                <a:pos x="0" y="0"/>
              </a:cxn>
              <a:cxn ang="0">
                <a:pos x="567692" y="0"/>
              </a:cxn>
              <a:cxn ang="0">
                <a:pos x="567692" y="215899"/>
              </a:cxn>
            </a:cxnLst>
            <a:rect l="0" t="0" r="0" b="0"/>
            <a:pathLst>
              <a:path w="568959" h="215900">
                <a:moveTo>
                  <a:pt x="568959" y="215899"/>
                </a:moveTo>
                <a:lnTo>
                  <a:pt x="0" y="215899"/>
                </a:lnTo>
                <a:lnTo>
                  <a:pt x="0" y="0"/>
                </a:lnTo>
                <a:lnTo>
                  <a:pt x="568959" y="0"/>
                </a:lnTo>
                <a:lnTo>
                  <a:pt x="568959" y="215899"/>
                </a:lnTo>
                <a:close/>
              </a:path>
            </a:pathLst>
          </a:custGeom>
          <a:solidFill>
            <a:srgbClr val="FFC000">
              <a:alpha val="100000"/>
            </a:srgbClr>
          </a:solidFill>
          <a:ln w="9525">
            <a:noFill/>
          </a:ln>
        </p:spPr>
        <p:txBody>
          <a:bodyPr/>
          <a:lstStyle/>
          <a:p>
            <a:endParaRPr lang="en-US"/>
          </a:p>
        </p:txBody>
      </p:sp>
      <p:pic>
        <p:nvPicPr>
          <p:cNvPr id="1029" name="bg object 19"/>
          <p:cNvPicPr>
            <a:picLocks noChangeAspect="1"/>
          </p:cNvPicPr>
          <p:nvPr/>
        </p:nvPicPr>
        <p:blipFill>
          <a:blip r:embed="rId7"/>
          <a:stretch>
            <a:fillRect/>
          </a:stretch>
        </p:blipFill>
        <p:spPr>
          <a:xfrm>
            <a:off x="11506200" y="5956300"/>
            <a:ext cx="685800" cy="681038"/>
          </a:xfrm>
          <a:prstGeom prst="rect">
            <a:avLst/>
          </a:prstGeom>
          <a:noFill/>
          <a:ln w="9525">
            <a:noFill/>
          </a:ln>
        </p:spPr>
      </p:pic>
      <p:sp>
        <p:nvSpPr>
          <p:cNvPr id="1030" name="bg object 20"/>
          <p:cNvSpPr/>
          <p:nvPr/>
        </p:nvSpPr>
        <p:spPr>
          <a:xfrm>
            <a:off x="0" y="6642100"/>
            <a:ext cx="933450" cy="215900"/>
          </a:xfrm>
          <a:custGeom>
            <a:avLst/>
            <a:gdLst/>
            <a:ahLst/>
            <a:cxnLst>
              <a:cxn ang="0">
                <a:pos x="934084" y="217179"/>
              </a:cxn>
              <a:cxn ang="0">
                <a:pos x="0" y="217179"/>
              </a:cxn>
              <a:cxn ang="0">
                <a:pos x="0" y="0"/>
              </a:cxn>
              <a:cxn ang="0">
                <a:pos x="934084" y="0"/>
              </a:cxn>
              <a:cxn ang="0">
                <a:pos x="934084" y="217179"/>
              </a:cxn>
            </a:cxnLst>
            <a:rect l="0" t="0" r="0" b="0"/>
            <a:pathLst>
              <a:path w="932815" h="214629">
                <a:moveTo>
                  <a:pt x="932814" y="214629"/>
                </a:moveTo>
                <a:lnTo>
                  <a:pt x="0" y="214629"/>
                </a:lnTo>
                <a:lnTo>
                  <a:pt x="0" y="0"/>
                </a:lnTo>
                <a:lnTo>
                  <a:pt x="932814" y="0"/>
                </a:lnTo>
                <a:lnTo>
                  <a:pt x="932814" y="214629"/>
                </a:lnTo>
                <a:close/>
              </a:path>
            </a:pathLst>
          </a:custGeom>
          <a:solidFill>
            <a:srgbClr val="C55A11">
              <a:alpha val="100000"/>
            </a:srgbClr>
          </a:solidFill>
          <a:ln w="9525">
            <a:noFill/>
          </a:ln>
        </p:spPr>
        <p:txBody>
          <a:bodyPr/>
          <a:lstStyle/>
          <a:p>
            <a:endParaRPr lang="en-US"/>
          </a:p>
        </p:txBody>
      </p:sp>
      <p:sp>
        <p:nvSpPr>
          <p:cNvPr id="1031" name="Holder 2"/>
          <p:cNvSpPr>
            <a:spLocks noGrp="1"/>
          </p:cNvSpPr>
          <p:nvPr>
            <p:ph type="title"/>
          </p:nvPr>
        </p:nvSpPr>
        <p:spPr>
          <a:xfrm>
            <a:off x="73025" y="182563"/>
            <a:ext cx="4738688" cy="695325"/>
          </a:xfrm>
          <a:prstGeom prst="rect">
            <a:avLst/>
          </a:prstGeom>
          <a:noFill/>
          <a:ln w="9525">
            <a:noFill/>
          </a:ln>
        </p:spPr>
        <p:txBody>
          <a:bodyPr lIns="0" tIns="0" rIns="0" bIns="0">
            <a:spAutoFit/>
          </a:bodyPr>
          <a:lstStyle/>
          <a:p>
            <a:pPr lvl="0"/>
            <a:endParaRPr lang="en-US" altLang="en-US" dirty="0"/>
          </a:p>
        </p:txBody>
      </p:sp>
      <p:sp>
        <p:nvSpPr>
          <p:cNvPr id="1032" name="Holder 3"/>
          <p:cNvSpPr>
            <a:spLocks noGrp="1"/>
          </p:cNvSpPr>
          <p:nvPr>
            <p:ph type="body" idx="1"/>
          </p:nvPr>
        </p:nvSpPr>
        <p:spPr>
          <a:xfrm>
            <a:off x="236538" y="1074738"/>
            <a:ext cx="11347450" cy="3136900"/>
          </a:xfrm>
          <a:prstGeom prst="rect">
            <a:avLst/>
          </a:prstGeom>
          <a:noFill/>
          <a:ln w="9525">
            <a:noFill/>
          </a:ln>
        </p:spPr>
        <p:txBody>
          <a:bodyPr lIns="0" tIns="0" rIns="0" bIns="0">
            <a:spAutoFit/>
          </a:bodyPr>
          <a:lstStyle/>
          <a:p>
            <a:pPr lvl="0"/>
            <a:endParaRPr lang="en-US" altLang="en-US" dirty="0"/>
          </a:p>
        </p:txBody>
      </p:sp>
      <p:sp>
        <p:nvSpPr>
          <p:cNvPr id="4" name="Holder 4"/>
          <p:cNvSpPr>
            <a:spLocks noGrp="1"/>
          </p:cNvSpPr>
          <p:nvPr>
            <p:ph type="ftr" sz="quarter" idx="5"/>
          </p:nvPr>
        </p:nvSpPr>
        <p:spPr>
          <a:xfrm>
            <a:off x="149225" y="6629400"/>
            <a:ext cx="635000" cy="250825"/>
          </a:xfrm>
          <a:prstGeom prst="rect">
            <a:avLst/>
          </a:prstGeom>
        </p:spPr>
        <p:txBody>
          <a:bodyPr wrap="square" lIns="0" tIns="0" rIns="0" bIns="0">
            <a:spAutoFit/>
          </a:bodyPr>
          <a:lstStyle>
            <a:lvl1pPr marL="12700" eaLnBrk="1" fontAlgn="auto" hangingPunct="1">
              <a:lnSpc>
                <a:spcPts val="1845"/>
              </a:lnSpc>
              <a:spcBef>
                <a:spcPts val="0"/>
              </a:spcBef>
              <a:spcAft>
                <a:spcPts val="0"/>
              </a:spcAft>
              <a:defRPr sz="1600" b="0" i="0" kern="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5" name="Holder 5"/>
          <p:cNvSpPr>
            <a:spLocks noGrp="1"/>
          </p:cNvSpPr>
          <p:nvPr>
            <p:ph type="dt" sz="half" idx="6"/>
          </p:nvPr>
        </p:nvSpPr>
        <p:spPr>
          <a:xfrm>
            <a:off x="1773238" y="6629400"/>
            <a:ext cx="3662363" cy="250825"/>
          </a:xfrm>
          <a:prstGeom prst="rect">
            <a:avLst/>
          </a:prstGeom>
        </p:spPr>
        <p:txBody>
          <a:bodyPr wrap="square" lIns="0" tIns="0" rIns="0" bIns="0">
            <a:spAutoFit/>
          </a:bodyPr>
          <a:lstStyle>
            <a:lvl1pPr marL="12700" eaLnBrk="1" fontAlgn="auto" hangingPunct="1">
              <a:lnSpc>
                <a:spcPts val="1845"/>
              </a:lnSpc>
              <a:spcBef>
                <a:spcPts val="0"/>
              </a:spcBef>
              <a:spcAft>
                <a:spcPts val="0"/>
              </a:spcAft>
              <a:defRPr sz="1600" b="0" i="0" kern="0" cap="small" spc="-75">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6" name="Holder 6"/>
          <p:cNvSpPr>
            <a:spLocks noGrp="1"/>
          </p:cNvSpPr>
          <p:nvPr>
            <p:ph type="sldNum" sz="quarter" idx="7"/>
          </p:nvPr>
        </p:nvSpPr>
        <p:spPr>
          <a:xfrm>
            <a:off x="11793538" y="6629400"/>
            <a:ext cx="228600" cy="250825"/>
          </a:xfrm>
          <a:prstGeom prst="rect">
            <a:avLst/>
          </a:prstGeom>
        </p:spPr>
        <p:txBody>
          <a:bodyPr wrap="square" lIns="0" tIns="0" rIns="0" bIns="0">
            <a:spAutoFit/>
          </a:bodyPr>
          <a:lstStyle>
            <a:lvl1pPr marL="12700" eaLnBrk="1" fontAlgn="auto" hangingPunct="1">
              <a:lnSpc>
                <a:spcPts val="1845"/>
              </a:lnSpc>
              <a:spcBef>
                <a:spcPts val="0"/>
              </a:spcBef>
              <a:spcAft>
                <a:spcPts val="0"/>
              </a:spcAft>
              <a:defRPr sz="1600" b="1" i="0" kern="0" spc="-25">
                <a:solidFill>
                  <a:srgbClr val="002060"/>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anose="020F0502020204030204" pitchFamily="34" charset="0"/>
        </a:defRPr>
      </a:lvl2pPr>
      <a:lvl3pPr algn="ctr" rtl="0" eaLnBrk="0" fontAlgn="base" hangingPunct="0">
        <a:spcBef>
          <a:spcPct val="0"/>
        </a:spcBef>
        <a:spcAft>
          <a:spcPct val="0"/>
        </a:spcAft>
        <a:defRPr>
          <a:solidFill>
            <a:schemeClr val="tx2"/>
          </a:solidFill>
          <a:latin typeface="Calibri" panose="020F0502020204030204" pitchFamily="34" charset="0"/>
        </a:defRPr>
      </a:lvl3pPr>
      <a:lvl4pPr algn="ctr" rtl="0" eaLnBrk="0" fontAlgn="base" hangingPunct="0">
        <a:spcBef>
          <a:spcPct val="0"/>
        </a:spcBef>
        <a:spcAft>
          <a:spcPct val="0"/>
        </a:spcAft>
        <a:defRPr>
          <a:solidFill>
            <a:schemeClr val="tx2"/>
          </a:solidFill>
          <a:latin typeface="Calibri" panose="020F0502020204030204" pitchFamily="34" charset="0"/>
        </a:defRPr>
      </a:lvl4pPr>
      <a:lvl5pPr algn="ctr" rtl="0" eaLnBrk="0" fontAlgn="base" hangingPunct="0">
        <a:spcBef>
          <a:spcPct val="0"/>
        </a:spcBef>
        <a:spcAft>
          <a:spcPct val="0"/>
        </a:spcAft>
        <a:defRPr>
          <a:solidFill>
            <a:schemeClr val="tx2"/>
          </a:solidFill>
          <a:latin typeface="Calibri" panose="020F0502020204030204" pitchFamily="34" charset="0"/>
        </a:defRPr>
      </a:lvl5pPr>
      <a:lvl6pPr marL="457200" algn="ctr" rtl="0" eaLnBrk="0" fontAlgn="base" hangingPunct="0">
        <a:spcBef>
          <a:spcPct val="0"/>
        </a:spcBef>
        <a:spcAft>
          <a:spcPct val="0"/>
        </a:spcAft>
        <a:defRPr>
          <a:solidFill>
            <a:schemeClr val="tx2"/>
          </a:solidFill>
          <a:latin typeface="Calibri" panose="020F0502020204030204" pitchFamily="34" charset="0"/>
        </a:defRPr>
      </a:lvl6pPr>
      <a:lvl7pPr marL="914400" algn="ctr" rtl="0" eaLnBrk="0" fontAlgn="base" hangingPunct="0">
        <a:spcBef>
          <a:spcPct val="0"/>
        </a:spcBef>
        <a:spcAft>
          <a:spcPct val="0"/>
        </a:spcAft>
        <a:defRPr>
          <a:solidFill>
            <a:schemeClr val="tx2"/>
          </a:solidFill>
          <a:latin typeface="Calibri" panose="020F0502020204030204" pitchFamily="34" charset="0"/>
        </a:defRPr>
      </a:lvl7pPr>
      <a:lvl8pPr marL="1371600" algn="ctr" rtl="0" eaLnBrk="0" fontAlgn="base" hangingPunct="0">
        <a:spcBef>
          <a:spcPct val="0"/>
        </a:spcBef>
        <a:spcAft>
          <a:spcPct val="0"/>
        </a:spcAft>
        <a:defRPr>
          <a:solidFill>
            <a:schemeClr val="tx2"/>
          </a:solidFill>
          <a:latin typeface="Calibri" panose="020F0502020204030204" pitchFamily="34" charset="0"/>
        </a:defRPr>
      </a:lvl8pPr>
      <a:lvl9pPr marL="1828800" algn="ctr" rtl="0" eaLnBrk="0" fontAlgn="base" hangingPunct="0">
        <a:spcBef>
          <a:spcPct val="0"/>
        </a:spcBef>
        <a:spcAft>
          <a:spcPct val="0"/>
        </a:spcAft>
        <a:defRPr>
          <a:solidFill>
            <a:schemeClr val="tx2"/>
          </a:solidFill>
          <a:latin typeface="Calibri" panose="020F0502020204030204" pitchFamily="34" charset="0"/>
        </a:defRPr>
      </a:lvl9pPr>
    </p:titleStyle>
    <p:bodyStyle>
      <a:lvl1pPr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s://github.com/DNehaAnjum/CSE-2022-26-Batch-A8" TargetMode="External"/><Relationship Id="rId4" Type="http://schemas.openxmlformats.org/officeDocument/2006/relationships/hyperlink" Target="https://github.com/tharun00123/CSE-2022-26-Batch-A8"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146" name="object 2"/>
          <p:cNvGrpSpPr/>
          <p:nvPr/>
        </p:nvGrpSpPr>
        <p:grpSpPr>
          <a:xfrm>
            <a:off x="777875" y="6603032"/>
            <a:ext cx="11414125" cy="252412"/>
            <a:chOff x="777240" y="6603365"/>
            <a:chExt cx="11414760" cy="252055"/>
          </a:xfrm>
        </p:grpSpPr>
        <p:sp>
          <p:nvSpPr>
            <p:cNvPr id="6160" name="object 3"/>
            <p:cNvSpPr/>
            <p:nvPr/>
          </p:nvSpPr>
          <p:spPr>
            <a:xfrm>
              <a:off x="777240" y="6604332"/>
              <a:ext cx="5781675" cy="251087"/>
            </a:xfrm>
            <a:custGeom>
              <a:avLst/>
              <a:gdLst/>
              <a:ahLst/>
              <a:cxnLst>
                <a:cxn ang="0">
                  <a:pos x="5781599" y="220679"/>
                </a:cxn>
                <a:cxn ang="0">
                  <a:pos x="0" y="220679"/>
                </a:cxn>
                <a:cxn ang="0">
                  <a:pos x="0" y="0"/>
                </a:cxn>
                <a:cxn ang="0">
                  <a:pos x="5781599" y="0"/>
                </a:cxn>
                <a:cxn ang="0">
                  <a:pos x="5781599" y="220679"/>
                </a:cxn>
              </a:cxnLst>
              <a:rect l="0" t="0" r="0" b="0"/>
              <a:pathLst>
                <a:path w="5781675" h="220979">
                  <a:moveTo>
                    <a:pt x="5781599" y="220679"/>
                  </a:moveTo>
                  <a:lnTo>
                    <a:pt x="0" y="220679"/>
                  </a:lnTo>
                  <a:lnTo>
                    <a:pt x="0" y="0"/>
                  </a:lnTo>
                  <a:lnTo>
                    <a:pt x="5781599" y="0"/>
                  </a:lnTo>
                  <a:lnTo>
                    <a:pt x="5781599" y="220679"/>
                  </a:lnTo>
                  <a:close/>
                </a:path>
              </a:pathLst>
            </a:custGeom>
            <a:solidFill>
              <a:srgbClr val="002060">
                <a:alpha val="100000"/>
              </a:srgbClr>
            </a:solidFill>
            <a:ln w="9525">
              <a:noFill/>
            </a:ln>
          </p:spPr>
          <p:txBody>
            <a:bodyPr/>
            <a:lstStyle/>
            <a:p>
              <a:r>
                <a:rPr lang="en-US" altLang="zh-CN" dirty="0">
                  <a:solidFill>
                    <a:schemeClr val="bg1"/>
                  </a:solidFill>
                  <a:latin typeface="Times New Roman" panose="02020603050405020304" pitchFamily="18" charset="0"/>
                  <a:cs typeface="Times New Roman" panose="02020603050405020304" pitchFamily="18" charset="0"/>
                </a:rPr>
                <a:t>         </a:t>
              </a:r>
              <a:r>
                <a:rPr lang="en-US" altLang="zh-CN" sz="1600" dirty="0">
                  <a:solidFill>
                    <a:schemeClr val="bg1"/>
                  </a:solidFill>
                  <a:latin typeface="Times New Roman" panose="02020603050405020304" pitchFamily="18" charset="0"/>
                  <a:cs typeface="Times New Roman" panose="02020603050405020304" pitchFamily="18" charset="0"/>
                </a:rPr>
                <a:t>DEPT. OF COMPUTER SCIENCE AND</a:t>
              </a:r>
              <a:r>
                <a:rPr lang="en-US" sz="1600" dirty="0">
                  <a:solidFill>
                    <a:schemeClr val="bg1"/>
                  </a:solidFill>
                  <a:latin typeface="Times New Roman" panose="02020603050405020304" pitchFamily="18" charset="0"/>
                  <a:cs typeface="Times New Roman" panose="02020603050405020304" pitchFamily="18" charset="0"/>
                </a:rPr>
                <a:t> </a:t>
              </a:r>
              <a:r>
                <a:rPr lang="en-US" altLang="zh-CN" sz="1600" dirty="0">
                  <a:solidFill>
                    <a:schemeClr val="bg1"/>
                  </a:solidFill>
                  <a:latin typeface="Times New Roman" panose="02020603050405020304" pitchFamily="18" charset="0"/>
                  <a:cs typeface="Times New Roman" panose="02020603050405020304" pitchFamily="18" charset="0"/>
                </a:rPr>
                <a:t>ENGINEERING</a:t>
              </a:r>
              <a:endParaRPr lang="en-US" altLang="zh-CN" sz="1600" dirty="0">
                <a:solidFill>
                  <a:schemeClr val="bg1"/>
                </a:solidFill>
                <a:latin typeface="Times New Roman" panose="02020603050405020304" pitchFamily="18" charset="0"/>
                <a:ea typeface="Times New Roman" panose="02020603050405020304" pitchFamily="18" charset="0"/>
              </a:endParaRPr>
            </a:p>
            <a:p>
              <a:endParaRPr lang="en-US" dirty="0"/>
            </a:p>
          </p:txBody>
        </p:sp>
        <p:sp>
          <p:nvSpPr>
            <p:cNvPr id="6161" name="object 4"/>
            <p:cNvSpPr/>
            <p:nvPr/>
          </p:nvSpPr>
          <p:spPr>
            <a:xfrm>
              <a:off x="6559199" y="6604322"/>
              <a:ext cx="5194935" cy="251097"/>
            </a:xfrm>
            <a:custGeom>
              <a:avLst/>
              <a:gdLst/>
              <a:ahLst/>
              <a:cxnLst>
                <a:cxn ang="0">
                  <a:pos x="5194801" y="220679"/>
                </a:cxn>
                <a:cxn ang="0">
                  <a:pos x="0" y="220679"/>
                </a:cxn>
                <a:cxn ang="0">
                  <a:pos x="0" y="0"/>
                </a:cxn>
                <a:cxn ang="0">
                  <a:pos x="5194801" y="0"/>
                </a:cxn>
                <a:cxn ang="0">
                  <a:pos x="5194801" y="220679"/>
                </a:cxn>
              </a:cxnLst>
              <a:rect l="0" t="0" r="0" b="0"/>
              <a:pathLst>
                <a:path w="5194934" h="220979">
                  <a:moveTo>
                    <a:pt x="5194799" y="220679"/>
                  </a:moveTo>
                  <a:lnTo>
                    <a:pt x="0" y="220679"/>
                  </a:lnTo>
                  <a:lnTo>
                    <a:pt x="0" y="0"/>
                  </a:lnTo>
                  <a:lnTo>
                    <a:pt x="5194799" y="0"/>
                  </a:lnTo>
                  <a:lnTo>
                    <a:pt x="5194799" y="220679"/>
                  </a:lnTo>
                  <a:close/>
                </a:path>
              </a:pathLst>
            </a:custGeom>
            <a:solidFill>
              <a:srgbClr val="008080">
                <a:alpha val="100000"/>
              </a:srgbClr>
            </a:solidFill>
            <a:ln w="9525">
              <a:noFill/>
            </a:ln>
          </p:spPr>
          <p:txBody>
            <a:bodyPr/>
            <a:lstStyle/>
            <a:p>
              <a:r>
                <a:rPr lang="en-US" kern="0" cap="small" spc="-105" dirty="0">
                  <a:solidFill>
                    <a:srgbClr val="FFFFFF"/>
                  </a:solidFill>
                  <a:latin typeface="Times New Roman" panose="02020603050405020304"/>
                  <a:cs typeface="Times New Roman" panose="02020603050405020304"/>
                </a:rPr>
                <a:t>         Srinivasa</a:t>
              </a:r>
              <a:r>
                <a:rPr lang="en-US" kern="0" cap="small" spc="70" dirty="0">
                  <a:solidFill>
                    <a:srgbClr val="FFFFFF"/>
                  </a:solidFill>
                  <a:latin typeface="Times New Roman" panose="02020603050405020304"/>
                  <a:cs typeface="Times New Roman" panose="02020603050405020304"/>
                </a:rPr>
                <a:t> </a:t>
              </a:r>
              <a:r>
                <a:rPr lang="en-US" kern="0" cap="small" spc="-120" dirty="0">
                  <a:solidFill>
                    <a:srgbClr val="FFFFFF"/>
                  </a:solidFill>
                  <a:latin typeface="Times New Roman" panose="02020603050405020304"/>
                  <a:cs typeface="Times New Roman" panose="02020603050405020304"/>
                </a:rPr>
                <a:t>Ramanujan</a:t>
              </a:r>
              <a:r>
                <a:rPr lang="en-US" kern="0" cap="small" spc="75" dirty="0">
                  <a:solidFill>
                    <a:srgbClr val="FFFFFF"/>
                  </a:solidFill>
                  <a:latin typeface="Times New Roman" panose="02020603050405020304"/>
                  <a:cs typeface="Times New Roman" panose="02020603050405020304"/>
                </a:rPr>
                <a:t> </a:t>
              </a:r>
              <a:r>
                <a:rPr lang="en-US" kern="0" cap="small" spc="-110" dirty="0">
                  <a:solidFill>
                    <a:srgbClr val="FFFFFF"/>
                  </a:solidFill>
                  <a:latin typeface="Times New Roman" panose="02020603050405020304"/>
                  <a:cs typeface="Times New Roman" panose="02020603050405020304"/>
                </a:rPr>
                <a:t>Institute</a:t>
              </a:r>
              <a:r>
                <a:rPr lang="en-US" kern="0" cap="small" spc="75" dirty="0">
                  <a:solidFill>
                    <a:srgbClr val="FFFFFF"/>
                  </a:solidFill>
                  <a:latin typeface="Times New Roman" panose="02020603050405020304"/>
                  <a:cs typeface="Times New Roman" panose="02020603050405020304"/>
                </a:rPr>
                <a:t> </a:t>
              </a:r>
              <a:r>
                <a:rPr lang="en-US" kern="0" cap="small" spc="-100" dirty="0">
                  <a:solidFill>
                    <a:srgbClr val="FFFFFF"/>
                  </a:solidFill>
                  <a:latin typeface="Times New Roman" panose="02020603050405020304"/>
                  <a:cs typeface="Times New Roman" panose="02020603050405020304"/>
                </a:rPr>
                <a:t>of</a:t>
              </a:r>
              <a:r>
                <a:rPr lang="en-US" kern="0" cap="small" spc="75" dirty="0">
                  <a:solidFill>
                    <a:srgbClr val="FFFFFF"/>
                  </a:solidFill>
                  <a:latin typeface="Times New Roman" panose="02020603050405020304"/>
                  <a:cs typeface="Times New Roman" panose="02020603050405020304"/>
                </a:rPr>
                <a:t> </a:t>
              </a:r>
              <a:r>
                <a:rPr lang="en-US" kern="0" cap="small" spc="-140" dirty="0">
                  <a:solidFill>
                    <a:srgbClr val="FFFFFF"/>
                  </a:solidFill>
                  <a:latin typeface="Times New Roman" panose="02020603050405020304"/>
                  <a:cs typeface="Times New Roman" panose="02020603050405020304"/>
                </a:rPr>
                <a:t>Technology</a:t>
              </a:r>
              <a:endParaRPr lang="en-US" kern="0" dirty="0">
                <a:solidFill>
                  <a:sysClr val="windowText" lastClr="000000"/>
                </a:solidFill>
                <a:latin typeface="Times New Roman" panose="02020603050405020304"/>
                <a:cs typeface="Times New Roman" panose="02020603050405020304"/>
              </a:endParaRPr>
            </a:p>
            <a:p>
              <a:endParaRPr lang="en-US" dirty="0"/>
            </a:p>
          </p:txBody>
        </p:sp>
        <p:sp>
          <p:nvSpPr>
            <p:cNvPr id="6162" name="object 5"/>
            <p:cNvSpPr/>
            <p:nvPr/>
          </p:nvSpPr>
          <p:spPr>
            <a:xfrm>
              <a:off x="11754359" y="6603365"/>
              <a:ext cx="437641" cy="252055"/>
            </a:xfrm>
            <a:custGeom>
              <a:avLst/>
              <a:gdLst/>
              <a:ahLst/>
              <a:cxnLst>
                <a:cxn ang="0">
                  <a:pos x="437399" y="220679"/>
                </a:cxn>
                <a:cxn ang="0">
                  <a:pos x="0" y="220679"/>
                </a:cxn>
                <a:cxn ang="0">
                  <a:pos x="0" y="0"/>
                </a:cxn>
                <a:cxn ang="0">
                  <a:pos x="437399" y="0"/>
                </a:cxn>
                <a:cxn ang="0">
                  <a:pos x="437399" y="220679"/>
                </a:cxn>
              </a:cxnLst>
              <a:rect l="0" t="0" r="0" b="0"/>
              <a:pathLst>
                <a:path w="437515" h="220979">
                  <a:moveTo>
                    <a:pt x="437399" y="220679"/>
                  </a:moveTo>
                  <a:lnTo>
                    <a:pt x="0" y="220679"/>
                  </a:lnTo>
                  <a:lnTo>
                    <a:pt x="0" y="0"/>
                  </a:lnTo>
                  <a:lnTo>
                    <a:pt x="437399" y="0"/>
                  </a:lnTo>
                  <a:lnTo>
                    <a:pt x="437399" y="220679"/>
                  </a:lnTo>
                  <a:close/>
                </a:path>
              </a:pathLst>
            </a:custGeom>
            <a:solidFill>
              <a:srgbClr val="FFC000">
                <a:alpha val="100000"/>
              </a:srgbClr>
            </a:solidFill>
            <a:ln w="9525">
              <a:noFill/>
            </a:ln>
          </p:spPr>
          <p:txBody>
            <a:bodyPr/>
            <a:lstStyle/>
            <a:p>
              <a:r>
                <a:rPr lang="en-US" dirty="0"/>
                <a:t>  </a:t>
              </a:r>
              <a:r>
                <a:rPr lang="en-US" b="1" dirty="0"/>
                <a:t>1</a:t>
              </a:r>
            </a:p>
          </p:txBody>
        </p:sp>
      </p:grpSp>
      <p:sp>
        <p:nvSpPr>
          <p:cNvPr id="6147" name="object 6"/>
          <p:cNvSpPr/>
          <p:nvPr/>
        </p:nvSpPr>
        <p:spPr>
          <a:xfrm>
            <a:off x="0" y="-6350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r>
              <a:rPr lang="en-IN" dirty="0">
                <a:solidFill>
                  <a:schemeClr val="bg1"/>
                </a:solidFill>
                <a:latin typeface="Times New Roman" panose="02020603050405020304" pitchFamily="18" charset="0"/>
                <a:cs typeface="Times New Roman" panose="02020603050405020304" pitchFamily="18" charset="0"/>
              </a:rPr>
              <a:t>                                                                                        SRIT Intern Portal Hub</a:t>
            </a:r>
          </a:p>
          <a:p>
            <a:r>
              <a:rPr lang="en-US" dirty="0">
                <a:latin typeface="Times New Roman" panose="02020603050405020304" pitchFamily="18" charset="0"/>
                <a:cs typeface="Times New Roman" panose="02020603050405020304" pitchFamily="18" charset="0"/>
              </a:rPr>
              <a:t>  </a:t>
            </a:r>
          </a:p>
        </p:txBody>
      </p:sp>
      <p:sp>
        <p:nvSpPr>
          <p:cNvPr id="6148" name="object 7"/>
          <p:cNvSpPr/>
          <p:nvPr/>
        </p:nvSpPr>
        <p:spPr>
          <a:xfrm>
            <a:off x="0" y="6604000"/>
            <a:ext cx="777875" cy="252413"/>
          </a:xfrm>
          <a:custGeom>
            <a:avLst/>
            <a:gdLst/>
            <a:ahLst/>
            <a:cxnLst>
              <a:cxn ang="0">
                <a:pos x="778149" y="222307"/>
              </a:cxn>
              <a:cxn ang="0">
                <a:pos x="0" y="222307"/>
              </a:cxn>
              <a:cxn ang="0">
                <a:pos x="0" y="0"/>
              </a:cxn>
              <a:cxn ang="0">
                <a:pos x="778149" y="0"/>
              </a:cxn>
              <a:cxn ang="0">
                <a:pos x="778149" y="222307"/>
              </a:cxn>
            </a:cxnLst>
            <a:rect l="0" t="0" r="0" b="0"/>
            <a:pathLst>
              <a:path w="777240" h="221615">
                <a:moveTo>
                  <a:pt x="776879" y="221039"/>
                </a:moveTo>
                <a:lnTo>
                  <a:pt x="0" y="221039"/>
                </a:lnTo>
                <a:lnTo>
                  <a:pt x="0" y="0"/>
                </a:lnTo>
                <a:lnTo>
                  <a:pt x="776879" y="0"/>
                </a:lnTo>
                <a:lnTo>
                  <a:pt x="776879" y="221039"/>
                </a:lnTo>
                <a:close/>
              </a:path>
            </a:pathLst>
          </a:custGeom>
          <a:solidFill>
            <a:srgbClr val="C55A11">
              <a:alpha val="100000"/>
            </a:srgbClr>
          </a:solidFill>
          <a:ln w="9525">
            <a:noFill/>
          </a:ln>
        </p:spPr>
        <p:txBody>
          <a:bodyPr/>
          <a:lstStyle/>
          <a:p>
            <a:r>
              <a:rPr lang="en-US" dirty="0">
                <a:solidFill>
                  <a:schemeClr val="bg1"/>
                </a:solidFill>
              </a:rPr>
              <a:t>  </a:t>
            </a:r>
            <a:r>
              <a:rPr lang="en-IN" dirty="0">
                <a:solidFill>
                  <a:schemeClr val="bg1"/>
                </a:solidFill>
                <a:latin typeface="Times New Roman" panose="02020603050405020304" pitchFamily="18" charset="0"/>
                <a:cs typeface="Times New Roman" panose="02020603050405020304" pitchFamily="18" charset="0"/>
              </a:rPr>
              <a:t>A-8</a:t>
            </a:r>
            <a:endParaRPr lang="zh-CN" altLang="x-none" dirty="0">
              <a:solidFill>
                <a:schemeClr val="bg1"/>
              </a:solidFill>
              <a:latin typeface="Times New Roman" panose="02020603050405020304" pitchFamily="18" charset="0"/>
              <a:ea typeface="Times New Roman" panose="02020603050405020304" pitchFamily="18" charset="0"/>
            </a:endParaRPr>
          </a:p>
          <a:p>
            <a:r>
              <a:rPr lang="en-US" dirty="0"/>
              <a:t>  </a:t>
            </a:r>
          </a:p>
        </p:txBody>
      </p:sp>
      <p:sp>
        <p:nvSpPr>
          <p:cNvPr id="8" name="object 8"/>
          <p:cNvSpPr txBox="1"/>
          <p:nvPr/>
        </p:nvSpPr>
        <p:spPr>
          <a:xfrm>
            <a:off x="7727950" y="1760509"/>
            <a:ext cx="2635250" cy="528991"/>
          </a:xfrm>
          <a:prstGeom prst="rect">
            <a:avLst/>
          </a:prstGeom>
        </p:spPr>
        <p:txBody>
          <a:bodyPr wrap="square" lIns="0" tIns="13335" rIns="0" bIns="0">
            <a:spAutoFit/>
          </a:bodyPr>
          <a:lstStyle/>
          <a:p>
            <a:pPr algn="ctr" eaLnBrk="1" hangingPunct="1">
              <a:spcBef>
                <a:spcPts val="300"/>
              </a:spcBef>
              <a:buNone/>
            </a:pPr>
            <a:r>
              <a:rPr lang="en-IN" altLang="zh-CN" sz="2000" b="1" dirty="0">
                <a:solidFill>
                  <a:srgbClr val="000000"/>
                </a:solidFill>
                <a:latin typeface="Times New Roman" panose="02020603050405020304" pitchFamily="18" charset="0"/>
                <a:cs typeface="Times New Roman" panose="02020603050405020304" pitchFamily="18" charset="0"/>
              </a:rPr>
              <a:t>S. Mohammad Anees</a:t>
            </a:r>
            <a:endParaRPr lang="en-IN" altLang="zh-CN" sz="1100" dirty="0">
              <a:solidFill>
                <a:srgbClr val="000000"/>
              </a:solidFill>
              <a:latin typeface="Times New Roman" panose="02020603050405020304" pitchFamily="18" charset="0"/>
              <a:cs typeface="Times New Roman" panose="02020603050405020304" pitchFamily="18" charset="0"/>
            </a:endParaRPr>
          </a:p>
          <a:p>
            <a:pPr algn="ctr" eaLnBrk="1" hangingPunct="1">
              <a:spcBef>
                <a:spcPts val="300"/>
              </a:spcBef>
              <a:buNone/>
            </a:pPr>
            <a:r>
              <a:rPr lang="zh-CN" altLang="x-none" sz="1100" dirty="0">
                <a:solidFill>
                  <a:srgbClr val="000000"/>
                </a:solidFill>
                <a:latin typeface="Times New Roman" panose="02020603050405020304" pitchFamily="18" charset="0"/>
                <a:cs typeface="Times New Roman" panose="02020603050405020304" pitchFamily="18" charset="0"/>
              </a:rPr>
              <a:t>Roll No. </a:t>
            </a:r>
            <a:r>
              <a:rPr lang="en-IN" altLang="zh-CN" sz="1100" dirty="0">
                <a:solidFill>
                  <a:srgbClr val="000000"/>
                </a:solidFill>
                <a:latin typeface="Times New Roman" panose="02020603050405020304" pitchFamily="18" charset="0"/>
                <a:cs typeface="Times New Roman" panose="02020603050405020304" pitchFamily="18" charset="0"/>
              </a:rPr>
              <a:t>224G1A0553</a:t>
            </a:r>
            <a:endParaRPr lang="zh-CN" altLang="x-none" sz="1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6150" name="object 9"/>
          <p:cNvSpPr txBox="1"/>
          <p:nvPr/>
        </p:nvSpPr>
        <p:spPr>
          <a:xfrm>
            <a:off x="3657600" y="2312670"/>
            <a:ext cx="5181600" cy="1130935"/>
          </a:xfrm>
          <a:prstGeom prst="rect">
            <a:avLst/>
          </a:prstGeom>
          <a:noFill/>
          <a:ln w="9525">
            <a:noFill/>
          </a:ln>
        </p:spPr>
        <p:txBody>
          <a:bodyPr lIns="0" tIns="12700" rIns="0" bIns="0">
            <a:noAutofit/>
          </a:bodyPr>
          <a:lstStyle/>
          <a:p>
            <a:pPr algn="ctr" eaLnBrk="1" hangingPunct="1">
              <a:lnSpc>
                <a:spcPts val="1625"/>
              </a:lnSpc>
              <a:spcBef>
                <a:spcPts val="100"/>
              </a:spcBef>
            </a:pPr>
            <a:r>
              <a:rPr lang="en-US" altLang="en-US" sz="1600" i="1" dirty="0">
                <a:solidFill>
                  <a:srgbClr val="000000"/>
                </a:solidFill>
                <a:latin typeface="Times New Roman" panose="02020603050405020304" pitchFamily="18" charset="0"/>
                <a:cs typeface="Times New Roman" panose="02020603050405020304" pitchFamily="18" charset="0"/>
              </a:rPr>
              <a:t>Under the guidance of</a:t>
            </a:r>
            <a:endParaRPr lang="en-US" altLang="en-US" sz="1600" dirty="0">
              <a:solidFill>
                <a:srgbClr val="000000"/>
              </a:solidFill>
              <a:latin typeface="Times New Roman" panose="02020603050405020304" pitchFamily="18" charset="0"/>
              <a:cs typeface="Times New Roman" panose="02020603050405020304" pitchFamily="18" charset="0"/>
            </a:endParaRPr>
          </a:p>
          <a:p>
            <a:pPr algn="ctr" eaLnBrk="1" hangingPunct="1">
              <a:lnSpc>
                <a:spcPts val="2790"/>
              </a:lnSpc>
              <a:spcBef>
                <a:spcPts val="115"/>
              </a:spcBef>
            </a:pPr>
            <a:r>
              <a:rPr lang="en-US" altLang="en-US" sz="2000" b="1" dirty="0">
                <a:solidFill>
                  <a:srgbClr val="000000"/>
                </a:solidFill>
                <a:latin typeface="Times New Roman" panose="02020603050405020304" pitchFamily="18" charset="0"/>
                <a:cs typeface="Times New Roman" panose="02020603050405020304" pitchFamily="18" charset="0"/>
              </a:rPr>
              <a:t> </a:t>
            </a:r>
            <a:r>
              <a:rPr lang="en-IN"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 D. Rajesh Babu</a:t>
            </a:r>
            <a:r>
              <a:rPr lang="en-US" altLang="en-US" sz="2000" b="1" dirty="0">
                <a:solidFill>
                  <a:srgbClr val="000000"/>
                </a:solidFill>
                <a:latin typeface="Times New Roman" panose="02020603050405020304" pitchFamily="18" charset="0"/>
                <a:cs typeface="Times New Roman" panose="02020603050405020304" pitchFamily="18" charset="0"/>
              </a:rPr>
              <a:t> </a:t>
            </a:r>
            <a:r>
              <a:rPr lang="en-US" altLang="en-US" sz="2000" baseline="-25000" dirty="0">
                <a:solidFill>
                  <a:srgbClr val="000000"/>
                </a:solidFill>
                <a:latin typeface="Times New Roman" panose="02020603050405020304" pitchFamily="18" charset="0"/>
                <a:cs typeface="Times New Roman" panose="02020603050405020304" pitchFamily="18" charset="0"/>
              </a:rPr>
              <a:t>M.Tech.,</a:t>
            </a:r>
            <a:r>
              <a:rPr lang="en-US" altLang="en-US" sz="2000" dirty="0">
                <a:solidFill>
                  <a:srgbClr val="000000"/>
                </a:solidFill>
                <a:latin typeface="Times New Roman" panose="02020603050405020304" pitchFamily="18" charset="0"/>
                <a:cs typeface="Times New Roman" panose="02020603050405020304" pitchFamily="18" charset="0"/>
              </a:rPr>
              <a:t> </a:t>
            </a:r>
            <a:r>
              <a:rPr lang="en-US" altLang="en-US" sz="2000" baseline="-25000" dirty="0">
                <a:solidFill>
                  <a:srgbClr val="000000"/>
                </a:solidFill>
                <a:latin typeface="Times New Roman" panose="02020603050405020304" pitchFamily="18" charset="0"/>
                <a:cs typeface="Times New Roman" panose="02020603050405020304" pitchFamily="18" charset="0"/>
              </a:rPr>
              <a:t>(</a:t>
            </a:r>
            <a:r>
              <a:rPr lang="en-US" altLang="en-US" sz="2000" baseline="-25000" dirty="0" err="1">
                <a:solidFill>
                  <a:srgbClr val="000000"/>
                </a:solidFill>
                <a:latin typeface="Times New Roman" panose="02020603050405020304" pitchFamily="18" charset="0"/>
                <a:cs typeface="Times New Roman" panose="02020603050405020304" pitchFamily="18" charset="0"/>
              </a:rPr>
              <a:t>Ph</a:t>
            </a:r>
            <a:r>
              <a:rPr lang="en-US" altLang="en-US" sz="2000" baseline="-25000" dirty="0" err="1">
                <a:solidFill>
                  <a:srgbClr val="000000"/>
                </a:solidFill>
                <a:latin typeface="Arial" panose="020B0604020202020204" pitchFamily="34" charset="0"/>
              </a:rPr>
              <a:t>.D</a:t>
            </a:r>
            <a:r>
              <a:rPr lang="en-US" altLang="en-US" sz="2000" baseline="-25000" dirty="0">
                <a:solidFill>
                  <a:srgbClr val="000000"/>
                </a:solidFill>
                <a:latin typeface="Arial" panose="020B0604020202020204" pitchFamily="34" charset="0"/>
              </a:rPr>
              <a:t>)</a:t>
            </a:r>
          </a:p>
          <a:p>
            <a:pPr algn="ctr" eaLnBrk="1" hangingPunct="1">
              <a:lnSpc>
                <a:spcPts val="2790"/>
              </a:lnSpc>
              <a:spcBef>
                <a:spcPts val="115"/>
              </a:spcBef>
            </a:pPr>
            <a:r>
              <a:rPr lang="en-IN" altLang="en-US" sz="2000" baseline="-25000" dirty="0">
                <a:solidFill>
                  <a:srgbClr val="000000"/>
                </a:solidFill>
                <a:latin typeface="Arial" panose="020B0604020202020204" pitchFamily="34" charset="0"/>
              </a:rPr>
              <a:t>Associate Professor</a:t>
            </a:r>
            <a:endParaRPr lang="en-US" altLang="en-US" sz="2000" baseline="-25000" dirty="0">
              <a:solidFill>
                <a:srgbClr val="000000"/>
              </a:solidFill>
              <a:latin typeface="Arial" panose="020B0604020202020204" pitchFamily="34" charset="0"/>
            </a:endParaRPr>
          </a:p>
          <a:p>
            <a:pPr algn="ctr" eaLnBrk="1" hangingPunct="1">
              <a:lnSpc>
                <a:spcPts val="2790"/>
              </a:lnSpc>
              <a:spcBef>
                <a:spcPts val="115"/>
              </a:spcBef>
            </a:pPr>
            <a:endParaRPr lang="en-IN" altLang="en-US" sz="2000" dirty="0">
              <a:solidFill>
                <a:srgbClr val="000000"/>
              </a:solidFill>
              <a:latin typeface="Arial" panose="020B0604020202020204" pitchFamily="34" charset="0"/>
            </a:endParaRPr>
          </a:p>
          <a:p>
            <a:pPr algn="ctr" eaLnBrk="1" hangingPunct="1">
              <a:lnSpc>
                <a:spcPts val="2790"/>
              </a:lnSpc>
              <a:spcBef>
                <a:spcPts val="115"/>
              </a:spcBef>
            </a:pPr>
            <a:endParaRPr lang="en-US" altLang="en-US" sz="2400" dirty="0">
              <a:solidFill>
                <a:srgbClr val="000000"/>
              </a:solidFill>
              <a:latin typeface="Times New Roman" panose="02020603050405020304" pitchFamily="18" charset="0"/>
              <a:ea typeface="Times New Roman" panose="02020603050405020304" pitchFamily="18" charset="0"/>
            </a:endParaRPr>
          </a:p>
        </p:txBody>
      </p:sp>
      <p:sp>
        <p:nvSpPr>
          <p:cNvPr id="10" name="object 10"/>
          <p:cNvSpPr txBox="1"/>
          <p:nvPr/>
        </p:nvSpPr>
        <p:spPr>
          <a:xfrm>
            <a:off x="2147888" y="5095875"/>
            <a:ext cx="7889875" cy="1449388"/>
          </a:xfrm>
          <a:prstGeom prst="rect">
            <a:avLst/>
          </a:prstGeom>
        </p:spPr>
        <p:txBody>
          <a:bodyPr lIns="0" tIns="13335" rIns="0" bIns="0">
            <a:spAutoFit/>
          </a:bodyPr>
          <a:lstStyle/>
          <a:p>
            <a:pPr marL="3175" algn="ctr" eaLnBrk="1" hangingPunct="1">
              <a:lnSpc>
                <a:spcPts val="2300"/>
              </a:lnSpc>
              <a:spcBef>
                <a:spcPts val="100"/>
              </a:spcBef>
              <a:buNone/>
            </a:pPr>
            <a:r>
              <a:rPr lang="zh-CN" altLang="x-none" sz="2200" dirty="0">
                <a:solidFill>
                  <a:srgbClr val="000000"/>
                </a:solidFill>
                <a:latin typeface="Times New Roman" panose="02020603050405020304" pitchFamily="18" charset="0"/>
                <a:cs typeface="Times New Roman" panose="02020603050405020304" pitchFamily="18" charset="0"/>
              </a:rPr>
              <a:t>Department of Computer Science and Engineering</a:t>
            </a:r>
          </a:p>
          <a:p>
            <a:pPr marL="3175" algn="ctr" eaLnBrk="1" hangingPunct="1">
              <a:lnSpc>
                <a:spcPts val="3565"/>
              </a:lnSpc>
              <a:buNone/>
            </a:pPr>
            <a:r>
              <a:rPr lang="zh-CN" altLang="x-none" sz="3400" dirty="0">
                <a:solidFill>
                  <a:srgbClr val="FF0000"/>
                </a:solidFill>
                <a:latin typeface="Times New Roman" panose="02020603050405020304" pitchFamily="18" charset="0"/>
                <a:cs typeface="Times New Roman" panose="02020603050405020304" pitchFamily="18" charset="0"/>
              </a:rPr>
              <a:t>Srinivasa Ramanujan Institute of Technology</a:t>
            </a:r>
            <a:endParaRPr lang="zh-CN" altLang="x-none" sz="3400" dirty="0">
              <a:solidFill>
                <a:srgbClr val="000000"/>
              </a:solidFill>
              <a:latin typeface="Times New Roman" panose="02020603050405020304" pitchFamily="18" charset="0"/>
              <a:cs typeface="Times New Roman" panose="02020603050405020304" pitchFamily="18" charset="0"/>
            </a:endParaRPr>
          </a:p>
          <a:p>
            <a:pPr marL="3175" algn="ctr" eaLnBrk="1" hangingPunct="1">
              <a:lnSpc>
                <a:spcPts val="1850"/>
              </a:lnSpc>
              <a:buNone/>
            </a:pPr>
            <a:r>
              <a:rPr lang="zh-CN" altLang="x-none" sz="1700" b="1" dirty="0">
                <a:solidFill>
                  <a:srgbClr val="000000"/>
                </a:solidFill>
                <a:latin typeface="Times New Roman" panose="02020603050405020304" pitchFamily="18" charset="0"/>
                <a:cs typeface="Times New Roman" panose="02020603050405020304" pitchFamily="18" charset="0"/>
              </a:rPr>
              <a:t>Autonomous</a:t>
            </a:r>
            <a:endParaRPr lang="zh-CN" altLang="x-none" sz="1700" dirty="0">
              <a:solidFill>
                <a:srgbClr val="000000"/>
              </a:solidFill>
              <a:latin typeface="Times New Roman" panose="02020603050405020304" pitchFamily="18" charset="0"/>
              <a:cs typeface="Times New Roman" panose="02020603050405020304" pitchFamily="18" charset="0"/>
            </a:endParaRPr>
          </a:p>
          <a:p>
            <a:pPr marL="3175" algn="ctr" eaLnBrk="1" hangingPunct="1">
              <a:lnSpc>
                <a:spcPts val="1375"/>
              </a:lnSpc>
              <a:buNone/>
            </a:pPr>
            <a:r>
              <a:rPr lang="zh-CN" altLang="x-none" sz="1200" b="1" dirty="0">
                <a:solidFill>
                  <a:srgbClr val="000000"/>
                </a:solidFill>
                <a:latin typeface="Times New Roman" panose="02020603050405020304" pitchFamily="18" charset="0"/>
                <a:cs typeface="Times New Roman" panose="02020603050405020304" pitchFamily="18" charset="0"/>
              </a:rPr>
              <a:t>Rotarypuram Village, B K Samudram Mandal, Ananthapuramu – 515701.</a:t>
            </a:r>
            <a:endParaRPr lang="zh-CN" altLang="x-none" sz="1200" dirty="0">
              <a:solidFill>
                <a:srgbClr val="000000"/>
              </a:solidFill>
              <a:latin typeface="Times New Roman" panose="02020603050405020304" pitchFamily="18" charset="0"/>
              <a:cs typeface="Times New Roman" panose="02020603050405020304" pitchFamily="18" charset="0"/>
            </a:endParaRPr>
          </a:p>
          <a:p>
            <a:pPr marL="3175" algn="ctr" eaLnBrk="1" hangingPunct="1">
              <a:spcBef>
                <a:spcPts val="550"/>
              </a:spcBef>
              <a:buNone/>
            </a:pPr>
            <a:r>
              <a:rPr lang="zh-CN" altLang="x-none" sz="1300" b="1" dirty="0">
                <a:solidFill>
                  <a:srgbClr val="1E4E78"/>
                </a:solidFill>
                <a:latin typeface="Times New Roman" panose="02020603050405020304" pitchFamily="18" charset="0"/>
                <a:cs typeface="Times New Roman" panose="02020603050405020304" pitchFamily="18" charset="0"/>
              </a:rPr>
              <a:t>202</a:t>
            </a:r>
            <a:r>
              <a:rPr sz="1300" b="1" dirty="0">
                <a:solidFill>
                  <a:srgbClr val="1E4E78"/>
                </a:solidFill>
                <a:latin typeface="Times New Roman" panose="02020603050405020304" pitchFamily="18" charset="0"/>
                <a:cs typeface="Times New Roman" panose="02020603050405020304" pitchFamily="18" charset="0"/>
              </a:rPr>
              <a:t>5</a:t>
            </a:r>
            <a:r>
              <a:rPr lang="zh-CN" altLang="x-none" sz="1300" b="1" dirty="0">
                <a:solidFill>
                  <a:srgbClr val="1E4E78"/>
                </a:solidFill>
                <a:latin typeface="Times New Roman" panose="02020603050405020304" pitchFamily="18" charset="0"/>
                <a:cs typeface="Times New Roman" panose="02020603050405020304" pitchFamily="18" charset="0"/>
              </a:rPr>
              <a:t>-202</a:t>
            </a:r>
            <a:r>
              <a:rPr sz="1300" b="1" dirty="0">
                <a:solidFill>
                  <a:srgbClr val="1E4E78"/>
                </a:solidFill>
                <a:latin typeface="Times New Roman" panose="02020603050405020304" pitchFamily="18" charset="0"/>
                <a:cs typeface="Times New Roman" panose="02020603050405020304" pitchFamily="18" charset="0"/>
              </a:rPr>
              <a:t>6</a:t>
            </a:r>
            <a:endParaRPr lang="zh-CN" altLang="x-none" sz="1300" dirty="0">
              <a:solidFill>
                <a:srgbClr val="000000"/>
              </a:solidFill>
              <a:latin typeface="Times New Roman" panose="02020603050405020304" pitchFamily="18" charset="0"/>
              <a:ea typeface="Times New Roman" panose="02020603050405020304" pitchFamily="18" charset="0"/>
            </a:endParaRPr>
          </a:p>
        </p:txBody>
      </p:sp>
      <p:sp>
        <p:nvSpPr>
          <p:cNvPr id="11" name="object 11"/>
          <p:cNvSpPr txBox="1"/>
          <p:nvPr/>
        </p:nvSpPr>
        <p:spPr>
          <a:xfrm>
            <a:off x="4800601" y="1724025"/>
            <a:ext cx="2927350" cy="807016"/>
          </a:xfrm>
          <a:prstGeom prst="rect">
            <a:avLst/>
          </a:prstGeom>
        </p:spPr>
        <p:txBody>
          <a:bodyPr wrap="square" lIns="0" tIns="14605" rIns="0" bIns="0">
            <a:spAutoFit/>
          </a:bodyPr>
          <a:lstStyle/>
          <a:p>
            <a:pPr>
              <a:spcBef>
                <a:spcPts val="300"/>
              </a:spcBef>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V. Meghana</a:t>
            </a:r>
          </a:p>
          <a:p>
            <a:pPr>
              <a:spcBef>
                <a:spcPts val="300"/>
              </a:spcBef>
            </a:pPr>
            <a:r>
              <a:rPr lang="en-US" sz="1100" dirty="0">
                <a:latin typeface="Times New Roman" panose="02020603050405020304" pitchFamily="18" charset="0"/>
                <a:cs typeface="Times New Roman" panose="02020603050405020304" pitchFamily="18" charset="0"/>
              </a:rPr>
              <a:t>                       Roll No. 234G5A0507</a:t>
            </a:r>
          </a:p>
          <a:p>
            <a:pPr algn="ctr" eaLnBrk="1" hangingPunct="1">
              <a:lnSpc>
                <a:spcPts val="2375"/>
              </a:lnSpc>
              <a:spcBef>
                <a:spcPts val="115"/>
              </a:spcBef>
              <a:buNone/>
            </a:pPr>
            <a:endParaRPr lang="zh-CN" altLang="x-none" sz="1100" dirty="0">
              <a:solidFill>
                <a:srgbClr val="000000"/>
              </a:solidFill>
              <a:latin typeface="Times New Roman" panose="02020603050405020304" pitchFamily="18" charset="0"/>
              <a:ea typeface="Times New Roman" panose="02020603050405020304" pitchFamily="18" charset="0"/>
            </a:endParaRPr>
          </a:p>
        </p:txBody>
      </p:sp>
      <p:sp>
        <p:nvSpPr>
          <p:cNvPr id="13" name="object 13"/>
          <p:cNvSpPr txBox="1"/>
          <p:nvPr/>
        </p:nvSpPr>
        <p:spPr>
          <a:xfrm>
            <a:off x="2438401" y="1658938"/>
            <a:ext cx="2205038" cy="772647"/>
          </a:xfrm>
          <a:prstGeom prst="rect">
            <a:avLst/>
          </a:prstGeom>
        </p:spPr>
        <p:txBody>
          <a:bodyPr wrap="square" lIns="0" tIns="13335" rIns="0" bIns="0">
            <a:spAutoFit/>
          </a:bodyPr>
          <a:lstStyle/>
          <a:p>
            <a:pPr>
              <a:spcBef>
                <a:spcPts val="300"/>
              </a:spcBef>
            </a:pP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 Neha Anjum</a:t>
            </a:r>
          </a:p>
          <a:p>
            <a:pPr>
              <a:spcBef>
                <a:spcPts val="300"/>
              </a:spcBef>
            </a:pPr>
            <a:r>
              <a:rPr lang="en-US" sz="1100" dirty="0">
                <a:latin typeface="Times New Roman" panose="02020603050405020304" pitchFamily="18" charset="0"/>
                <a:cs typeface="Times New Roman" panose="02020603050405020304" pitchFamily="18" charset="0"/>
              </a:rPr>
              <a:t>           Roll No. 224G1A0559 </a:t>
            </a:r>
          </a:p>
          <a:p>
            <a:pPr algn="ctr" eaLnBrk="1" hangingPunct="1">
              <a:spcBef>
                <a:spcPts val="100"/>
              </a:spcBef>
              <a:buNone/>
            </a:pPr>
            <a:endParaRPr lang="zh-CN" altLang="x-none" sz="1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grpSp>
        <p:nvGrpSpPr>
          <p:cNvPr id="6154" name="object 14"/>
          <p:cNvGrpSpPr/>
          <p:nvPr/>
        </p:nvGrpSpPr>
        <p:grpSpPr>
          <a:xfrm>
            <a:off x="714375" y="317500"/>
            <a:ext cx="10944225" cy="938213"/>
            <a:chOff x="715009" y="318271"/>
            <a:chExt cx="10608310" cy="937894"/>
          </a:xfrm>
        </p:grpSpPr>
        <p:pic>
          <p:nvPicPr>
            <p:cNvPr id="6158" name="object 15"/>
            <p:cNvPicPr>
              <a:picLocks noChangeAspect="1"/>
            </p:cNvPicPr>
            <p:nvPr/>
          </p:nvPicPr>
          <p:blipFill>
            <a:blip r:embed="rId3"/>
            <a:stretch>
              <a:fillRect/>
            </a:stretch>
          </p:blipFill>
          <p:spPr>
            <a:xfrm>
              <a:off x="715009" y="318271"/>
              <a:ext cx="10608182" cy="937864"/>
            </a:xfrm>
            <a:prstGeom prst="rect">
              <a:avLst/>
            </a:prstGeom>
            <a:noFill/>
            <a:ln w="9525">
              <a:noFill/>
            </a:ln>
          </p:spPr>
        </p:pic>
        <p:sp>
          <p:nvSpPr>
            <p:cNvPr id="6159" name="object 16"/>
            <p:cNvSpPr/>
            <p:nvPr/>
          </p:nvSpPr>
          <p:spPr>
            <a:xfrm>
              <a:off x="755008" y="335270"/>
              <a:ext cx="10528300" cy="857885"/>
            </a:xfrm>
            <a:custGeom>
              <a:avLst/>
              <a:gdLst/>
              <a:ahLst/>
              <a:cxnLst>
                <a:cxn ang="0">
                  <a:pos x="10385202" y="857863"/>
                </a:cxn>
                <a:cxn ang="0">
                  <a:pos x="142980" y="857863"/>
                </a:cxn>
                <a:cxn ang="0">
                  <a:pos x="97787" y="850574"/>
                </a:cxn>
                <a:cxn ang="0">
                  <a:pos x="58537" y="830277"/>
                </a:cxn>
                <a:cxn ang="0">
                  <a:pos x="27586" y="799326"/>
                </a:cxn>
                <a:cxn ang="0">
                  <a:pos x="7289" y="760076"/>
                </a:cxn>
                <a:cxn ang="0">
                  <a:pos x="0" y="714883"/>
                </a:cxn>
                <a:cxn ang="0">
                  <a:pos x="0" y="142980"/>
                </a:cxn>
                <a:cxn ang="0">
                  <a:pos x="7289" y="97787"/>
                </a:cxn>
                <a:cxn ang="0">
                  <a:pos x="27586" y="58537"/>
                </a:cxn>
                <a:cxn ang="0">
                  <a:pos x="58537" y="27586"/>
                </a:cxn>
                <a:cxn ang="0">
                  <a:pos x="97787" y="7289"/>
                </a:cxn>
                <a:cxn ang="0">
                  <a:pos x="142980" y="0"/>
                </a:cxn>
                <a:cxn ang="0">
                  <a:pos x="10385202" y="0"/>
                </a:cxn>
                <a:cxn ang="0">
                  <a:pos x="10439918" y="10883"/>
                </a:cxn>
                <a:cxn ang="0">
                  <a:pos x="10486304" y="41877"/>
                </a:cxn>
                <a:cxn ang="0">
                  <a:pos x="10517299" y="88264"/>
                </a:cxn>
                <a:cxn ang="0">
                  <a:pos x="10528183" y="142980"/>
                </a:cxn>
                <a:cxn ang="0">
                  <a:pos x="10528183" y="714883"/>
                </a:cxn>
                <a:cxn ang="0">
                  <a:pos x="10520894" y="760076"/>
                </a:cxn>
                <a:cxn ang="0">
                  <a:pos x="10500596" y="799326"/>
                </a:cxn>
                <a:cxn ang="0">
                  <a:pos x="10469645" y="830277"/>
                </a:cxn>
                <a:cxn ang="0">
                  <a:pos x="10430395" y="850574"/>
                </a:cxn>
                <a:cxn ang="0">
                  <a:pos x="10385202" y="857863"/>
                </a:cxn>
              </a:cxnLst>
              <a:rect l="0" t="0" r="0" b="0"/>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alpha val="100000"/>
              </a:srgbClr>
            </a:solidFill>
            <a:ln w="9525">
              <a:noFill/>
            </a:ln>
          </p:spPr>
          <p:txBody>
            <a:bodyPr/>
            <a:lstStyle/>
            <a:p>
              <a:endParaRPr lang="en-US"/>
            </a:p>
          </p:txBody>
        </p:sp>
      </p:grpSp>
      <p:sp>
        <p:nvSpPr>
          <p:cNvPr id="6155" name="object 17"/>
          <p:cNvSpPr>
            <a:spLocks noGrp="1"/>
          </p:cNvSpPr>
          <p:nvPr>
            <p:ph type="title"/>
          </p:nvPr>
        </p:nvSpPr>
        <p:spPr>
          <a:xfrm>
            <a:off x="609601" y="492125"/>
            <a:ext cx="10868024" cy="505267"/>
          </a:xfrm>
          <a:ln/>
        </p:spPr>
        <p:txBody>
          <a:bodyPr vert="horz" wrap="square" lIns="0" tIns="12700" rIns="0" bIns="0" anchor="t" anchorCtr="0">
            <a:spAutoFit/>
          </a:bodyPr>
          <a:lstStyle/>
          <a:p>
            <a:r>
              <a:rPr lang="en-IN" sz="3200" dirty="0"/>
              <a:t>SRIT Intern Portal Hub</a:t>
            </a:r>
          </a:p>
        </p:txBody>
      </p:sp>
      <p:sp>
        <p:nvSpPr>
          <p:cNvPr id="18" name="object 18"/>
          <p:cNvSpPr txBox="1"/>
          <p:nvPr/>
        </p:nvSpPr>
        <p:spPr>
          <a:xfrm>
            <a:off x="5988050" y="1279525"/>
            <a:ext cx="215900" cy="268288"/>
          </a:xfrm>
          <a:prstGeom prst="rect">
            <a:avLst/>
          </a:prstGeom>
        </p:spPr>
        <p:txBody>
          <a:bodyPr lIns="0" tIns="12700" rIns="0" bIns="0">
            <a:spAutoFit/>
          </a:bodyPr>
          <a:lstStyle/>
          <a:p>
            <a:pPr marL="12700" marR="0" defTabSz="914400" eaLnBrk="1" fontAlgn="auto" hangingPunct="1">
              <a:spcBef>
                <a:spcPts val="100"/>
              </a:spcBef>
              <a:spcAft>
                <a:spcPts val="0"/>
              </a:spcAft>
              <a:buClrTx/>
              <a:buSzTx/>
              <a:buFontTx/>
              <a:buNone/>
              <a:defRPr/>
            </a:pPr>
            <a:r>
              <a:rPr kumimoji="0" sz="1600" i="1" kern="0" cap="none" spc="-25" normalizeH="0" baseline="0" noProof="0" dirty="0">
                <a:solidFill>
                  <a:sysClr val="windowText" lastClr="000000"/>
                </a:solidFill>
                <a:latin typeface="Times New Roman" panose="02020603050405020304"/>
                <a:ea typeface="+mn-ea"/>
                <a:cs typeface="Times New Roman" panose="02020603050405020304"/>
              </a:rPr>
              <a:t>by</a:t>
            </a:r>
            <a:endParaRPr kumimoji="0" sz="1600" kern="0" cap="none" spc="0" normalizeH="0" baseline="0" noProof="0">
              <a:solidFill>
                <a:sysClr val="windowText" lastClr="000000"/>
              </a:solidFill>
              <a:latin typeface="Times New Roman" panose="02020603050405020304"/>
              <a:ea typeface="+mn-ea"/>
              <a:cs typeface="Times New Roman" panose="02020603050405020304"/>
            </a:endParaRPr>
          </a:p>
        </p:txBody>
      </p:sp>
      <p:pic>
        <p:nvPicPr>
          <p:cNvPr id="6157" name="object 19"/>
          <p:cNvPicPr>
            <a:picLocks noChangeAspect="1"/>
          </p:cNvPicPr>
          <p:nvPr/>
        </p:nvPicPr>
        <p:blipFill>
          <a:blip r:embed="rId4"/>
          <a:stretch>
            <a:fillRect/>
          </a:stretch>
        </p:blipFill>
        <p:spPr>
          <a:xfrm>
            <a:off x="5329238" y="3351213"/>
            <a:ext cx="1527175" cy="1685925"/>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object 2"/>
          <p:cNvSpPr txBox="1"/>
          <p:nvPr/>
        </p:nvSpPr>
        <p:spPr>
          <a:xfrm>
            <a:off x="3505200" y="-33337"/>
            <a:ext cx="5307013" cy="289823"/>
          </a:xfrm>
          <a:prstGeom prst="rect">
            <a:avLst/>
          </a:prstGeom>
          <a:noFill/>
          <a:ln w="9525">
            <a:noFill/>
          </a:ln>
        </p:spPr>
        <p:txBody>
          <a:bodyPr wrap="square" lIns="0" tIns="12700" rIns="0" bIns="0">
            <a:spAutoFit/>
          </a:bodyPr>
          <a:lstStyle/>
          <a:p>
            <a:r>
              <a:rPr lang="en-IN" dirty="0">
                <a:solidFill>
                  <a:schemeClr val="bg1"/>
                </a:solidFill>
                <a:latin typeface="Times New Roman" panose="02020603050405020304" pitchFamily="18" charset="0"/>
                <a:cs typeface="Times New Roman" panose="02020603050405020304" pitchFamily="18" charset="0"/>
              </a:rPr>
              <a:t>                             SRIT Intern Portal Hub</a:t>
            </a:r>
            <a:r>
              <a:rPr lang="en-IN" sz="1400" dirty="0">
                <a:solidFill>
                  <a:schemeClr val="bg1"/>
                </a:solidFill>
                <a:latin typeface="Times New Roman" panose="02020603050405020304" pitchFamily="18" charset="0"/>
                <a:cs typeface="Times New Roman" panose="02020603050405020304" pitchFamily="18" charset="0"/>
              </a:rPr>
              <a:t>              </a:t>
            </a:r>
          </a:p>
        </p:txBody>
      </p:sp>
      <p:grpSp>
        <p:nvGrpSpPr>
          <p:cNvPr id="7171" name="object 3"/>
          <p:cNvGrpSpPr/>
          <p:nvPr/>
        </p:nvGrpSpPr>
        <p:grpSpPr>
          <a:xfrm>
            <a:off x="0" y="225425"/>
            <a:ext cx="12192000" cy="803275"/>
            <a:chOff x="0" y="212399"/>
            <a:chExt cx="12192000" cy="803275"/>
          </a:xfrm>
        </p:grpSpPr>
        <p:pic>
          <p:nvPicPr>
            <p:cNvPr id="7178" name="object 4"/>
            <p:cNvPicPr>
              <a:picLocks noChangeAspect="1"/>
            </p:cNvPicPr>
            <p:nvPr/>
          </p:nvPicPr>
          <p:blipFill>
            <a:blip r:embed="rId2"/>
            <a:stretch>
              <a:fillRect/>
            </a:stretch>
          </p:blipFill>
          <p:spPr>
            <a:xfrm>
              <a:off x="0" y="212399"/>
              <a:ext cx="12192000" cy="803160"/>
            </a:xfrm>
            <a:prstGeom prst="rect">
              <a:avLst/>
            </a:prstGeom>
            <a:noFill/>
            <a:ln w="9525">
              <a:noFill/>
            </a:ln>
          </p:spPr>
        </p:pic>
        <p:sp>
          <p:nvSpPr>
            <p:cNvPr id="7179" name="object 5"/>
            <p:cNvSpPr/>
            <p:nvPr/>
          </p:nvSpPr>
          <p:spPr>
            <a:xfrm>
              <a:off x="239" y="228599"/>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a:xfrm>
            <a:off x="-152400" y="182563"/>
            <a:ext cx="2971801" cy="689932"/>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Contents</a:t>
            </a:r>
          </a:p>
        </p:txBody>
      </p:sp>
      <p:sp>
        <p:nvSpPr>
          <p:cNvPr id="8" name="object 8"/>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A-8</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450975" y="6629400"/>
            <a:ext cx="4645660" cy="252095"/>
          </a:xfrm>
          <a:noFill/>
        </p:spPr>
        <p:txBody>
          <a:bodyPr vert="horz" wrap="square" lIns="0" tIns="0" rIns="0" bIns="0" rtlCol="0">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zh-CN" altLang="x-none" sz="1600" dirty="0">
                <a:solidFill>
                  <a:schemeClr val="bg1"/>
                </a:solidFill>
                <a:latin typeface="Times New Roman" panose="02020603050405020304" pitchFamily="18" charset="0"/>
                <a:cs typeface="Times New Roman" panose="02020603050405020304" pitchFamily="18" charset="0"/>
              </a:rPr>
              <a:t>DEPT. OF COMPUTER SCIENCE AND</a:t>
            </a:r>
            <a:r>
              <a:rPr sz="1600" dirty="0">
                <a:solidFill>
                  <a:schemeClr val="bg1"/>
                </a:solidFill>
                <a:latin typeface="Times New Roman" panose="02020603050405020304" pitchFamily="18" charset="0"/>
                <a:cs typeface="Times New Roman" panose="02020603050405020304" pitchFamily="18" charset="0"/>
              </a:rPr>
              <a:t> </a:t>
            </a:r>
            <a:r>
              <a:rPr lang="zh-CN" altLang="x-none" sz="1600" dirty="0">
                <a:solidFill>
                  <a:schemeClr val="bg1"/>
                </a:solidFill>
                <a:latin typeface="Times New Roman" panose="02020603050405020304" pitchFamily="18" charset="0"/>
                <a:cs typeface="Times New Roman" panose="02020603050405020304" pitchFamily="18" charset="0"/>
              </a:rPr>
              <a:t>ENGINEERING</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10" name="object 10"/>
          <p:cNvSpPr txBox="1"/>
          <p:nvPr/>
        </p:nvSpPr>
        <p:spPr>
          <a:xfrm>
            <a:off x="6716713" y="6629400"/>
            <a:ext cx="4322763" cy="230188"/>
          </a:xfrm>
          <a:prstGeom prst="rect">
            <a:avLst/>
          </a:prstGeom>
        </p:spPr>
        <p:txBody>
          <a:bodyPr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B4E1554B-BE95-4FB1-AC37-FAB416F079D9}"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2</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7" name="object 7"/>
          <p:cNvSpPr txBox="1"/>
          <p:nvPr/>
        </p:nvSpPr>
        <p:spPr>
          <a:xfrm>
            <a:off x="325438" y="990600"/>
            <a:ext cx="9459913" cy="4624388"/>
          </a:xfrm>
          <a:prstGeom prst="rect">
            <a:avLst/>
          </a:prstGeom>
        </p:spPr>
        <p:txBody>
          <a:bodyPr lIns="0" tIns="96520" rIns="0" bIns="0">
            <a:spAutoFit/>
          </a:bodyPr>
          <a:lstStyle/>
          <a:p>
            <a:pPr marL="421005" marR="0" indent="-408305" defTabSz="914400" eaLnBrk="1" fontAlgn="auto" hangingPunct="1">
              <a:spcBef>
                <a:spcPts val="760"/>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Title</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Justification</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Abstract</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Problem</a:t>
            </a:r>
            <a:r>
              <a:rPr kumimoji="0" sz="2800" kern="0" cap="none" spc="-3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statement</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Objectives</a:t>
            </a:r>
            <a:r>
              <a:rPr kumimoji="0" sz="2800" kern="0" cap="none" spc="-40"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of</a:t>
            </a:r>
            <a:r>
              <a:rPr kumimoji="0" sz="2800" kern="0" cap="none" spc="-3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Project</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Literature</a:t>
            </a:r>
            <a:r>
              <a:rPr kumimoji="0" sz="2800" kern="0" cap="none" spc="-3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survey</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for</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objectives</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0"/>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Proposed</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Work</a:t>
            </a:r>
            <a:r>
              <a:rPr kumimoji="0" sz="2800" kern="0" cap="none" spc="-20"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(Methods</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to</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be</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followed</a:t>
            </a:r>
            <a:r>
              <a:rPr kumimoji="0" sz="2800" kern="0" cap="none" spc="-20"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for</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proposed</a:t>
            </a:r>
            <a:r>
              <a:rPr kumimoji="0" sz="2800" kern="0" cap="none" spc="-20"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system)</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References</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GitHub </a:t>
            </a:r>
            <a:r>
              <a:rPr kumimoji="0" sz="2800" kern="0" cap="none" spc="-20" normalizeH="0" baseline="0" noProof="0" dirty="0">
                <a:solidFill>
                  <a:sysClr val="windowText" lastClr="000000"/>
                </a:solidFill>
                <a:latin typeface="Times New Roman" panose="02020603050405020304"/>
                <a:ea typeface="+mn-ea"/>
                <a:cs typeface="Times New Roman" panose="02020603050405020304"/>
              </a:rPr>
              <a:t>Link</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Queries</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object 2"/>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8195" name="object 3"/>
          <p:cNvSpPr txBox="1"/>
          <p:nvPr/>
        </p:nvSpPr>
        <p:spPr>
          <a:xfrm>
            <a:off x="3405188" y="-22225"/>
            <a:ext cx="5688012" cy="289823"/>
          </a:xfrm>
          <a:prstGeom prst="rect">
            <a:avLst/>
          </a:prstGeom>
          <a:noFill/>
          <a:ln w="9525">
            <a:noFill/>
          </a:ln>
        </p:spPr>
        <p:txBody>
          <a:bodyPr lIns="0" tIns="12700" rIns="0" bIns="0">
            <a:spAutoFit/>
          </a:bodyPr>
          <a:lstStyle/>
          <a:p>
            <a:r>
              <a:rPr lang="en-IN" dirty="0">
                <a:solidFill>
                  <a:schemeClr val="bg1"/>
                </a:solidFill>
                <a:latin typeface="Times New Roman" panose="02020603050405020304" pitchFamily="18" charset="0"/>
                <a:cs typeface="Times New Roman" panose="02020603050405020304" pitchFamily="18" charset="0"/>
              </a:rPr>
              <a:t>                                  SRIT Intern Portal Hub</a:t>
            </a:r>
          </a:p>
        </p:txBody>
      </p:sp>
      <p:grpSp>
        <p:nvGrpSpPr>
          <p:cNvPr id="8196" name="object 4"/>
          <p:cNvGrpSpPr/>
          <p:nvPr/>
        </p:nvGrpSpPr>
        <p:grpSpPr>
          <a:xfrm>
            <a:off x="0" y="222718"/>
            <a:ext cx="12192000" cy="803275"/>
            <a:chOff x="0" y="212399"/>
            <a:chExt cx="12192000" cy="803275"/>
          </a:xfrm>
        </p:grpSpPr>
        <p:pic>
          <p:nvPicPr>
            <p:cNvPr id="8203" name="object 5"/>
            <p:cNvPicPr>
              <a:picLocks noChangeAspect="1"/>
            </p:cNvPicPr>
            <p:nvPr/>
          </p:nvPicPr>
          <p:blipFill>
            <a:blip r:embed="rId3"/>
            <a:stretch>
              <a:fillRect/>
            </a:stretch>
          </p:blipFill>
          <p:spPr>
            <a:xfrm>
              <a:off x="0" y="212399"/>
              <a:ext cx="12192000" cy="803160"/>
            </a:xfrm>
            <a:prstGeom prst="rect">
              <a:avLst/>
            </a:prstGeom>
            <a:noFill/>
            <a:ln w="9525">
              <a:noFill/>
            </a:ln>
          </p:spPr>
        </p:pic>
        <p:sp>
          <p:nvSpPr>
            <p:cNvPr id="8204" name="object 6"/>
            <p:cNvSpPr/>
            <p:nvPr/>
          </p:nvSpPr>
          <p:spPr>
            <a:xfrm>
              <a:off x="239" y="228599"/>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7" name="object 7"/>
          <p:cNvSpPr txBox="1">
            <a:spLocks noGrp="1"/>
          </p:cNvSpPr>
          <p:nvPr>
            <p:ph type="title"/>
          </p:nvPr>
        </p:nvSpPr>
        <p:spPr>
          <a:xfrm>
            <a:off x="-228600" y="182562"/>
            <a:ext cx="5040313" cy="715009"/>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Title</a:t>
            </a:r>
            <a:r>
              <a:rPr kumimoji="0" sz="4400" b="0" i="0" u="none" strike="noStrike" kern="0" cap="none" spc="-1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Justification</a:t>
            </a:r>
          </a:p>
        </p:txBody>
      </p:sp>
      <p:sp>
        <p:nvSpPr>
          <p:cNvPr id="2" name="Text Placeholder 1"/>
          <p:cNvSpPr>
            <a:spLocks noGrp="1"/>
          </p:cNvSpPr>
          <p:nvPr>
            <p:ph type="body" idx="1"/>
          </p:nvPr>
        </p:nvSpPr>
        <p:spPr>
          <a:xfrm>
            <a:off x="381000" y="1154430"/>
            <a:ext cx="11506200" cy="5445760"/>
          </a:xfrm>
        </p:spPr>
        <p:txBody>
          <a:bodyPr vert="horz" wrap="square" lIns="0" tIns="0" rIns="0" bIns="0" numCol="1" anchor="t" anchorCtr="0" compatLnSpc="1">
            <a:noAutofit/>
          </a:bodyPr>
          <a:lstStyle/>
          <a:p>
            <a:pPr marL="0" marR="0" lvl="0" indent="0" algn="just" defTabSz="914400" rtl="0" eaLnBrk="0" fontAlgn="base" latinLnBrk="0" hangingPunct="0">
              <a:lnSpc>
                <a:spcPct val="100000"/>
              </a:lnSpc>
              <a:spcBef>
                <a:spcPct val="20000"/>
              </a:spcBef>
              <a:spcAft>
                <a:spcPct val="0"/>
              </a:spcAft>
              <a:buClrTx/>
              <a:buSzTx/>
              <a:buFontTx/>
              <a:buNone/>
              <a:defRPr/>
            </a:pPr>
            <a:r>
              <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Project Title:</a:t>
            </a:r>
          </a:p>
          <a:p>
            <a:pPr marL="0" marR="0" lvl="0" indent="0" algn="just" defTabSz="914400" rtl="0" eaLnBrk="0" fontAlgn="base" latinLnBrk="0" hangingPunct="0">
              <a:lnSpc>
                <a:spcPct val="100000"/>
              </a:lnSpc>
              <a:spcBef>
                <a:spcPct val="20000"/>
              </a:spcBef>
              <a:spcAft>
                <a:spcPct val="0"/>
              </a:spcAft>
              <a:buClrTx/>
              <a:buSzTx/>
              <a:buFontTx/>
              <a:buNone/>
              <a:defRPr/>
            </a:pPr>
            <a:endPar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endParaRPr>
          </a:p>
          <a:p>
            <a:pPr marL="0" marR="0" lvl="0" indent="0" algn="just" defTabSz="914400" rtl="0" eaLnBrk="0" fontAlgn="base" latinLnBrk="0" hangingPunct="0">
              <a:lnSpc>
                <a:spcPct val="100000"/>
              </a:lnSpc>
              <a:spcBef>
                <a:spcPct val="20000"/>
              </a:spcBef>
              <a:spcAft>
                <a:spcPct val="0"/>
              </a:spcAft>
              <a:buClrTx/>
              <a:buSzTx/>
              <a:buFontTx/>
              <a:buNone/>
              <a:defRPr/>
            </a:pPr>
            <a:r>
              <a:rPr lang="en-US" sz="2000" dirty="0"/>
              <a:t>SRIT Intern Portal Hub</a:t>
            </a:r>
          </a:p>
          <a:p>
            <a:pPr marL="0" marR="0" lvl="0" indent="0" algn="just" defTabSz="914400" rtl="0" eaLnBrk="0" fontAlgn="base" latinLnBrk="0" hangingPunct="0">
              <a:lnSpc>
                <a:spcPct val="100000"/>
              </a:lnSpc>
              <a:spcBef>
                <a:spcPct val="20000"/>
              </a:spcBef>
              <a:spcAft>
                <a:spcPct val="0"/>
              </a:spcAft>
              <a:buClrTx/>
              <a:buSzTx/>
              <a:buFontTx/>
              <a:buNone/>
              <a:defRPr/>
            </a:pPr>
            <a:endParaRPr kumimoji="0" lang="en-US" sz="18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endParaRPr>
          </a:p>
          <a:p>
            <a:pPr marL="0" marR="0" lvl="0" indent="0" algn="just" defTabSz="914400" rtl="0" eaLnBrk="0" fontAlgn="base" latinLnBrk="0" hangingPunct="0">
              <a:lnSpc>
                <a:spcPct val="100000"/>
              </a:lnSpc>
              <a:spcBef>
                <a:spcPct val="20000"/>
              </a:spcBef>
              <a:spcAft>
                <a:spcPct val="0"/>
              </a:spcAft>
              <a:buClrTx/>
              <a:buSzTx/>
              <a:buFontTx/>
              <a:buNone/>
              <a:defRPr/>
            </a:pPr>
            <a:r>
              <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Justification:</a:t>
            </a:r>
          </a:p>
          <a:p>
            <a:pPr marL="285750" lvl="0" indent="-285750" algn="just">
              <a:buFont typeface="Arial" panose="020B0604020202020204" pitchFamily="34" charset="0"/>
              <a:buChar char="•"/>
              <a:defRPr/>
            </a:pPr>
            <a:r>
              <a:rPr lang="en-US" sz="2000" dirty="0"/>
              <a:t>The title </a:t>
            </a:r>
            <a:r>
              <a:rPr lang="en-US" sz="2000" b="1" dirty="0"/>
              <a:t>“SRIT Intern Portal Hub”</a:t>
            </a:r>
            <a:r>
              <a:rPr lang="en-US" sz="2000" dirty="0"/>
              <a:t> represents a centralized web-based system designed to manage and streamline internship-related activities for students, faculty, and administrators.</a:t>
            </a:r>
          </a:p>
          <a:p>
            <a:pPr marL="285750" lvl="0" indent="-285750" algn="just">
              <a:buFont typeface="Arial" panose="020B0604020202020204" pitchFamily="34" charset="0"/>
              <a:buChar char="•"/>
              <a:defRPr/>
            </a:pPr>
            <a:r>
              <a:rPr lang="en-US" sz="2000" dirty="0"/>
              <a:t>The word </a:t>
            </a:r>
            <a:r>
              <a:rPr lang="en-US" sz="2000" b="1" dirty="0"/>
              <a:t>“SRIT”</a:t>
            </a:r>
            <a:r>
              <a:rPr lang="en-US" sz="2000" dirty="0"/>
              <a:t> signifies that the system is developed specifically for the institution, ensuring an organized and institution-focused internship management solution..</a:t>
            </a:r>
          </a:p>
          <a:p>
            <a:pPr marL="285750" lvl="0" indent="-285750" algn="just">
              <a:buFont typeface="Arial" panose="020B0604020202020204" pitchFamily="34" charset="0"/>
              <a:buChar char="•"/>
              <a:defRPr/>
            </a:pPr>
            <a:r>
              <a:rPr lang="en-US" sz="2000" dirty="0"/>
              <a:t>“The term </a:t>
            </a:r>
            <a:r>
              <a:rPr lang="en-US" sz="2000" b="1" dirty="0"/>
              <a:t>“Intern”</a:t>
            </a:r>
            <a:r>
              <a:rPr lang="en-US" sz="2000" dirty="0"/>
              <a:t> reflects the project’s core objective of supporting students in exploring, applying for, and tracking internship opportunities that align with their academic and career goals.</a:t>
            </a:r>
          </a:p>
          <a:p>
            <a:pPr marL="285750" lvl="0" indent="-285750" algn="just">
              <a:buFont typeface="Arial" panose="020B0604020202020204" pitchFamily="34" charset="0"/>
              <a:buChar char="•"/>
              <a:defRPr/>
            </a:pPr>
            <a:r>
              <a:rPr lang="en-US" sz="2000" dirty="0"/>
              <a:t>The phrase </a:t>
            </a:r>
            <a:r>
              <a:rPr lang="en-US" sz="2000" b="1" dirty="0"/>
              <a:t>“Portal Hub”</a:t>
            </a:r>
            <a:r>
              <a:rPr lang="en-US" sz="2000" dirty="0"/>
              <a:t> highlights the role of the system as a single unified platform where users can register, browse available internships, submit applications, and monitor application status.</a:t>
            </a:r>
          </a:p>
          <a:p>
            <a:pPr marL="285750" indent="-285750" algn="just">
              <a:buFont typeface="Arial" panose="020B0604020202020204" pitchFamily="34" charset="0"/>
              <a:buChar char="•"/>
              <a:defRPr/>
            </a:pPr>
            <a:r>
              <a:rPr lang="en-US" sz="2000" dirty="0"/>
              <a:t>Overall, the title clearly conveys the project’s purpose of simplifying the internship process, reducing manual effort, and providing a structured, user-friendly digital solution that improves efficiency and transparency in real-world academic environments.</a:t>
            </a:r>
          </a:p>
          <a:p>
            <a:pPr marL="285750" lvl="0" indent="-285750" algn="just">
              <a:buFont typeface="Arial" panose="020B0604020202020204" pitchFamily="34" charset="0"/>
              <a:buChar char="•"/>
              <a:defRPr/>
            </a:pPr>
            <a:endParaRPr kumimoji="0" lang="en-IN"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endParaRPr>
          </a:p>
        </p:txBody>
      </p:sp>
      <p:sp>
        <p:nvSpPr>
          <p:cNvPr id="8" name="object 8"/>
          <p:cNvSpPr txBox="1">
            <a:spLocks noGrp="1"/>
          </p:cNvSpPr>
          <p:nvPr>
            <p:ph type="ftr" sz="quarter" idx="3"/>
          </p:nvPr>
        </p:nvSpPr>
        <p:spPr>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A-8</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3941763" cy="228600"/>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4098A613-0174-4EC4-8DE5-4ED819B4EEE1}"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3</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0" name="object 10"/>
          <p:cNvSpPr txBox="1"/>
          <p:nvPr/>
        </p:nvSpPr>
        <p:spPr>
          <a:xfrm>
            <a:off x="7146925" y="6629400"/>
            <a:ext cx="4646613"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3000" y="-19050"/>
            <a:ext cx="9448800" cy="289823"/>
          </a:xfrm>
          <a:prstGeom prst="rect">
            <a:avLst/>
          </a:prstGeom>
        </p:spPr>
        <p:txBody>
          <a:bodyPr wrap="square" lIns="0" tIns="12700" rIns="0" bIns="0">
            <a:spAutoFit/>
          </a:bodyPr>
          <a:lstStyle/>
          <a:p>
            <a:pPr marL="12700" marR="0" algn="ctr" defTabSz="914400" eaLnBrk="1" fontAlgn="auto" hangingPunct="1">
              <a:spcBef>
                <a:spcPts val="100"/>
              </a:spcBef>
              <a:spcAft>
                <a:spcPts val="0"/>
              </a:spcAft>
              <a:buClrTx/>
              <a:buSzTx/>
              <a:buFontTx/>
              <a:buNone/>
              <a:defRPr/>
            </a:pPr>
            <a:r>
              <a:rPr lang="en-US" altLang="en-US" dirty="0">
                <a:solidFill>
                  <a:schemeClr val="bg1"/>
                </a:solidFill>
                <a:latin typeface="Times New Roman" panose="02020603050405020304" pitchFamily="18" charset="0"/>
                <a:ea typeface="+mj-ea"/>
                <a:cs typeface="Times New Roman" panose="02020603050405020304" pitchFamily="18" charset="0"/>
              </a:rPr>
              <a:t>       SRIT Intern Portal Hub</a:t>
            </a:r>
            <a:endParaRPr kumimoji="0" lang="en-US" kern="0" cap="none" spc="0" normalizeH="0" baseline="0" noProof="0" dirty="0">
              <a:solidFill>
                <a:sysClr val="windowText" lastClr="000000"/>
              </a:solidFill>
              <a:latin typeface="Times New Roman" panose="02020603050405020304"/>
              <a:ea typeface="+mn-ea"/>
              <a:cs typeface="Times New Roman" panose="02020603050405020304"/>
            </a:endParaRPr>
          </a:p>
        </p:txBody>
      </p:sp>
      <p:grpSp>
        <p:nvGrpSpPr>
          <p:cNvPr id="10243" name="object 3"/>
          <p:cNvGrpSpPr/>
          <p:nvPr/>
        </p:nvGrpSpPr>
        <p:grpSpPr>
          <a:xfrm>
            <a:off x="-11112" y="209550"/>
            <a:ext cx="12192000" cy="803275"/>
            <a:chOff x="0" y="216720"/>
            <a:chExt cx="12192000" cy="803275"/>
          </a:xfrm>
        </p:grpSpPr>
        <p:pic>
          <p:nvPicPr>
            <p:cNvPr id="10250" name="object 4"/>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0251"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a:xfrm>
            <a:off x="-76201" y="227012"/>
            <a:ext cx="5511801" cy="689932"/>
          </a:xfrm>
        </p:spPr>
        <p:txBody>
          <a:bodyPr vert="horz" wrap="square" lIns="0" tIns="12700" rIns="0" bIns="0" numCol="1" rtlCol="0" anchor="t" anchorCtr="0" compatLnSpc="1">
            <a:spAutoFit/>
          </a:bodyPr>
          <a:lstStyle/>
          <a:p>
            <a:pPr marL="12700" indent="0" algn="l" eaLnBrk="1" hangingPunct="1">
              <a:spcBef>
                <a:spcPts val="100"/>
              </a:spcBef>
              <a:buNone/>
            </a:pPr>
            <a:r>
              <a:rPr lang="en-US" altLang="zh-CN" dirty="0">
                <a:latin typeface="Times New Roman" panose="02020603050405020304" pitchFamily="18" charset="0"/>
                <a:ea typeface="+mj-ea"/>
                <a:cs typeface="Times New Roman" panose="02020603050405020304" pitchFamily="18" charset="0"/>
              </a:rPr>
              <a:t>   </a:t>
            </a:r>
            <a:r>
              <a:rPr lang="zh-CN" altLang="x-none" dirty="0">
                <a:latin typeface="Times New Roman" panose="02020603050405020304" pitchFamily="18" charset="0"/>
                <a:ea typeface="+mj-ea"/>
                <a:cs typeface="Times New Roman" panose="02020603050405020304" pitchFamily="18" charset="0"/>
              </a:rPr>
              <a:t>Ab</a:t>
            </a:r>
            <a:r>
              <a:rPr dirty="0">
                <a:latin typeface="Times New Roman" panose="02020603050405020304" pitchFamily="18" charset="0"/>
                <a:ea typeface="+mj-ea"/>
                <a:cs typeface="Times New Roman" panose="02020603050405020304" pitchFamily="18" charset="0"/>
              </a:rPr>
              <a:t>stract</a:t>
            </a:r>
            <a:endParaRPr lang="zh-CN" altLang="x-none" dirty="0">
              <a:latin typeface="Times New Roman" panose="02020603050405020304" pitchFamily="18" charset="0"/>
              <a:ea typeface="Times New Roman" panose="02020603050405020304" pitchFamily="18" charset="0"/>
              <a:cs typeface="+mj-cs"/>
            </a:endParaRPr>
          </a:p>
        </p:txBody>
      </p:sp>
      <p:sp>
        <p:nvSpPr>
          <p:cNvPr id="8" name="object 8"/>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A-8</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40941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9FA05D3A-FAB8-4230-8787-D02FF258F4AA}"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4</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0249" name="object 7"/>
          <p:cNvSpPr txBox="1"/>
          <p:nvPr/>
        </p:nvSpPr>
        <p:spPr>
          <a:xfrm>
            <a:off x="273050" y="990600"/>
            <a:ext cx="11623675" cy="5570855"/>
          </a:xfrm>
          <a:prstGeom prst="rect">
            <a:avLst/>
          </a:prstGeom>
          <a:noFill/>
          <a:ln w="9525">
            <a:noFill/>
          </a:ln>
        </p:spPr>
        <p:txBody>
          <a:bodyPr lIns="0" tIns="12065" rIns="0" bIns="0">
            <a:noAutofit/>
          </a:bodyPr>
          <a:lstStyle/>
          <a:p>
            <a:pPr marL="356400" indent="-342900" algn="just">
              <a:lnSpc>
                <a:spcPct val="120000"/>
              </a:lnSpc>
              <a:spcBef>
                <a:spcPts val="1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Internship management in educational institutions often involves manual processes and scattered communication, which can lead to inefficiency, delays, and lack of transparency for students and faculty. To address this challenge, this project presents the </a:t>
            </a:r>
            <a:r>
              <a:rPr lang="en-US" sz="2000" b="1" dirty="0">
                <a:latin typeface="Times New Roman" panose="02020603050405020304" pitchFamily="18" charset="0"/>
                <a:cs typeface="Times New Roman" panose="02020603050405020304" pitchFamily="18" charset="0"/>
              </a:rPr>
              <a:t>“SRIT Intern Portal Hub,”</a:t>
            </a:r>
            <a:r>
              <a:rPr lang="en-US" sz="2000" dirty="0">
                <a:latin typeface="Times New Roman" panose="02020603050405020304" pitchFamily="18" charset="0"/>
                <a:cs typeface="Times New Roman" panose="02020603050405020304" pitchFamily="18" charset="0"/>
              </a:rPr>
              <a:t> a centralized web-based platform designed to simplify and organize the process of finding, applying for, and managing campus internship </a:t>
            </a:r>
            <a:r>
              <a:rPr lang="en-US" sz="2000" dirty="0" err="1">
                <a:latin typeface="Times New Roman" panose="02020603050405020304" pitchFamily="18" charset="0"/>
                <a:cs typeface="Times New Roman" panose="02020603050405020304" pitchFamily="18" charset="0"/>
              </a:rPr>
              <a:t>opportunities.The</a:t>
            </a:r>
            <a:r>
              <a:rPr lang="en-US" sz="2000" dirty="0">
                <a:latin typeface="Times New Roman" panose="02020603050405020304" pitchFamily="18" charset="0"/>
                <a:cs typeface="Times New Roman" panose="02020603050405020304" pitchFamily="18" charset="0"/>
              </a:rPr>
              <a:t> main objective of the system is to provide a unified portal where faculty can post internship and job openings, share updates, and track student applications, while students can securely log in, view available opportunities, and submit applications without manual paperwork. The portal also enables faculty to review submitted profiles, shortlist candidates, and manage the entire selection process efficiently through a structured workflow.</a:t>
            </a:r>
          </a:p>
          <a:p>
            <a:pPr marL="13500" algn="just">
              <a:lnSpc>
                <a:spcPct val="120000"/>
              </a:lnSpc>
              <a:spcBef>
                <a:spcPts val="100"/>
              </a:spcBef>
            </a:pPr>
            <a:endParaRPr lang="en-US" sz="2000" dirty="0">
              <a:latin typeface="Times New Roman" panose="02020603050405020304" pitchFamily="18" charset="0"/>
              <a:cs typeface="Times New Roman" panose="02020603050405020304" pitchFamily="18" charset="0"/>
            </a:endParaRPr>
          </a:p>
          <a:p>
            <a:pPr marL="355600" indent="-342900" algn="just" eaLnBrk="1" hangingPunct="1">
              <a:lnSpc>
                <a:spcPct val="120000"/>
              </a:lnSpc>
              <a:spcBef>
                <a:spcPts val="1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system improves communication between students and faculty, reduces administrative workload, and saves time by automating internship-related activities. Overall, the SRIT Intern Portal Hub offers a transparent, user-friendly, and efficient solution for internship management, making it highly suitable for real-world academic environments and institutional deployment.</a:t>
            </a:r>
            <a:endParaRPr lang="en-US" alt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0" y="-19050"/>
            <a:ext cx="6096000" cy="289823"/>
          </a:xfrm>
          <a:prstGeom prst="rect">
            <a:avLst/>
          </a:prstGeom>
        </p:spPr>
        <p:txBody>
          <a:bodyPr wrap="square" lIns="0" tIns="12700" rIns="0" bIns="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altLang="en-US"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SRIT Intern Portal Hub</a:t>
            </a:r>
            <a:endParaRPr kumimoji="0" lang="en-US" b="0" i="0" u="none" strike="noStrike" kern="0" cap="none" spc="0" normalizeH="0" baseline="0" noProof="0" dirty="0">
              <a:ln>
                <a:noFill/>
              </a:ln>
              <a:solidFill>
                <a:sysClr val="windowText" lastClr="000000"/>
              </a:solidFill>
              <a:effectLst/>
              <a:uLnTx/>
              <a:uFillTx/>
              <a:latin typeface="Times New Roman" panose="02020603050405020304"/>
              <a:ea typeface="+mn-ea"/>
              <a:cs typeface="Times New Roman" panose="02020603050405020304"/>
            </a:endParaRPr>
          </a:p>
        </p:txBody>
      </p:sp>
      <p:grpSp>
        <p:nvGrpSpPr>
          <p:cNvPr id="11267" name="object 3"/>
          <p:cNvGrpSpPr/>
          <p:nvPr/>
        </p:nvGrpSpPr>
        <p:grpSpPr>
          <a:xfrm>
            <a:off x="0" y="217488"/>
            <a:ext cx="12192000" cy="803275"/>
            <a:chOff x="0" y="216720"/>
            <a:chExt cx="12192000" cy="803275"/>
          </a:xfrm>
        </p:grpSpPr>
        <p:pic>
          <p:nvPicPr>
            <p:cNvPr id="11274" name="object 4"/>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1275"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a:xfrm>
            <a:off x="-1" y="182561"/>
            <a:ext cx="4811713" cy="689932"/>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Problem</a:t>
            </a:r>
            <a:r>
              <a:rPr kumimoji="0" sz="4400" b="0" i="0" u="none" strike="noStrike" kern="0" cap="none" spc="-18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Statement</a:t>
            </a:r>
          </a:p>
        </p:txBody>
      </p:sp>
      <p:sp>
        <p:nvSpPr>
          <p:cNvPr id="8" name="object 8"/>
          <p:cNvSpPr txBox="1">
            <a:spLocks noGrp="1"/>
          </p:cNvSpPr>
          <p:nvPr>
            <p:ph type="ftr" sz="quarter" idx="3"/>
          </p:nvPr>
        </p:nvSpPr>
        <p:spPr>
          <a:noFill/>
        </p:spPr>
        <p:txBody>
          <a:bodyPr vert="horz" wrap="square" lIns="0" tIns="0" rIns="0" bIns="0" rtlCol="0">
            <a:spAutoFit/>
          </a:body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A-8</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4017963" cy="533400"/>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p:nvPr/>
        </p:nvSpPr>
        <p:spPr>
          <a:xfrm>
            <a:off x="72231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C9A058BF-499F-4118-9D56-70370F5F56F2}"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5</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1273" name="object 7"/>
          <p:cNvSpPr>
            <a:spLocks noGrp="1"/>
          </p:cNvSpPr>
          <p:nvPr>
            <p:ph type="body" idx="1"/>
          </p:nvPr>
        </p:nvSpPr>
        <p:spPr>
          <a:xfrm>
            <a:off x="236538" y="1074738"/>
            <a:ext cx="11347450" cy="5615961"/>
          </a:xfrm>
          <a:ln/>
        </p:spPr>
        <p:txBody>
          <a:bodyPr vert="horz" wrap="square" lIns="0" tIns="60960" rIns="0" bIns="0" anchor="t" anchorCtr="0">
            <a:spAutoFit/>
          </a:bodyPr>
          <a:lstStyle/>
          <a:p>
            <a:pPr marL="504825" indent="-492125" algn="just" defTabSz="914400" eaLnBrk="1" hangingPunct="1">
              <a:lnSpc>
                <a:spcPts val="3025"/>
              </a:lnSpc>
              <a:spcBef>
                <a:spcPts val="475"/>
              </a:spcBef>
              <a:buFont typeface="Lucida Sans Unicode" panose="020B0602030504020204" pitchFamily="34" charset="0"/>
              <a:buChar char="□"/>
              <a:tabLst>
                <a:tab pos="504825" algn="l"/>
                <a:tab pos="2227580" algn="l"/>
                <a:tab pos="4403725" algn="l"/>
                <a:tab pos="4942205" algn="l"/>
                <a:tab pos="6307455" algn="l"/>
                <a:tab pos="7318375" algn="l"/>
                <a:tab pos="7837805" algn="l"/>
                <a:tab pos="9807575" algn="l"/>
                <a:tab pos="10502900" algn="l"/>
              </a:tabLst>
            </a:pPr>
            <a:r>
              <a:rPr lang="en-US" sz="2400" dirty="0"/>
              <a:t>Internship and job opportunity management within educational institutions is an important aspect of student career development. However, existing practices are largely unstructured and rely on manual communication, making it difficult for students to access all available opportunities through a single platform. These methods often result in missed opportunities for students and inefficiencies in tracking applications.</a:t>
            </a:r>
          </a:p>
          <a:p>
            <a:pPr marL="12700" algn="just" defTabSz="914400" eaLnBrk="1" hangingPunct="1">
              <a:lnSpc>
                <a:spcPts val="3025"/>
              </a:lnSpc>
              <a:spcBef>
                <a:spcPts val="475"/>
              </a:spcBef>
              <a:tabLst>
                <a:tab pos="504825" algn="l"/>
                <a:tab pos="2227580" algn="l"/>
                <a:tab pos="4403725" algn="l"/>
                <a:tab pos="4942205" algn="l"/>
                <a:tab pos="6307455" algn="l"/>
                <a:tab pos="7318375" algn="l"/>
                <a:tab pos="7837805" algn="l"/>
                <a:tab pos="9807575" algn="l"/>
                <a:tab pos="10502900" algn="l"/>
              </a:tabLst>
            </a:pPr>
            <a:endParaRPr lang="en-US" sz="2400" dirty="0"/>
          </a:p>
          <a:p>
            <a:pPr marL="504825" indent="-492125" algn="just" eaLnBrk="1" hangingPunct="1">
              <a:lnSpc>
                <a:spcPts val="3025"/>
              </a:lnSpc>
              <a:spcBef>
                <a:spcPts val="475"/>
              </a:spcBef>
              <a:buFont typeface="Lucida Sans Unicode" panose="020B0602030504020204" pitchFamily="34" charset="0"/>
              <a:buChar char="□"/>
              <a:tabLst>
                <a:tab pos="504825" algn="l"/>
                <a:tab pos="2227580" algn="l"/>
                <a:tab pos="4403725" algn="l"/>
                <a:tab pos="4942205" algn="l"/>
                <a:tab pos="6307455" algn="l"/>
                <a:tab pos="7318375" algn="l"/>
                <a:tab pos="7837805" algn="l"/>
                <a:tab pos="9807575" algn="l"/>
                <a:tab pos="10502900" algn="l"/>
              </a:tabLst>
            </a:pPr>
            <a:r>
              <a:rPr lang="en-US" sz="2400" dirty="0"/>
              <a:t> Furthermore, there is no unified system that enables faculty to post internship and job openings, monitor student participation, and manage application submissions effectively. Due to the lack of centralization, faculty face challenges in shortlisting candidates, approving applications, and maintaining transparency. Therefore, there is a need for a centralized and systematic online platform that can efficiently organize postings, student applications, and the entire selection workflow to support transparent and effective campus internship management.</a:t>
            </a:r>
          </a:p>
          <a:p>
            <a:pPr marL="504825" indent="-492125" algn="just" defTabSz="914400" eaLnBrk="1" hangingPunct="1">
              <a:lnSpc>
                <a:spcPts val="3025"/>
              </a:lnSpc>
              <a:spcBef>
                <a:spcPts val="475"/>
              </a:spcBef>
              <a:buFont typeface="Lucida Sans Unicode" panose="020B0602030504020204" pitchFamily="34" charset="0"/>
              <a:buChar char="□"/>
              <a:tabLst>
                <a:tab pos="504825" algn="l"/>
                <a:tab pos="2227580" algn="l"/>
                <a:tab pos="4403725" algn="l"/>
                <a:tab pos="4942205" algn="l"/>
                <a:tab pos="6307455" algn="l"/>
                <a:tab pos="7318375" algn="l"/>
                <a:tab pos="7837805" algn="l"/>
                <a:tab pos="9807575" algn="l"/>
                <a:tab pos="10502900" algn="l"/>
              </a:tabLst>
            </a:pPr>
            <a:endParaRPr lang="en-US" altLang="en-US" sz="2400" dirty="0">
              <a:latin typeface="Times New Roman" panose="02020603050405020304" pitchFamily="18" charset="0"/>
              <a:ea typeface="Times New Roman" panose="02020603050405020304" pitchFamily="18" charset="0"/>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7401" y="-19050"/>
            <a:ext cx="7772400" cy="289823"/>
          </a:xfrm>
          <a:prstGeom prst="rect">
            <a:avLst/>
          </a:prstGeom>
        </p:spPr>
        <p:txBody>
          <a:bodyPr wrap="square" lIns="0" tIns="12700" rIns="0" bIns="0">
            <a:spAutoFit/>
          </a:bodyPr>
          <a:lstStyle/>
          <a:p>
            <a:pPr marL="12700" marR="0" algn="ctr" defTabSz="914400" eaLnBrk="1" fontAlgn="auto" hangingPunct="1">
              <a:spcBef>
                <a:spcPts val="100"/>
              </a:spcBef>
              <a:spcAft>
                <a:spcPts val="0"/>
              </a:spcAft>
              <a:buClrTx/>
              <a:buSzTx/>
              <a:buFontTx/>
              <a:buNone/>
              <a:defRPr/>
            </a:pPr>
            <a:r>
              <a:rPr lang="en-US" altLang="en-US" dirty="0">
                <a:solidFill>
                  <a:schemeClr val="bg1"/>
                </a:solidFill>
                <a:latin typeface="Times New Roman" panose="02020603050405020304" pitchFamily="18" charset="0"/>
                <a:ea typeface="+mj-ea"/>
                <a:cs typeface="Times New Roman" panose="02020603050405020304" pitchFamily="18" charset="0"/>
              </a:rPr>
              <a:t>SRIT Intern Portal Hub</a:t>
            </a:r>
            <a:endParaRPr kumimoji="0" lang="en-US" kern="0" cap="none" spc="0" normalizeH="0" baseline="0" noProof="0" dirty="0">
              <a:solidFill>
                <a:sysClr val="windowText" lastClr="000000"/>
              </a:solidFill>
              <a:latin typeface="Times New Roman" panose="02020603050405020304"/>
              <a:ea typeface="+mn-ea"/>
              <a:cs typeface="Times New Roman" panose="02020603050405020304"/>
            </a:endParaRPr>
          </a:p>
        </p:txBody>
      </p:sp>
      <p:grpSp>
        <p:nvGrpSpPr>
          <p:cNvPr id="12291" name="object 3"/>
          <p:cNvGrpSpPr/>
          <p:nvPr/>
        </p:nvGrpSpPr>
        <p:grpSpPr>
          <a:xfrm>
            <a:off x="0" y="217488"/>
            <a:ext cx="12192000" cy="803275"/>
            <a:chOff x="0" y="216720"/>
            <a:chExt cx="12192000" cy="803275"/>
          </a:xfrm>
        </p:grpSpPr>
        <p:pic>
          <p:nvPicPr>
            <p:cNvPr id="12298" name="object 4"/>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2299"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a:xfrm>
            <a:off x="0" y="182562"/>
            <a:ext cx="5257800" cy="689932"/>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tabLst>
                <a:tab pos="3145790" algn="l"/>
              </a:tabLst>
              <a:defRPr/>
            </a:pP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Objectives</a:t>
            </a:r>
            <a:r>
              <a:rPr kumimoji="0" sz="4400" b="0" i="0" u="none" strike="noStrike" kern="0" cap="none" spc="-6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Project</a:t>
            </a:r>
          </a:p>
        </p:txBody>
      </p:sp>
      <p:sp>
        <p:nvSpPr>
          <p:cNvPr id="8" name="object 8"/>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A-8</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40941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p:nvPr/>
        </p:nvSpPr>
        <p:spPr>
          <a:xfrm>
            <a:off x="7259638" y="6629400"/>
            <a:ext cx="4094163"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37285FAC-0E59-4888-B0BB-2D06E0981F0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6</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2297" name="object 7"/>
          <p:cNvSpPr txBox="1"/>
          <p:nvPr/>
        </p:nvSpPr>
        <p:spPr>
          <a:xfrm>
            <a:off x="288925" y="1144588"/>
            <a:ext cx="11618913" cy="5183470"/>
          </a:xfrm>
          <a:prstGeom prst="rect">
            <a:avLst/>
          </a:prstGeom>
          <a:noFill/>
          <a:ln w="9525">
            <a:noFill/>
          </a:ln>
        </p:spPr>
        <p:txBody>
          <a:bodyPr lIns="0" tIns="12700" rIns="0" bIns="0">
            <a:spAutoFit/>
          </a:bodyPr>
          <a:lstStyle/>
          <a:p>
            <a:pPr marL="12700" algn="just"/>
            <a:r>
              <a:rPr sz="2400" b="1" dirty="0">
                <a:latin typeface="Times New Roman" panose="02020603050405020304" pitchFamily="18" charset="0"/>
                <a:cs typeface="Times New Roman" panose="02020603050405020304" pitchFamily="18" charset="0"/>
              </a:rPr>
              <a:t>1</a:t>
            </a:r>
            <a:r>
              <a:rPr sz="240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Research Objective</a:t>
            </a:r>
          </a:p>
          <a:p>
            <a:pPr marL="12700" algn="just"/>
            <a:r>
              <a:rPr lang="en-US" sz="2400" dirty="0">
                <a:latin typeface="Times New Roman" panose="02020603050405020304" pitchFamily="18" charset="0"/>
                <a:cs typeface="Times New Roman" panose="02020603050405020304" pitchFamily="18" charset="0"/>
              </a:rPr>
              <a:t>To develop a centralized and intelligent online internship management portal that enables faculty to post campus internship and job opportunities and allows students to securely view and apply for them through a user-friendly interface.</a:t>
            </a:r>
          </a:p>
          <a:p>
            <a:pPr marL="12700" algn="just"/>
            <a:endParaRPr lang="en-US" sz="2400" dirty="0">
              <a:latin typeface="Times New Roman" panose="02020603050405020304" pitchFamily="18" charset="0"/>
              <a:cs typeface="Times New Roman" panose="02020603050405020304" pitchFamily="18" charset="0"/>
            </a:endParaRPr>
          </a:p>
          <a:p>
            <a:pPr marL="12700" algn="just"/>
            <a:r>
              <a:rPr lang="en-IN" sz="2400" b="1" dirty="0">
                <a:latin typeface="Times New Roman" panose="02020603050405020304" pitchFamily="18" charset="0"/>
                <a:cs typeface="Times New Roman" panose="02020603050405020304" pitchFamily="18" charset="0"/>
              </a:rPr>
              <a:t>2</a:t>
            </a:r>
            <a:r>
              <a:rPr sz="24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Objectives of the </a:t>
            </a:r>
            <a:r>
              <a:rPr lang="en-IN" sz="2400" b="1" dirty="0">
                <a:latin typeface="Times New Roman" panose="02020603050405020304" pitchFamily="18" charset="0"/>
                <a:cs typeface="Times New Roman" panose="02020603050405020304" pitchFamily="18" charset="0"/>
              </a:rPr>
              <a:t>Internship Management System</a:t>
            </a:r>
          </a:p>
          <a:p>
            <a:pPr marL="12700" algn="just"/>
            <a:r>
              <a:rPr lang="en-US" sz="2400" dirty="0">
                <a:latin typeface="Times New Roman" panose="02020603050405020304" pitchFamily="18" charset="0"/>
                <a:cs typeface="Times New Roman" panose="02020603050405020304" pitchFamily="18" charset="0"/>
              </a:rPr>
              <a:t>To design a unified platform that simplifies internship and job opportunity sharing across all departments and provides students with easy access to apply and track their applications.</a:t>
            </a:r>
          </a:p>
          <a:p>
            <a:pPr marL="12700" algn="just"/>
            <a:r>
              <a:rPr lang="en-US" sz="2400" dirty="0">
                <a:latin typeface="Times New Roman" panose="02020603050405020304" pitchFamily="18" charset="0"/>
                <a:cs typeface="Times New Roman" panose="02020603050405020304" pitchFamily="18" charset="0"/>
              </a:rPr>
              <a:t>To build an efficient system that supports faculty in reviewing applications, shortlisting candidates, updating application status, and managing the entire selection workflow in an organized and transparent manner</a:t>
            </a:r>
            <a:r>
              <a:rPr lang="en-US" sz="2400" dirty="0"/>
              <a:t>.</a:t>
            </a:r>
          </a:p>
          <a:p>
            <a:pPr marL="12700" algn="just"/>
            <a:r>
              <a:rPr lang="en-US" sz="2400" dirty="0">
                <a:latin typeface="Times New Roman" panose="02020603050405020304" pitchFamily="18" charset="0"/>
                <a:cs typeface="Times New Roman" panose="02020603050405020304" pitchFamily="18" charset="0"/>
              </a:rPr>
              <a:t>To integrate an AI-based resume generation feature that assists students in creating a professional and well-structured resume instantly using the information provided by them.</a:t>
            </a:r>
          </a:p>
          <a:p>
            <a:pPr marL="12700" algn="just"/>
            <a:endParaRPr lang="en-US" alt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7400" y="-19050"/>
            <a:ext cx="7242175" cy="289823"/>
          </a:xfrm>
          <a:prstGeom prst="rect">
            <a:avLst/>
          </a:prstGeom>
        </p:spPr>
        <p:txBody>
          <a:bodyPr wrap="square" lIns="0" tIns="12700" rIns="0" bIns="0">
            <a:spAutoFit/>
          </a:bodyPr>
          <a:lstStyle/>
          <a:p>
            <a:pPr marL="12700" marR="0" algn="ctr" defTabSz="914400" eaLnBrk="1" fontAlgn="auto" hangingPunct="1">
              <a:spcBef>
                <a:spcPts val="100"/>
              </a:spcBef>
              <a:spcAft>
                <a:spcPts val="0"/>
              </a:spcAft>
              <a:buClrTx/>
              <a:buSzTx/>
              <a:buFontTx/>
              <a:buNone/>
              <a:defRPr/>
            </a:pPr>
            <a:r>
              <a:rPr lang="en-US" altLang="en-US" sz="1400" dirty="0">
                <a:solidFill>
                  <a:schemeClr val="bg1"/>
                </a:solidFill>
                <a:latin typeface="Times New Roman" panose="02020603050405020304" pitchFamily="18" charset="0"/>
                <a:ea typeface="+mj-ea"/>
                <a:cs typeface="Times New Roman" panose="02020603050405020304" pitchFamily="18" charset="0"/>
              </a:rPr>
              <a:t>                   </a:t>
            </a:r>
            <a:r>
              <a:rPr lang="en-US" altLang="en-US" dirty="0">
                <a:solidFill>
                  <a:schemeClr val="bg1"/>
                </a:solidFill>
                <a:latin typeface="Times New Roman" panose="02020603050405020304" pitchFamily="18" charset="0"/>
                <a:ea typeface="+mj-ea"/>
                <a:cs typeface="Times New Roman" panose="02020603050405020304" pitchFamily="18" charset="0"/>
              </a:rPr>
              <a:t>SRIT Intern Portal Hub</a:t>
            </a:r>
            <a:endParaRPr kumimoji="0" lang="en-US" kern="0" cap="none" spc="0" normalizeH="0" baseline="0" noProof="0" dirty="0">
              <a:solidFill>
                <a:sysClr val="windowText" lastClr="000000"/>
              </a:solidFill>
              <a:latin typeface="Times New Roman" panose="02020603050405020304"/>
              <a:ea typeface="+mn-ea"/>
              <a:cs typeface="Times New Roman" panose="02020603050405020304"/>
            </a:endParaRPr>
          </a:p>
        </p:txBody>
      </p:sp>
      <p:grpSp>
        <p:nvGrpSpPr>
          <p:cNvPr id="13315" name="object 3"/>
          <p:cNvGrpSpPr/>
          <p:nvPr/>
        </p:nvGrpSpPr>
        <p:grpSpPr>
          <a:xfrm>
            <a:off x="0" y="209550"/>
            <a:ext cx="12192000" cy="803275"/>
            <a:chOff x="0" y="216720"/>
            <a:chExt cx="12192000" cy="803275"/>
          </a:xfrm>
        </p:grpSpPr>
        <p:pic>
          <p:nvPicPr>
            <p:cNvPr id="13322" name="object 4"/>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3323"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p:nvPr/>
        </p:nvSpPr>
        <p:spPr>
          <a:xfrm>
            <a:off x="311082" y="209550"/>
            <a:ext cx="6623117" cy="1454244"/>
          </a:xfrm>
          <a:prstGeom prst="rect">
            <a:avLst/>
          </a:prstGeom>
        </p:spPr>
        <p:txBody>
          <a:bodyPr wrap="square" lIns="0" tIns="12700" rIns="0" bIns="0">
            <a:spAutoFit/>
          </a:bodyPr>
          <a:lstStyle/>
          <a:p>
            <a:pPr marL="12700" eaLnBrk="1" hangingPunct="1">
              <a:spcBef>
                <a:spcPts val="100"/>
              </a:spcBef>
              <a:buNone/>
            </a:pPr>
            <a:r>
              <a:rPr lang="zh-CN" altLang="x-none" sz="3600" dirty="0">
                <a:solidFill>
                  <a:schemeClr val="bg1"/>
                </a:solidFill>
                <a:latin typeface="Times New Roman" panose="02020603050405020304" pitchFamily="18" charset="0"/>
                <a:cs typeface="Times New Roman" panose="02020603050405020304" pitchFamily="18" charset="0"/>
              </a:rPr>
              <a:t>Literature survey for objectives</a:t>
            </a:r>
          </a:p>
          <a:p>
            <a:pPr marL="12700" eaLnBrk="1" hangingPunct="1">
              <a:spcBef>
                <a:spcPts val="225"/>
              </a:spcBef>
              <a:buNone/>
            </a:pPr>
            <a:endParaRPr lang="zh-CN" altLang="x-none" sz="2800" dirty="0">
              <a:solidFill>
                <a:srgbClr val="000000"/>
              </a:solidFill>
              <a:latin typeface="Times New Roman" panose="02020603050405020304" pitchFamily="18" charset="0"/>
              <a:cs typeface="Times New Roman" panose="02020603050405020304" pitchFamily="18" charset="0"/>
            </a:endParaRPr>
          </a:p>
          <a:p>
            <a:pPr marL="12700" eaLnBrk="1" hangingPunct="1">
              <a:buNone/>
            </a:pPr>
            <a:endParaRPr lang="zh-CN" altLang="x-none" sz="2800" dirty="0">
              <a:solidFill>
                <a:srgbClr val="000000"/>
              </a:solidFill>
              <a:latin typeface="Lucida Sans Unicode" panose="020B0602030504020204" pitchFamily="34" charset="0"/>
              <a:ea typeface="Lucida Sans Unicode" panose="020B0602030504020204" pitchFamily="34" charset="0"/>
            </a:endParaRPr>
          </a:p>
        </p:txBody>
      </p:sp>
      <p:sp>
        <p:nvSpPr>
          <p:cNvPr id="13317" name="Text Placeholder 3"/>
          <p:cNvSpPr>
            <a:spLocks noGrp="1"/>
          </p:cNvSpPr>
          <p:nvPr>
            <p:ph type="body" idx="1"/>
          </p:nvPr>
        </p:nvSpPr>
        <p:spPr>
          <a:xfrm>
            <a:off x="363220" y="1094105"/>
            <a:ext cx="11430000" cy="5238750"/>
          </a:xfrm>
          <a:ln/>
        </p:spPr>
        <p:txBody>
          <a:bodyPr vert="horz" wrap="square" lIns="0" tIns="0" rIns="0" bIns="0" anchor="t" anchorCtr="0">
            <a:noAutofit/>
          </a:bodyPr>
          <a:lstStyle/>
          <a:p>
            <a:pPr algn="just"/>
            <a:endParaRPr lang="en-US" altLang="en-US" sz="2000" b="1" i="1" dirty="0">
              <a:latin typeface="Times New Roman" panose="02020603050405020304" pitchFamily="18" charset="0"/>
              <a:ea typeface="Times New Roman" panose="02020603050405020304" pitchFamily="18" charset="0"/>
              <a:cs typeface="+mn-cs"/>
            </a:endParaRPr>
          </a:p>
        </p:txBody>
      </p:sp>
      <p:sp>
        <p:nvSpPr>
          <p:cNvPr id="7" name="object 7"/>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A-8</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8" name="object 8"/>
          <p:cNvSpPr txBox="1">
            <a:spLocks noGrp="1"/>
          </p:cNvSpPr>
          <p:nvPr>
            <p:ph type="dt" sz="half" idx="2"/>
          </p:nvPr>
        </p:nvSpPr>
        <p:spPr>
          <a:xfrm>
            <a:off x="1773238" y="6629400"/>
            <a:ext cx="4017963" cy="280988"/>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839735E-E8F9-414F-98D9-9436A0F3DAEC}"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7</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9" name="object 9"/>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graphicFrame>
        <p:nvGraphicFramePr>
          <p:cNvPr id="4" name="Table 3">
            <a:extLst>
              <a:ext uri="{FF2B5EF4-FFF2-40B4-BE49-F238E27FC236}">
                <a16:creationId xmlns:a16="http://schemas.microsoft.com/office/drawing/2014/main" id="{7BDBA3B1-4AC1-8AEB-BDEE-99502F1A9547}"/>
              </a:ext>
            </a:extLst>
          </p:cNvPr>
          <p:cNvGraphicFramePr>
            <a:graphicFrameLocks noGrp="1"/>
          </p:cNvGraphicFramePr>
          <p:nvPr>
            <p:extLst>
              <p:ext uri="{D42A27DB-BD31-4B8C-83A1-F6EECF244321}">
                <p14:modId xmlns:p14="http://schemas.microsoft.com/office/powerpoint/2010/main" val="3527743676"/>
              </p:ext>
            </p:extLst>
          </p:nvPr>
        </p:nvGraphicFramePr>
        <p:xfrm>
          <a:off x="311083" y="1094104"/>
          <a:ext cx="11035029" cy="5416934"/>
        </p:xfrm>
        <a:graphic>
          <a:graphicData uri="http://schemas.openxmlformats.org/drawingml/2006/table">
            <a:tbl>
              <a:tblPr firstRow="1" bandRow="1">
                <a:tableStyleId>{5C22544A-7EE6-4342-B048-85BDC9FD1C3A}</a:tableStyleId>
              </a:tblPr>
              <a:tblGrid>
                <a:gridCol w="519430">
                  <a:extLst>
                    <a:ext uri="{9D8B030D-6E8A-4147-A177-3AD203B41FA5}">
                      <a16:colId xmlns:a16="http://schemas.microsoft.com/office/drawing/2014/main" val="3035106285"/>
                    </a:ext>
                  </a:extLst>
                </a:gridCol>
                <a:gridCol w="2506309">
                  <a:extLst>
                    <a:ext uri="{9D8B030D-6E8A-4147-A177-3AD203B41FA5}">
                      <a16:colId xmlns:a16="http://schemas.microsoft.com/office/drawing/2014/main" val="385153041"/>
                    </a:ext>
                  </a:extLst>
                </a:gridCol>
                <a:gridCol w="1601858">
                  <a:extLst>
                    <a:ext uri="{9D8B030D-6E8A-4147-A177-3AD203B41FA5}">
                      <a16:colId xmlns:a16="http://schemas.microsoft.com/office/drawing/2014/main" val="1390509603"/>
                    </a:ext>
                  </a:extLst>
                </a:gridCol>
                <a:gridCol w="1601858">
                  <a:extLst>
                    <a:ext uri="{9D8B030D-6E8A-4147-A177-3AD203B41FA5}">
                      <a16:colId xmlns:a16="http://schemas.microsoft.com/office/drawing/2014/main" val="1825041296"/>
                    </a:ext>
                  </a:extLst>
                </a:gridCol>
                <a:gridCol w="1601858">
                  <a:extLst>
                    <a:ext uri="{9D8B030D-6E8A-4147-A177-3AD203B41FA5}">
                      <a16:colId xmlns:a16="http://schemas.microsoft.com/office/drawing/2014/main" val="3519961067"/>
                    </a:ext>
                  </a:extLst>
                </a:gridCol>
                <a:gridCol w="1601858">
                  <a:extLst>
                    <a:ext uri="{9D8B030D-6E8A-4147-A177-3AD203B41FA5}">
                      <a16:colId xmlns:a16="http://schemas.microsoft.com/office/drawing/2014/main" val="1367144817"/>
                    </a:ext>
                  </a:extLst>
                </a:gridCol>
                <a:gridCol w="1601858">
                  <a:extLst>
                    <a:ext uri="{9D8B030D-6E8A-4147-A177-3AD203B41FA5}">
                      <a16:colId xmlns:a16="http://schemas.microsoft.com/office/drawing/2014/main" val="787266418"/>
                    </a:ext>
                  </a:extLst>
                </a:gridCol>
              </a:tblGrid>
              <a:tr h="730128">
                <a:tc>
                  <a:txBody>
                    <a:bodyPr/>
                    <a:lstStyle/>
                    <a:p>
                      <a:r>
                        <a:rPr lang="en-IN" dirty="0">
                          <a:latin typeface="Times New Roman" panose="02020603050405020304" pitchFamily="18" charset="0"/>
                          <a:cs typeface="Times New Roman" panose="02020603050405020304" pitchFamily="18" charset="0"/>
                        </a:rPr>
                        <a:t>No</a:t>
                      </a:r>
                    </a:p>
                  </a:txBody>
                  <a:tcPr/>
                </a:tc>
                <a:tc>
                  <a:txBody>
                    <a:bodyPr/>
                    <a:lstStyle/>
                    <a:p>
                      <a:r>
                        <a:rPr lang="en-IN" dirty="0">
                          <a:latin typeface="Times New Roman" panose="02020603050405020304" pitchFamily="18" charset="0"/>
                          <a:cs typeface="Times New Roman" panose="02020603050405020304" pitchFamily="18" charset="0"/>
                        </a:rPr>
                        <a:t>Title</a:t>
                      </a:r>
                    </a:p>
                  </a:txBody>
                  <a:tcPr/>
                </a:tc>
                <a:tc>
                  <a:txBody>
                    <a:bodyPr/>
                    <a:lstStyle/>
                    <a:p>
                      <a:r>
                        <a:rPr lang="en-IN" dirty="0">
                          <a:latin typeface="Times New Roman" panose="02020603050405020304" pitchFamily="18" charset="0"/>
                          <a:cs typeface="Times New Roman" panose="02020603050405020304" pitchFamily="18" charset="0"/>
                        </a:rPr>
                        <a:t>Authors &amp;</a:t>
                      </a:r>
                    </a:p>
                    <a:p>
                      <a:r>
                        <a:rPr lang="en-IN" dirty="0">
                          <a:latin typeface="Times New Roman" panose="02020603050405020304" pitchFamily="18" charset="0"/>
                          <a:cs typeface="Times New Roman" panose="02020603050405020304" pitchFamily="18" charset="0"/>
                        </a:rPr>
                        <a:t>Year</a:t>
                      </a:r>
                    </a:p>
                  </a:txBody>
                  <a:tcPr/>
                </a:tc>
                <a:tc>
                  <a:txBody>
                    <a:bodyPr/>
                    <a:lstStyle/>
                    <a:p>
                      <a:r>
                        <a:rPr lang="en-IN" dirty="0">
                          <a:latin typeface="Times New Roman" panose="02020603050405020304" pitchFamily="18" charset="0"/>
                          <a:cs typeface="Times New Roman" panose="02020603050405020304" pitchFamily="18" charset="0"/>
                        </a:rPr>
                        <a:t>Journal</a:t>
                      </a:r>
                    </a:p>
                    <a:p>
                      <a:r>
                        <a:rPr lang="en-IN" dirty="0">
                          <a:latin typeface="Times New Roman" panose="02020603050405020304" pitchFamily="18" charset="0"/>
                          <a:cs typeface="Times New Roman" panose="02020603050405020304" pitchFamily="18" charset="0"/>
                        </a:rPr>
                        <a:t>Name</a:t>
                      </a:r>
                    </a:p>
                  </a:txBody>
                  <a:tcPr/>
                </a:tc>
                <a:tc>
                  <a:txBody>
                    <a:bodyPr/>
                    <a:lstStyle/>
                    <a:p>
                      <a:r>
                        <a:rPr lang="en-IN" dirty="0">
                          <a:latin typeface="Times New Roman" panose="02020603050405020304" pitchFamily="18" charset="0"/>
                          <a:cs typeface="Times New Roman" panose="02020603050405020304" pitchFamily="18" charset="0"/>
                        </a:rPr>
                        <a:t>Methodology</a:t>
                      </a:r>
                    </a:p>
                    <a:p>
                      <a:r>
                        <a:rPr lang="en-IN" dirty="0">
                          <a:latin typeface="Times New Roman" panose="02020603050405020304" pitchFamily="18" charset="0"/>
                          <a:cs typeface="Times New Roman" panose="02020603050405020304" pitchFamily="18" charset="0"/>
                        </a:rPr>
                        <a:t>Adapted</a:t>
                      </a:r>
                    </a:p>
                  </a:txBody>
                  <a:tcPr/>
                </a:tc>
                <a:tc>
                  <a:txBody>
                    <a:bodyPr/>
                    <a:lstStyle/>
                    <a:p>
                      <a:r>
                        <a:rPr lang="en-IN" dirty="0">
                          <a:latin typeface="Times New Roman" panose="02020603050405020304" pitchFamily="18" charset="0"/>
                          <a:cs typeface="Times New Roman" panose="02020603050405020304" pitchFamily="18" charset="0"/>
                        </a:rPr>
                        <a:t>Key Findings</a:t>
                      </a:r>
                    </a:p>
                  </a:txBody>
                  <a:tcPr/>
                </a:tc>
                <a:tc>
                  <a:txBody>
                    <a:bodyPr/>
                    <a:lstStyle/>
                    <a:p>
                      <a:r>
                        <a:rPr lang="en-IN" dirty="0">
                          <a:latin typeface="Times New Roman" panose="02020603050405020304" pitchFamily="18" charset="0"/>
                          <a:cs typeface="Times New Roman" panose="02020603050405020304" pitchFamily="18" charset="0"/>
                        </a:rPr>
                        <a:t>Gaps</a:t>
                      </a:r>
                    </a:p>
                  </a:txBody>
                  <a:tcPr/>
                </a:tc>
                <a:extLst>
                  <a:ext uri="{0D108BD9-81ED-4DB2-BD59-A6C34878D82A}">
                    <a16:rowId xmlns:a16="http://schemas.microsoft.com/office/drawing/2014/main" val="3790609160"/>
                  </a:ext>
                </a:extLst>
              </a:tr>
              <a:tr h="1474723">
                <a:tc>
                  <a:txBody>
                    <a:bodyPr/>
                    <a:lstStyle/>
                    <a:p>
                      <a:r>
                        <a:rPr lang="en-IN" dirty="0"/>
                        <a:t>1.</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Design and Development of Placement Management System for Academic Institutions</a:t>
                      </a:r>
                    </a:p>
                    <a:p>
                      <a:endParaRPr lang="en-IN" dirty="0"/>
                    </a:p>
                  </a:txBody>
                  <a:tcPr/>
                </a:tc>
                <a:tc>
                  <a:txBody>
                    <a:bodyPr/>
                    <a:lstStyle/>
                    <a:p>
                      <a:r>
                        <a:rPr dirty="0"/>
                        <a:t>S. Patel, K. Desai – 202</a:t>
                      </a:r>
                      <a:r>
                        <a:rPr lang="en-IN" dirty="0"/>
                        <a:t>4</a:t>
                      </a:r>
                      <a:endParaRPr dirty="0"/>
                    </a:p>
                  </a:txBody>
                  <a:tcPr/>
                </a:tc>
                <a:tc>
                  <a:txBody>
                    <a:bodyPr/>
                    <a:lstStyle/>
                    <a:p>
                      <a:r>
                        <a:rPr dirty="0"/>
                        <a:t>IRJET</a:t>
                      </a:r>
                    </a:p>
                  </a:txBody>
                  <a:tcPr/>
                </a:tc>
                <a:tc>
                  <a:txBody>
                    <a:bodyPr/>
                    <a:lstStyle/>
                    <a:p>
                      <a:r>
                        <a:rPr dirty="0"/>
                        <a:t>Web-based placement portal, centralized posting system</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Reduces missed notifications.</a:t>
                      </a:r>
                    </a:p>
                    <a:p>
                      <a:endParaRPr lang="en-IN" dirty="0"/>
                    </a:p>
                  </a:txBody>
                  <a:tcPr/>
                </a:tc>
                <a:tc>
                  <a:txBody>
                    <a:bodyPr/>
                    <a:lstStyle/>
                    <a:p>
                      <a:r>
                        <a:rPr lang="en-IN" dirty="0"/>
                        <a:t>No automation for selection.</a:t>
                      </a:r>
                    </a:p>
                  </a:txBody>
                  <a:tcPr/>
                </a:tc>
                <a:extLst>
                  <a:ext uri="{0D108BD9-81ED-4DB2-BD59-A6C34878D82A}">
                    <a16:rowId xmlns:a16="http://schemas.microsoft.com/office/drawing/2014/main" val="2548964162"/>
                  </a:ext>
                </a:extLst>
              </a:tr>
              <a:tr h="1474723">
                <a:tc>
                  <a:txBody>
                    <a:bodyPr/>
                    <a:lstStyle/>
                    <a:p>
                      <a:r>
                        <a:rPr lang="en-IN" dirty="0"/>
                        <a:t>2.</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Automated Recruitment and Shortlisting System</a:t>
                      </a:r>
                    </a:p>
                    <a:p>
                      <a:endParaRPr lang="en-IN" dirty="0"/>
                    </a:p>
                  </a:txBody>
                  <a:tcPr/>
                </a:tc>
                <a:tc>
                  <a:txBody>
                    <a:bodyPr/>
                    <a:lstStyle/>
                    <a:p>
                      <a:r>
                        <a:rPr dirty="0"/>
                        <a:t>A. Kumar, R. Mishra – 20</a:t>
                      </a:r>
                      <a:r>
                        <a:rPr lang="en-IN" dirty="0"/>
                        <a:t>24</a:t>
                      </a:r>
                      <a:endParaRPr dirty="0"/>
                    </a:p>
                  </a:txBody>
                  <a:tcPr/>
                </a:tc>
                <a:tc>
                  <a:txBody>
                    <a:bodyPr/>
                    <a:lstStyle/>
                    <a:p>
                      <a:r>
                        <a:rPr dirty="0"/>
                        <a:t>IJRTE</a:t>
                      </a:r>
                    </a:p>
                  </a:txBody>
                  <a:tcPr/>
                </a:tc>
                <a:tc>
                  <a:txBody>
                    <a:bodyPr/>
                    <a:lstStyle/>
                    <a:p>
                      <a:r>
                        <a:rPr dirty="0"/>
                        <a:t>Automated filtering and scoring algorithms</a:t>
                      </a:r>
                    </a:p>
                  </a:txBody>
                  <a:tcPr/>
                </a:tc>
                <a:tc>
                  <a:txBody>
                    <a:bodyPr/>
                    <a:lstStyle/>
                    <a:p>
                      <a:r>
                        <a:rPr lang="en-IN" dirty="0"/>
                        <a:t>Faster, accurate</a:t>
                      </a:r>
                    </a:p>
                  </a:txBody>
                  <a:tcPr/>
                </a:tc>
                <a:tc>
                  <a:txBody>
                    <a:bodyPr/>
                    <a:lstStyle/>
                    <a:p>
                      <a:r>
                        <a:rPr lang="en-IN" dirty="0"/>
                        <a:t>No student-side modules.</a:t>
                      </a:r>
                    </a:p>
                  </a:txBody>
                  <a:tcPr/>
                </a:tc>
                <a:extLst>
                  <a:ext uri="{0D108BD9-81ED-4DB2-BD59-A6C34878D82A}">
                    <a16:rowId xmlns:a16="http://schemas.microsoft.com/office/drawing/2014/main" val="3412433894"/>
                  </a:ext>
                </a:extLst>
              </a:tr>
              <a:tr h="1474723">
                <a:tc>
                  <a:txBody>
                    <a:bodyPr/>
                    <a:lstStyle/>
                    <a:p>
                      <a:r>
                        <a:rPr lang="en-IN" dirty="0"/>
                        <a:t>3.</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AI-Based Resume Builder Using NLP and Machine Learning</a:t>
                      </a:r>
                    </a:p>
                    <a:p>
                      <a:endParaRPr lang="en-IN" dirty="0"/>
                    </a:p>
                  </a:txBody>
                  <a:tcPr/>
                </a:tc>
                <a:tc>
                  <a:txBody>
                    <a:bodyPr/>
                    <a:lstStyle/>
                    <a:p>
                      <a:r>
                        <a:rPr dirty="0"/>
                        <a:t>P. Sharma, M. Singh – 202</a:t>
                      </a:r>
                      <a:r>
                        <a:rPr lang="en-IN" dirty="0"/>
                        <a:t>5</a:t>
                      </a:r>
                      <a:endParaRPr dirty="0"/>
                    </a:p>
                  </a:txBody>
                  <a:tcPr/>
                </a:tc>
                <a:tc>
                  <a:txBody>
                    <a:bodyPr/>
                    <a:lstStyle/>
                    <a:p>
                      <a:r>
                        <a:rPr dirty="0"/>
                        <a:t>IRJET</a:t>
                      </a:r>
                    </a:p>
                  </a:txBody>
                  <a:tcPr/>
                </a:tc>
                <a:tc>
                  <a:txBody>
                    <a:bodyPr/>
                    <a:lstStyle/>
                    <a:p>
                      <a:r>
                        <a:rPr dirty="0"/>
                        <a:t>NLP-based resume generation using ML templates</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Produces clean resumes.</a:t>
                      </a:r>
                    </a:p>
                    <a:p>
                      <a:endParaRPr lang="en-IN" dirty="0"/>
                    </a:p>
                  </a:txBody>
                  <a:tcPr/>
                </a:tc>
                <a:tc>
                  <a:txBody>
                    <a:bodyPr/>
                    <a:lstStyle/>
                    <a:p>
                      <a:r>
                        <a:rPr lang="en-IN" dirty="0"/>
                        <a:t>Limited customization.</a:t>
                      </a:r>
                    </a:p>
                  </a:txBody>
                  <a:tcPr/>
                </a:tc>
                <a:extLst>
                  <a:ext uri="{0D108BD9-81ED-4DB2-BD59-A6C34878D82A}">
                    <a16:rowId xmlns:a16="http://schemas.microsoft.com/office/drawing/2014/main" val="90844591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2800" y="-19049"/>
            <a:ext cx="4191000" cy="289823"/>
          </a:xfrm>
          <a:prstGeom prst="rect">
            <a:avLst/>
          </a:prstGeom>
        </p:spPr>
        <p:txBody>
          <a:bodyPr wrap="square" lIns="0" tIns="12700" rIns="0" bIns="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altLang="en-US"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                       SRIT Intern Portal Hub</a:t>
            </a:r>
            <a:endParaRPr kumimoji="0" lang="en-US" b="0" i="0" u="none" strike="noStrike" kern="0" cap="none" spc="0" normalizeH="0" baseline="0" noProof="0" dirty="0">
              <a:ln>
                <a:noFill/>
              </a:ln>
              <a:solidFill>
                <a:sysClr val="windowText" lastClr="000000"/>
              </a:solidFill>
              <a:effectLst/>
              <a:uLnTx/>
              <a:uFillTx/>
              <a:latin typeface="Times New Roman" panose="02020603050405020304"/>
              <a:ea typeface="+mn-ea"/>
              <a:cs typeface="Times New Roman" panose="02020603050405020304"/>
            </a:endParaRPr>
          </a:p>
        </p:txBody>
      </p:sp>
      <p:grpSp>
        <p:nvGrpSpPr>
          <p:cNvPr id="14339" name="object 4"/>
          <p:cNvGrpSpPr/>
          <p:nvPr/>
        </p:nvGrpSpPr>
        <p:grpSpPr>
          <a:xfrm>
            <a:off x="0" y="234950"/>
            <a:ext cx="12192000" cy="803275"/>
            <a:chOff x="0" y="216720"/>
            <a:chExt cx="12192000" cy="803275"/>
          </a:xfrm>
        </p:grpSpPr>
        <p:pic>
          <p:nvPicPr>
            <p:cNvPr id="14346" name="object 5"/>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4347" name="object 6"/>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7" name="object 7"/>
          <p:cNvSpPr txBox="1">
            <a:spLocks noGrp="1"/>
          </p:cNvSpPr>
          <p:nvPr>
            <p:ph type="title"/>
          </p:nvPr>
        </p:nvSpPr>
        <p:spPr>
          <a:xfrm>
            <a:off x="0" y="234834"/>
            <a:ext cx="4495800" cy="689932"/>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tabLst>
                <a:tab pos="2232025" algn="l"/>
              </a:tabLst>
              <a:defRPr/>
            </a:pP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Proposed</a:t>
            </a: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System</a:t>
            </a:r>
          </a:p>
        </p:txBody>
      </p:sp>
      <p:sp>
        <p:nvSpPr>
          <p:cNvPr id="8" name="object 8"/>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A-8</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40179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p:nvPr/>
        </p:nvSpPr>
        <p:spPr>
          <a:xfrm>
            <a:off x="7146925" y="6629400"/>
            <a:ext cx="41306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7F29C2A7-B412-4608-BCDF-0A47B9ED3D08}"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8</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4345" name="Rectangle 5"/>
          <p:cNvSpPr/>
          <p:nvPr/>
        </p:nvSpPr>
        <p:spPr>
          <a:xfrm>
            <a:off x="228600" y="1038225"/>
            <a:ext cx="11658600" cy="5430953"/>
          </a:xfrm>
          <a:prstGeom prst="rect">
            <a:avLst/>
          </a:prstGeom>
          <a:noFill/>
          <a:ln w="9525">
            <a:noFill/>
          </a:ln>
        </p:spPr>
        <p:txBody>
          <a:bodyPr>
            <a:noAutofit/>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proposed system is a centralized web-based portal designed to manage campus internship and job opportunities in an organized and efficient manner. Faculty members can post internship and job openings through the portal, making them accessible to all eligible students in a single platform.  </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Students can securely log in to the system, view available opportunities, and submit their applications through a simple and user-friendly interface. The system stores student profiles and application details systematically to support easy tracking and management.</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Faculty are provided with a dedicated dashboard where they can review all submitted applications, verify student details, shortlist or reject candidates based on eligibility, and update application statuses to ensure transparent communication.</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Additionally, the system integrates an AI-powered resume generation feature that helps students create professional resumes using the information they provide. This feature enhances the quality of applications and improves the overall efficiency of the internship selection process.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F8958-8EB0-9890-9B13-33C10AB0721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D5917C1-49A7-9689-D635-872D45A67BC4}"/>
              </a:ext>
            </a:extLst>
          </p:cNvPr>
          <p:cNvSpPr txBox="1"/>
          <p:nvPr/>
        </p:nvSpPr>
        <p:spPr>
          <a:xfrm>
            <a:off x="2057400" y="-19050"/>
            <a:ext cx="6553200" cy="289823"/>
          </a:xfrm>
          <a:prstGeom prst="rect">
            <a:avLst/>
          </a:prstGeom>
        </p:spPr>
        <p:txBody>
          <a:bodyPr wrap="square" lIns="0" tIns="12700" rIns="0" bIns="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                            </a:t>
            </a:r>
            <a:r>
              <a:rPr kumimoji="0" lang="en-US" altLang="en-US"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SRIT Intern Portal Hub</a:t>
            </a:r>
            <a:endParaRPr kumimoji="0" lang="en-US" b="0" i="0" u="none" strike="noStrike" kern="0" cap="none" spc="0" normalizeH="0" baseline="0" noProof="0" dirty="0">
              <a:ln>
                <a:noFill/>
              </a:ln>
              <a:solidFill>
                <a:sysClr val="windowText" lastClr="000000"/>
              </a:solidFill>
              <a:effectLst/>
              <a:uLnTx/>
              <a:uFillTx/>
              <a:latin typeface="Times New Roman" panose="02020603050405020304"/>
              <a:ea typeface="+mn-ea"/>
              <a:cs typeface="Times New Roman" panose="02020603050405020304"/>
            </a:endParaRPr>
          </a:p>
        </p:txBody>
      </p:sp>
      <p:grpSp>
        <p:nvGrpSpPr>
          <p:cNvPr id="14339" name="object 4">
            <a:extLst>
              <a:ext uri="{FF2B5EF4-FFF2-40B4-BE49-F238E27FC236}">
                <a16:creationId xmlns:a16="http://schemas.microsoft.com/office/drawing/2014/main" id="{B27F50B7-1144-3798-4244-6B3D43345882}"/>
              </a:ext>
            </a:extLst>
          </p:cNvPr>
          <p:cNvGrpSpPr/>
          <p:nvPr/>
        </p:nvGrpSpPr>
        <p:grpSpPr>
          <a:xfrm>
            <a:off x="0" y="228600"/>
            <a:ext cx="12192000" cy="805674"/>
            <a:chOff x="0" y="214206"/>
            <a:chExt cx="12192000" cy="805674"/>
          </a:xfrm>
        </p:grpSpPr>
        <p:pic>
          <p:nvPicPr>
            <p:cNvPr id="14346" name="object 5">
              <a:extLst>
                <a:ext uri="{FF2B5EF4-FFF2-40B4-BE49-F238E27FC236}">
                  <a16:creationId xmlns:a16="http://schemas.microsoft.com/office/drawing/2014/main" id="{F8AF17CC-9D11-E615-C868-8FFDECBE14F6}"/>
                </a:ext>
              </a:extLst>
            </p:cNvPr>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4347" name="object 6">
              <a:extLst>
                <a:ext uri="{FF2B5EF4-FFF2-40B4-BE49-F238E27FC236}">
                  <a16:creationId xmlns:a16="http://schemas.microsoft.com/office/drawing/2014/main" id="{D4F36DE7-6F42-13A7-A55F-85CAC9BD74A7}"/>
                </a:ext>
              </a:extLst>
            </p:cNvPr>
            <p:cNvSpPr/>
            <p:nvPr/>
          </p:nvSpPr>
          <p:spPr>
            <a:xfrm>
              <a:off x="0" y="214206"/>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7" name="object 7">
            <a:extLst>
              <a:ext uri="{FF2B5EF4-FFF2-40B4-BE49-F238E27FC236}">
                <a16:creationId xmlns:a16="http://schemas.microsoft.com/office/drawing/2014/main" id="{A899A221-DDEC-5811-CCAD-4479B139DC11}"/>
              </a:ext>
            </a:extLst>
          </p:cNvPr>
          <p:cNvSpPr txBox="1">
            <a:spLocks noGrp="1"/>
          </p:cNvSpPr>
          <p:nvPr>
            <p:ph type="title"/>
          </p:nvPr>
        </p:nvSpPr>
        <p:spPr>
          <a:xfrm>
            <a:off x="-838200" y="182562"/>
            <a:ext cx="4799013" cy="689932"/>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tabLst>
                <a:tab pos="2232025" algn="l"/>
              </a:tabLst>
              <a:defRPr/>
            </a:pPr>
            <a:r>
              <a:rPr lang="en-IN" sz="4400" b="0" strike="noStrike" spc="-1" dirty="0">
                <a:solidFill>
                  <a:srgbClr val="FFFFFF"/>
                </a:solidFill>
                <a:latin typeface="Times New Roman" panose="02020603050405020304"/>
              </a:rPr>
              <a:t>Reference</a:t>
            </a:r>
            <a:r>
              <a:rPr lang="en-US" sz="4400" b="0" strike="noStrike" spc="-1" dirty="0">
                <a:solidFill>
                  <a:srgbClr val="FFFFFF"/>
                </a:solidFill>
                <a:latin typeface="Times New Roman" panose="02020603050405020304"/>
              </a:rPr>
              <a:t>s</a:t>
            </a:r>
            <a:endPar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endParaRPr>
          </a:p>
        </p:txBody>
      </p:sp>
      <p:sp>
        <p:nvSpPr>
          <p:cNvPr id="8" name="object 8">
            <a:extLst>
              <a:ext uri="{FF2B5EF4-FFF2-40B4-BE49-F238E27FC236}">
                <a16:creationId xmlns:a16="http://schemas.microsoft.com/office/drawing/2014/main" id="{2BA2EC26-51CB-1278-6646-18823A4B4E20}"/>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A-8</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a:extLst>
              <a:ext uri="{FF2B5EF4-FFF2-40B4-BE49-F238E27FC236}">
                <a16:creationId xmlns:a16="http://schemas.microsoft.com/office/drawing/2014/main" id="{4432E33E-AEA6-C334-5AE4-60D42E9C0683}"/>
              </a:ext>
            </a:extLst>
          </p:cNvPr>
          <p:cNvSpPr txBox="1">
            <a:spLocks noGrp="1"/>
          </p:cNvSpPr>
          <p:nvPr>
            <p:ph type="dt" sz="half" idx="2"/>
          </p:nvPr>
        </p:nvSpPr>
        <p:spPr>
          <a:xfrm>
            <a:off x="1773238" y="6629400"/>
            <a:ext cx="40179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a:extLst>
              <a:ext uri="{FF2B5EF4-FFF2-40B4-BE49-F238E27FC236}">
                <a16:creationId xmlns:a16="http://schemas.microsoft.com/office/drawing/2014/main" id="{8E2D0780-C2F8-F667-52C1-6E3AAD316C8A}"/>
              </a:ext>
            </a:extLst>
          </p:cNvPr>
          <p:cNvSpPr txBox="1"/>
          <p:nvPr/>
        </p:nvSpPr>
        <p:spPr>
          <a:xfrm>
            <a:off x="7146925" y="6629400"/>
            <a:ext cx="41306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a:extLst>
              <a:ext uri="{FF2B5EF4-FFF2-40B4-BE49-F238E27FC236}">
                <a16:creationId xmlns:a16="http://schemas.microsoft.com/office/drawing/2014/main" id="{A467F9D1-0095-E53E-07AE-325F11910869}"/>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7F29C2A7-B412-4608-BCDF-0A47B9ED3D08}"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9</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4345" name="Rectangle 5">
            <a:extLst>
              <a:ext uri="{FF2B5EF4-FFF2-40B4-BE49-F238E27FC236}">
                <a16:creationId xmlns:a16="http://schemas.microsoft.com/office/drawing/2014/main" id="{2481CFBC-F9E2-AC48-E397-3EA4C6FDEBD2}"/>
              </a:ext>
            </a:extLst>
          </p:cNvPr>
          <p:cNvSpPr/>
          <p:nvPr/>
        </p:nvSpPr>
        <p:spPr>
          <a:xfrm>
            <a:off x="457200" y="1038225"/>
            <a:ext cx="11430000" cy="5179695"/>
          </a:xfrm>
          <a:prstGeom prst="rect">
            <a:avLst/>
          </a:prstGeom>
          <a:noFill/>
          <a:ln w="9525">
            <a:noFill/>
          </a:ln>
        </p:spPr>
        <p:txBody>
          <a:bodyPr>
            <a:noAutofit/>
          </a:bodyPr>
          <a:lstStyle/>
          <a:p>
            <a:pPr algn="just">
              <a:lnSpc>
                <a:spcPct val="90000"/>
              </a:lnSpc>
              <a:spcBef>
                <a:spcPts val="1000"/>
              </a:spcBef>
              <a:tabLst>
                <a:tab pos="0" algn="l"/>
              </a:tabLst>
            </a:pPr>
            <a:endParaRPr lang="en-US" sz="2400" b="1" kern="0" dirty="0">
              <a:solidFill>
                <a:sysClr val="windowText" lastClr="000000"/>
              </a:solidFill>
              <a:latin typeface="Times New Roman" panose="02020603050405020304" pitchFamily="18" charset="0"/>
              <a:cs typeface="Times New Roman" panose="02020603050405020304" pitchFamily="18" charset="0"/>
            </a:endParaRPr>
          </a:p>
          <a:p>
            <a:pPr algn="just">
              <a:lnSpc>
                <a:spcPct val="90000"/>
              </a:lnSpc>
              <a:spcBef>
                <a:spcPts val="1000"/>
              </a:spcBef>
              <a:tabLst>
                <a:tab pos="0" algn="l"/>
              </a:tabLst>
            </a:pPr>
            <a:r>
              <a:rPr lang="en-US" sz="2400" b="1" kern="0" dirty="0">
                <a:solidFill>
                  <a:sysClr val="windowText" lastClr="000000"/>
                </a:solidFill>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C. Lee, “Virtual Internships as Alternative Work-Based Learning,” </a:t>
            </a:r>
            <a:r>
              <a:rPr lang="en-US" sz="2400" i="1" dirty="0">
                <a:latin typeface="Times New Roman" panose="02020603050405020304" pitchFamily="18" charset="0"/>
                <a:cs typeface="Times New Roman" panose="02020603050405020304" pitchFamily="18" charset="0"/>
              </a:rPr>
              <a:t>Education and    Information Technologies</a:t>
            </a:r>
            <a:r>
              <a:rPr lang="en-US" sz="2400" dirty="0">
                <a:latin typeface="Times New Roman" panose="02020603050405020304" pitchFamily="18" charset="0"/>
                <a:cs typeface="Times New Roman" panose="02020603050405020304" pitchFamily="18" charset="0"/>
              </a:rPr>
              <a:t>, 2025.</a:t>
            </a:r>
          </a:p>
          <a:p>
            <a:pPr algn="just">
              <a:lnSpc>
                <a:spcPct val="90000"/>
              </a:lnSpc>
              <a:spcBef>
                <a:spcPts val="1000"/>
              </a:spcBef>
              <a:tabLst>
                <a:tab pos="0" algn="l"/>
              </a:tabLst>
            </a:pPr>
            <a:endParaRPr lang="en-US" sz="2400" spc="-1" dirty="0">
              <a:solidFill>
                <a:srgbClr val="000000"/>
              </a:solidFill>
              <a:latin typeface="Times New Roman" panose="02020603050405020304" pitchFamily="18" charset="0"/>
              <a:cs typeface="Times New Roman" panose="02020603050405020304" pitchFamily="18" charset="0"/>
            </a:endParaRPr>
          </a:p>
          <a:p>
            <a:pPr lvl="0">
              <a:defRPr/>
            </a:pPr>
            <a:r>
              <a:rPr lang="en-US" sz="2400" b="1" kern="0" dirty="0">
                <a:solidFill>
                  <a:sysClr val="windowText" lastClr="000000"/>
                </a:solidFill>
                <a:latin typeface="Times New Roman" panose="02020603050405020304" pitchFamily="18" charset="0"/>
                <a:cs typeface="Times New Roman" panose="02020603050405020304" pitchFamily="18" charset="0"/>
              </a:rPr>
              <a:t>[2]    </a:t>
            </a:r>
            <a:r>
              <a:rPr lang="en-US" sz="2400" dirty="0">
                <a:latin typeface="Times New Roman" panose="02020603050405020304" pitchFamily="18" charset="0"/>
                <a:cs typeface="Times New Roman" panose="02020603050405020304" pitchFamily="18" charset="0"/>
              </a:rPr>
              <a:t>M. Deepa, S. Naveen, B. Sachin, K. Vasanthan, and L. Rahill Rifaq, “Smart Internship Portal for Students and Companies,” </a:t>
            </a:r>
            <a:r>
              <a:rPr lang="en-US" sz="2400" i="1" dirty="0">
                <a:latin typeface="Times New Roman" panose="02020603050405020304" pitchFamily="18" charset="0"/>
                <a:cs typeface="Times New Roman" panose="02020603050405020304" pitchFamily="18" charset="0"/>
              </a:rPr>
              <a:t>International Journal of Progressive Research in Engineering Management and Science (IJPREMS)</a:t>
            </a:r>
            <a:r>
              <a:rPr lang="en-US" sz="2400" dirty="0">
                <a:latin typeface="Times New Roman" panose="02020603050405020304" pitchFamily="18" charset="0"/>
                <a:cs typeface="Times New Roman" panose="02020603050405020304" pitchFamily="18" charset="0"/>
              </a:rPr>
              <a:t>, vol. 5, no. 10, pp. 1634–1641, Oct. 2025. </a:t>
            </a:r>
          </a:p>
          <a:p>
            <a:pPr lvl="0">
              <a:defRPr/>
            </a:pPr>
            <a:endParaRPr lang="en-US" sz="2400" dirty="0">
              <a:latin typeface="Times New Roman" panose="02020603050405020304" pitchFamily="18" charset="0"/>
              <a:cs typeface="Times New Roman" panose="02020603050405020304" pitchFamily="18" charset="0"/>
            </a:endParaRPr>
          </a:p>
          <a:p>
            <a:pPr lvl="0">
              <a:defRPr/>
            </a:pPr>
            <a:r>
              <a:rPr lang="en-US" sz="2400" b="1" kern="0" dirty="0">
                <a:solidFill>
                  <a:sysClr val="windowText" lastClr="000000"/>
                </a:solidFill>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C. Lal, P. </a:t>
            </a:r>
            <a:r>
              <a:rPr lang="en-IN" sz="2400" dirty="0" err="1">
                <a:latin typeface="Times New Roman" panose="02020603050405020304" pitchFamily="18" charset="0"/>
                <a:cs typeface="Times New Roman" panose="02020603050405020304" pitchFamily="18" charset="0"/>
              </a:rPr>
              <a:t>Chandrakar</a:t>
            </a:r>
            <a:r>
              <a:rPr lang="en-IN" sz="2400" dirty="0">
                <a:latin typeface="Times New Roman" panose="02020603050405020304" pitchFamily="18" charset="0"/>
                <a:cs typeface="Times New Roman" panose="02020603050405020304" pitchFamily="18" charset="0"/>
              </a:rPr>
              <a:t>, and V. Sahu, “</a:t>
            </a:r>
            <a:r>
              <a:rPr lang="en-IN" sz="2400" dirty="0" err="1">
                <a:latin typeface="Times New Roman" panose="02020603050405020304" pitchFamily="18" charset="0"/>
                <a:cs typeface="Times New Roman" panose="02020603050405020304" pitchFamily="18" charset="0"/>
              </a:rPr>
              <a:t>InternConnect</a:t>
            </a:r>
            <a:r>
              <a:rPr lang="en-IN" sz="2400" dirty="0">
                <a:latin typeface="Times New Roman" panose="02020603050405020304" pitchFamily="18" charset="0"/>
                <a:cs typeface="Times New Roman" panose="02020603050405020304" pitchFamily="18" charset="0"/>
              </a:rPr>
              <a:t>: A Smart Internship Finder Portal,” </a:t>
            </a:r>
            <a:r>
              <a:rPr lang="en-IN" sz="2400" i="1" dirty="0">
                <a:latin typeface="Times New Roman" panose="02020603050405020304" pitchFamily="18" charset="0"/>
                <a:cs typeface="Times New Roman" panose="02020603050405020304" pitchFamily="18" charset="0"/>
              </a:rPr>
              <a:t>International Journal of Innovative Science and Research Technology (IJISRT)</a:t>
            </a:r>
            <a:r>
              <a:rPr lang="en-IN" sz="2400" dirty="0">
                <a:latin typeface="Times New Roman" panose="02020603050405020304" pitchFamily="18" charset="0"/>
                <a:cs typeface="Times New Roman" panose="02020603050405020304" pitchFamily="18" charset="0"/>
              </a:rPr>
              <a:t>, vol. 10, no. 5, pp. 3544–3545, May 2025, </a:t>
            </a:r>
            <a:r>
              <a:rPr lang="en-IN" sz="2400" dirty="0" err="1">
                <a:latin typeface="Times New Roman" panose="02020603050405020304" pitchFamily="18" charset="0"/>
                <a:cs typeface="Times New Roman" panose="02020603050405020304" pitchFamily="18" charset="0"/>
              </a:rPr>
              <a:t>doi</a:t>
            </a:r>
            <a:r>
              <a:rPr lang="en-IN" sz="2400" dirty="0">
                <a:latin typeface="Times New Roman" panose="02020603050405020304" pitchFamily="18" charset="0"/>
                <a:cs typeface="Times New Roman" panose="02020603050405020304" pitchFamily="18" charset="0"/>
              </a:rPr>
              <a:t>: 10.38124/</a:t>
            </a:r>
            <a:r>
              <a:rPr lang="en-IN" sz="2400" dirty="0" err="1">
                <a:latin typeface="Times New Roman" panose="02020603050405020304" pitchFamily="18" charset="0"/>
                <a:cs typeface="Times New Roman" panose="02020603050405020304" pitchFamily="18" charset="0"/>
              </a:rPr>
              <a:t>ijisrt</a:t>
            </a:r>
            <a:r>
              <a:rPr lang="en-IN" sz="2400" dirty="0">
                <a:latin typeface="Times New Roman" panose="02020603050405020304" pitchFamily="18" charset="0"/>
                <a:cs typeface="Times New Roman" panose="02020603050405020304" pitchFamily="18" charset="0"/>
              </a:rPr>
              <a:t>/25may2247.</a:t>
            </a:r>
            <a:endParaRPr lang="en-US" sz="2400" dirty="0">
              <a:latin typeface="Times New Roman" panose="02020603050405020304" pitchFamily="18" charset="0"/>
              <a:cs typeface="Times New Roman" panose="02020603050405020304" pitchFamily="18" charset="0"/>
            </a:endParaRPr>
          </a:p>
          <a:p>
            <a:pPr lvl="0">
              <a:defRP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1494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B6536-5F1F-FC07-97FE-78276D73D35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C4D8EC6-11A7-408D-8A9E-8520A10F025C}"/>
              </a:ext>
            </a:extLst>
          </p:cNvPr>
          <p:cNvSpPr txBox="1"/>
          <p:nvPr/>
        </p:nvSpPr>
        <p:spPr>
          <a:xfrm>
            <a:off x="2057400" y="-19050"/>
            <a:ext cx="6553200" cy="228268"/>
          </a:xfrm>
          <a:prstGeom prst="rect">
            <a:avLst/>
          </a:prstGeom>
        </p:spPr>
        <p:txBody>
          <a:bodyPr wrap="square" lIns="0" tIns="12700" rIns="0" bIns="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SRIT Intern Portal Hub</a:t>
            </a:r>
            <a:endParaRPr kumimoji="0" lang="en-US" sz="1500" b="0" i="0" u="none" strike="noStrike" kern="0" cap="none" spc="0" normalizeH="0" baseline="0" noProof="0" dirty="0">
              <a:ln>
                <a:noFill/>
              </a:ln>
              <a:solidFill>
                <a:sysClr val="windowText" lastClr="000000"/>
              </a:solidFill>
              <a:effectLst/>
              <a:uLnTx/>
              <a:uFillTx/>
              <a:latin typeface="Times New Roman" panose="02020603050405020304"/>
              <a:ea typeface="+mn-ea"/>
              <a:cs typeface="Times New Roman" panose="02020603050405020304"/>
            </a:endParaRPr>
          </a:p>
        </p:txBody>
      </p:sp>
      <p:grpSp>
        <p:nvGrpSpPr>
          <p:cNvPr id="14339" name="object 4">
            <a:extLst>
              <a:ext uri="{FF2B5EF4-FFF2-40B4-BE49-F238E27FC236}">
                <a16:creationId xmlns:a16="http://schemas.microsoft.com/office/drawing/2014/main" id="{81E29643-4568-8DA0-E721-7D2B9C7BB842}"/>
              </a:ext>
            </a:extLst>
          </p:cNvPr>
          <p:cNvGrpSpPr/>
          <p:nvPr/>
        </p:nvGrpSpPr>
        <p:grpSpPr>
          <a:xfrm>
            <a:off x="0" y="234950"/>
            <a:ext cx="12192000" cy="803275"/>
            <a:chOff x="0" y="216720"/>
            <a:chExt cx="12192000" cy="803275"/>
          </a:xfrm>
        </p:grpSpPr>
        <p:pic>
          <p:nvPicPr>
            <p:cNvPr id="14346" name="object 5">
              <a:extLst>
                <a:ext uri="{FF2B5EF4-FFF2-40B4-BE49-F238E27FC236}">
                  <a16:creationId xmlns:a16="http://schemas.microsoft.com/office/drawing/2014/main" id="{1A29120B-3EF6-276F-EB1A-36F264D6C4D1}"/>
                </a:ext>
              </a:extLst>
            </p:cNvPr>
            <p:cNvPicPr>
              <a:picLocks noChangeAspect="1"/>
            </p:cNvPicPr>
            <p:nvPr/>
          </p:nvPicPr>
          <p:blipFill>
            <a:blip r:embed="rId3"/>
            <a:stretch>
              <a:fillRect/>
            </a:stretch>
          </p:blipFill>
          <p:spPr>
            <a:xfrm>
              <a:off x="0" y="216720"/>
              <a:ext cx="12192000" cy="803160"/>
            </a:xfrm>
            <a:prstGeom prst="rect">
              <a:avLst/>
            </a:prstGeom>
            <a:noFill/>
            <a:ln w="9525">
              <a:noFill/>
            </a:ln>
          </p:spPr>
        </p:pic>
        <p:sp>
          <p:nvSpPr>
            <p:cNvPr id="14347" name="object 6">
              <a:extLst>
                <a:ext uri="{FF2B5EF4-FFF2-40B4-BE49-F238E27FC236}">
                  <a16:creationId xmlns:a16="http://schemas.microsoft.com/office/drawing/2014/main" id="{545901DF-27F4-74EA-0AD7-DFEEBBC03961}"/>
                </a:ext>
              </a:extLst>
            </p:cNvPr>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7" name="object 7">
            <a:extLst>
              <a:ext uri="{FF2B5EF4-FFF2-40B4-BE49-F238E27FC236}">
                <a16:creationId xmlns:a16="http://schemas.microsoft.com/office/drawing/2014/main" id="{689D05F4-C823-FEE3-7FCE-8C83F6273BDE}"/>
              </a:ext>
            </a:extLst>
          </p:cNvPr>
          <p:cNvSpPr txBox="1">
            <a:spLocks noGrp="1"/>
          </p:cNvSpPr>
          <p:nvPr>
            <p:ph type="title"/>
          </p:nvPr>
        </p:nvSpPr>
        <p:spPr>
          <a:xfrm>
            <a:off x="-304800" y="182562"/>
            <a:ext cx="9296399" cy="689932"/>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tabLst>
                <a:tab pos="2232025" algn="l"/>
              </a:tabLst>
              <a:defRPr/>
            </a:pPr>
            <a:r>
              <a:rPr lang="en-IN" sz="4400" b="0" strike="noStrike" spc="-1" dirty="0">
                <a:solidFill>
                  <a:srgbClr val="FFFFFF"/>
                </a:solidFill>
                <a:latin typeface="Times New Roman" panose="02020603050405020304"/>
              </a:rPr>
              <a:t>Git Hub Dashboards of each student</a:t>
            </a:r>
            <a:endPar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endParaRPr>
          </a:p>
        </p:txBody>
      </p:sp>
      <p:sp>
        <p:nvSpPr>
          <p:cNvPr id="8" name="object 8">
            <a:extLst>
              <a:ext uri="{FF2B5EF4-FFF2-40B4-BE49-F238E27FC236}">
                <a16:creationId xmlns:a16="http://schemas.microsoft.com/office/drawing/2014/main" id="{F40324FE-A627-43F5-0F2F-EC5688487D71}"/>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altLang="zh-CN" sz="1600" dirty="0">
                <a:solidFill>
                  <a:schemeClr val="bg1"/>
                </a:solidFill>
                <a:latin typeface="Times New Roman" panose="02020603050405020304" pitchFamily="18" charset="0"/>
                <a:ea typeface="Times New Roman" panose="02020603050405020304" pitchFamily="18" charset="0"/>
              </a:rPr>
              <a:t>A-8</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a:extLst>
              <a:ext uri="{FF2B5EF4-FFF2-40B4-BE49-F238E27FC236}">
                <a16:creationId xmlns:a16="http://schemas.microsoft.com/office/drawing/2014/main" id="{D5025467-EBC3-F06B-B421-163C6926622B}"/>
              </a:ext>
            </a:extLst>
          </p:cNvPr>
          <p:cNvSpPr txBox="1">
            <a:spLocks noGrp="1"/>
          </p:cNvSpPr>
          <p:nvPr>
            <p:ph type="dt" sz="half" idx="2"/>
          </p:nvPr>
        </p:nvSpPr>
        <p:spPr>
          <a:xfrm>
            <a:off x="1773238" y="6629400"/>
            <a:ext cx="40179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a:extLst>
              <a:ext uri="{FF2B5EF4-FFF2-40B4-BE49-F238E27FC236}">
                <a16:creationId xmlns:a16="http://schemas.microsoft.com/office/drawing/2014/main" id="{88997A84-68E5-697A-FACA-5894093A9184}"/>
              </a:ext>
            </a:extLst>
          </p:cNvPr>
          <p:cNvSpPr txBox="1"/>
          <p:nvPr/>
        </p:nvSpPr>
        <p:spPr>
          <a:xfrm>
            <a:off x="7146925" y="6629400"/>
            <a:ext cx="41306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a:extLst>
              <a:ext uri="{FF2B5EF4-FFF2-40B4-BE49-F238E27FC236}">
                <a16:creationId xmlns:a16="http://schemas.microsoft.com/office/drawing/2014/main" id="{204671C6-CF3C-3EAB-E49E-196A2E98ADB4}"/>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7F29C2A7-B412-4608-BCDF-0A47B9ED3D08}"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10</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4345" name="Rectangle 5">
            <a:extLst>
              <a:ext uri="{FF2B5EF4-FFF2-40B4-BE49-F238E27FC236}">
                <a16:creationId xmlns:a16="http://schemas.microsoft.com/office/drawing/2014/main" id="{F2F46E9F-5011-B742-8E38-80DA4081776B}"/>
              </a:ext>
            </a:extLst>
          </p:cNvPr>
          <p:cNvSpPr/>
          <p:nvPr/>
        </p:nvSpPr>
        <p:spPr>
          <a:xfrm>
            <a:off x="457200" y="1038225"/>
            <a:ext cx="11430000" cy="5179695"/>
          </a:xfrm>
          <a:prstGeom prst="rect">
            <a:avLst/>
          </a:prstGeom>
          <a:noFill/>
          <a:ln w="9525">
            <a:noFill/>
          </a:ln>
        </p:spPr>
        <p:txBody>
          <a:bodyPr>
            <a:noAutofit/>
          </a:bodyPr>
          <a:lstStyle/>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E7183FF-0E08-4540-5CCC-26F3443BF3A9}"/>
              </a:ext>
            </a:extLst>
          </p:cNvPr>
          <p:cNvSpPr txBox="1"/>
          <p:nvPr/>
        </p:nvSpPr>
        <p:spPr>
          <a:xfrm>
            <a:off x="228600" y="6147589"/>
            <a:ext cx="10439400" cy="646331"/>
          </a:xfrm>
          <a:prstGeom prst="rect">
            <a:avLst/>
          </a:prstGeom>
          <a:noFill/>
        </p:spPr>
        <p:txBody>
          <a:bodyPr wrap="square" rtlCol="0">
            <a:spAutoFit/>
          </a:bodyPr>
          <a:lstStyle/>
          <a:p>
            <a:r>
              <a:rPr lang="en-IN" dirty="0"/>
              <a:t>  </a:t>
            </a:r>
            <a:r>
              <a:rPr lang="en-US" dirty="0"/>
              <a:t>GitHub Link : </a:t>
            </a:r>
            <a:r>
              <a:rPr lang="en-US" dirty="0">
                <a:hlinkClick r:id="rId4"/>
              </a:rPr>
              <a:t>https://github.com/</a:t>
            </a:r>
            <a:r>
              <a:rPr lang="en-IN" dirty="0" err="1">
                <a:hlinkClick r:id="rId5"/>
              </a:rPr>
              <a:t>DNehaAnjum</a:t>
            </a:r>
            <a:r>
              <a:rPr lang="en-IN" dirty="0">
                <a:hlinkClick r:id="rId5"/>
              </a:rPr>
              <a:t>/CSE-2022-26-Batch-A8</a:t>
            </a:r>
            <a:endParaRPr lang="en-US" dirty="0"/>
          </a:p>
          <a:p>
            <a:endParaRPr lang="en-IN" dirty="0"/>
          </a:p>
        </p:txBody>
      </p:sp>
      <p:pic>
        <p:nvPicPr>
          <p:cNvPr id="3" name="Picture 2">
            <a:extLst>
              <a:ext uri="{FF2B5EF4-FFF2-40B4-BE49-F238E27FC236}">
                <a16:creationId xmlns:a16="http://schemas.microsoft.com/office/drawing/2014/main" id="{032D2A0C-7F03-14D7-BFB0-06F8B902FD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8926" y="1122026"/>
            <a:ext cx="10994147" cy="4959895"/>
          </a:xfrm>
          <a:prstGeom prst="rect">
            <a:avLst/>
          </a:prstGeom>
        </p:spPr>
      </p:pic>
    </p:spTree>
    <p:extLst>
      <p:ext uri="{BB962C8B-B14F-4D97-AF65-F5344CB8AC3E}">
        <p14:creationId xmlns:p14="http://schemas.microsoft.com/office/powerpoint/2010/main" val="1016089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object 2"/>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3" name="object 3"/>
          <p:cNvSpPr txBox="1"/>
          <p:nvPr/>
        </p:nvSpPr>
        <p:spPr>
          <a:xfrm>
            <a:off x="1773238" y="-19050"/>
            <a:ext cx="8208963" cy="228268"/>
          </a:xfrm>
          <a:prstGeom prst="rect">
            <a:avLst/>
          </a:prstGeom>
        </p:spPr>
        <p:txBody>
          <a:bodyPr wrap="square" lIns="0" tIns="12700" rIns="0" bIns="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SRIT Intern Portal Hub</a:t>
            </a:r>
            <a:endParaRPr kumimoji="0" lang="en-US" sz="1500" b="0" i="0" u="none" strike="noStrike" kern="0" cap="none" spc="0" normalizeH="0" baseline="0" noProof="0" dirty="0">
              <a:ln>
                <a:noFill/>
              </a:ln>
              <a:solidFill>
                <a:sysClr val="windowText" lastClr="000000"/>
              </a:solidFill>
              <a:effectLst/>
              <a:uLnTx/>
              <a:uFillTx/>
              <a:latin typeface="Times New Roman" panose="02020603050405020304"/>
              <a:ea typeface="+mn-ea"/>
              <a:cs typeface="Times New Roman" panose="02020603050405020304"/>
            </a:endParaRPr>
          </a:p>
        </p:txBody>
      </p:sp>
      <p:sp>
        <p:nvSpPr>
          <p:cNvPr id="5" name="object 5"/>
          <p:cNvSpPr txBox="1">
            <a:spLocks noGrp="1"/>
          </p:cNvSpPr>
          <p:nvPr>
            <p:ph type="ftr" sz="quarter" idx="10"/>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A-8</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6" name="object 6"/>
          <p:cNvSpPr txBox="1">
            <a:spLocks noGrp="1"/>
          </p:cNvSpPr>
          <p:nvPr>
            <p:ph type="dt" sz="half" idx="11"/>
          </p:nvPr>
        </p:nvSpPr>
        <p:spPr>
          <a:xfrm>
            <a:off x="1773238" y="6629400"/>
            <a:ext cx="4322763" cy="228600"/>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7" name="object 7"/>
          <p:cNvSpPr txBox="1"/>
          <p:nvPr/>
        </p:nvSpPr>
        <p:spPr>
          <a:xfrm>
            <a:off x="7146925" y="6629400"/>
            <a:ext cx="41306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8" name="object 8"/>
          <p:cNvSpPr txBox="1">
            <a:spLocks noGrp="1"/>
          </p:cNvSpPr>
          <p:nvPr>
            <p:ph type="sldNum" sz="quarter" idx="12"/>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39B4845-06F7-44E9-A15D-A364008AF767}"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11</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4" name="object 4"/>
          <p:cNvSpPr txBox="1">
            <a:spLocks noGrp="1"/>
          </p:cNvSpPr>
          <p:nvPr>
            <p:ph type="title"/>
          </p:nvPr>
        </p:nvSpPr>
        <p:spPr>
          <a:xfrm>
            <a:off x="2705100" y="2352675"/>
            <a:ext cx="6692900" cy="1487488"/>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9600" b="0" i="1" u="none" strike="noStrike" kern="0" cap="none" spc="0" normalizeH="0" baseline="0" noProof="0" dirty="0">
                <a:ln>
                  <a:noFill/>
                </a:ln>
                <a:solidFill>
                  <a:srgbClr val="FF6600"/>
                </a:solidFill>
                <a:effectLst/>
                <a:uLnTx/>
                <a:uFillTx/>
                <a:latin typeface="Times New Roman" panose="02020603050405020304"/>
                <a:ea typeface="+mj-ea"/>
                <a:cs typeface="Times New Roman" panose="02020603050405020304"/>
              </a:rPr>
              <a:t>Any</a:t>
            </a:r>
            <a:r>
              <a:rPr kumimoji="0" sz="9600" b="0" i="1" u="none" strike="noStrike" kern="0" cap="none" spc="-30" normalizeH="0" baseline="0" noProof="0" dirty="0">
                <a:ln>
                  <a:noFill/>
                </a:ln>
                <a:solidFill>
                  <a:srgbClr val="FF6600"/>
                </a:solidFill>
                <a:effectLst/>
                <a:uLnTx/>
                <a:uFillTx/>
                <a:latin typeface="Times New Roman" panose="02020603050405020304"/>
                <a:ea typeface="+mj-ea"/>
                <a:cs typeface="Times New Roman" panose="02020603050405020304"/>
              </a:rPr>
              <a:t> </a:t>
            </a:r>
            <a:r>
              <a:rPr kumimoji="0" sz="9600" b="0" i="1" u="none" strike="noStrike" kern="0" cap="none" spc="-10" normalizeH="0" baseline="0" noProof="0" dirty="0">
                <a:ln>
                  <a:noFill/>
                </a:ln>
                <a:solidFill>
                  <a:srgbClr val="FF6600"/>
                </a:solidFill>
                <a:effectLst/>
                <a:uLnTx/>
                <a:uFillTx/>
                <a:latin typeface="Times New Roman" panose="02020603050405020304"/>
                <a:ea typeface="+mj-ea"/>
                <a:cs typeface="Times New Roman" panose="02020603050405020304"/>
              </a:rPr>
              <a:t>Queries?</a:t>
            </a:r>
            <a:endParaRPr kumimoji="0" sz="9600" b="0" i="0" u="none" strike="noStrike" kern="0" cap="none" spc="0" normalizeH="0" baseline="0" noProof="0">
              <a:ln>
                <a:noFill/>
              </a:ln>
              <a:solidFill>
                <a:schemeClr val="bg1"/>
              </a:solidFill>
              <a:effectLst/>
              <a:uLnTx/>
              <a:uFillTx/>
              <a:latin typeface="Times New Roman" panose="02020603050405020304"/>
              <a:ea typeface="+mj-ea"/>
              <a:cs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416</TotalTime>
  <Words>1617</Words>
  <Application>Microsoft Office PowerPoint</Application>
  <PresentationFormat>Widescreen</PresentationFormat>
  <Paragraphs>159</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Lucida Sans Unicode</vt:lpstr>
      <vt:lpstr>Times New Roman</vt:lpstr>
      <vt:lpstr>Office Theme</vt:lpstr>
      <vt:lpstr>SRIT Intern Portal Hub</vt:lpstr>
      <vt:lpstr>Contents</vt:lpstr>
      <vt:lpstr>Title Justification</vt:lpstr>
      <vt:lpstr>   Abstract</vt:lpstr>
      <vt:lpstr>Problem Statement</vt:lpstr>
      <vt:lpstr>Objectives of Project</vt:lpstr>
      <vt:lpstr>PowerPoint Presentation</vt:lpstr>
      <vt:lpstr>Proposed System</vt:lpstr>
      <vt:lpstr>References</vt:lpstr>
      <vt:lpstr>Git Hub Dashboards of each student</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ECOVISION:Deep Learning Model foy Seasonal Detection</dc:title>
  <dc:creator>DELL E5490</dc:creator>
  <cp:lastModifiedBy>Neha Anjum</cp:lastModifiedBy>
  <cp:revision>23</cp:revision>
  <dcterms:created xsi:type="dcterms:W3CDTF">2025-12-02T14:37:55Z</dcterms:created>
  <dcterms:modified xsi:type="dcterms:W3CDTF">2025-12-19T02:25:11Z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2025-12-02T05:30:00Z</vt:filetime>
  </property>
  <property fmtid="{D5CDD505-2E9C-101B-9397-08002B2CF9AE}" pid="3" name="Creator">
    <vt:lpwstr>Google</vt:lpwstr>
  </property>
  <property fmtid="{D5CDD505-2E9C-101B-9397-08002B2CF9AE}" pid="4" name="LastSaved">
    <vt:filetime>2025-12-02T05:30:00Z</vt:filetime>
  </property>
  <property fmtid="{D5CDD505-2E9C-101B-9397-08002B2CF9AE}" pid="5" name="ICV">
    <vt:lpwstr>E8DA6CA97EDE4DC7B3CF7BF91B75CE3D_12</vt:lpwstr>
  </property>
  <property fmtid="{D5CDD505-2E9C-101B-9397-08002B2CF9AE}" pid="6" name="KSOProductBuildVer">
    <vt:lpwstr>1033-12.2.0.23155</vt:lpwstr>
  </property>
</Properties>
</file>